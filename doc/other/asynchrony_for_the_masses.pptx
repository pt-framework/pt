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8"/>
  </p:handoutMasterIdLst>
  <p:sldIdLst>
    <p:sldId id="257" r:id="rId2"/>
    <p:sldId id="281" r:id="rId3"/>
    <p:sldId id="258" r:id="rId4"/>
    <p:sldId id="259" r:id="rId5"/>
    <p:sldId id="274" r:id="rId6"/>
    <p:sldId id="282" r:id="rId7"/>
    <p:sldId id="260" r:id="rId8"/>
    <p:sldId id="275" r:id="rId9"/>
    <p:sldId id="261" r:id="rId10"/>
    <p:sldId id="262" r:id="rId11"/>
    <p:sldId id="276" r:id="rId12"/>
    <p:sldId id="263" r:id="rId13"/>
    <p:sldId id="277" r:id="rId14"/>
    <p:sldId id="283" r:id="rId15"/>
    <p:sldId id="264" r:id="rId16"/>
    <p:sldId id="284" r:id="rId17"/>
    <p:sldId id="278" r:id="rId18"/>
    <p:sldId id="285" r:id="rId19"/>
    <p:sldId id="265" r:id="rId20"/>
    <p:sldId id="286" r:id="rId21"/>
    <p:sldId id="268" r:id="rId22"/>
    <p:sldId id="269" r:id="rId23"/>
    <p:sldId id="280" r:id="rId24"/>
    <p:sldId id="271" r:id="rId25"/>
    <p:sldId id="270" r:id="rId26"/>
    <p:sldId id="272" r:id="rId2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93" autoAdjust="0"/>
    <p:restoredTop sz="94660" autoAdjust="0"/>
  </p:normalViewPr>
  <p:slideViewPr>
    <p:cSldViewPr>
      <p:cViewPr varScale="1">
        <p:scale>
          <a:sx n="120" d="100"/>
          <a:sy n="120" d="100"/>
        </p:scale>
        <p:origin x="-96" y="-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45CA6-BADF-41D0-A504-3A4ACA7D9F3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8DBBBF-5638-4187-8825-79CA4AD5777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611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168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158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518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539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06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36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58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312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97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00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375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B3899D-533A-4EC5-AA14-1D14BFCE068B}" type="datetimeFigureOut">
              <a:rPr lang="en-US" smtClean="0"/>
              <a:t>11/6/2012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D242D6-8FAD-4AF5-A3EE-EE1C3442890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972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drdobbs.com/cpp/207100682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kegel.com/c10k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30622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 smtClean="0"/>
              <a:t>Asynchrony</a:t>
            </a:r>
            <a:r>
              <a:rPr lang="de-DE" sz="2800" dirty="0" smtClean="0"/>
              <a:t> </a:t>
            </a:r>
            <a:r>
              <a:rPr lang="de-DE" sz="2800" dirty="0" err="1" smtClean="0"/>
              <a:t>for</a:t>
            </a:r>
            <a:r>
              <a:rPr lang="de-DE" sz="2800" dirty="0" smtClean="0"/>
              <a:t> </a:t>
            </a:r>
            <a:r>
              <a:rPr lang="de-DE" sz="2800" dirty="0" err="1" smtClean="0"/>
              <a:t>the</a:t>
            </a:r>
            <a:r>
              <a:rPr lang="de-DE" sz="2800" dirty="0" smtClean="0"/>
              <a:t> </a:t>
            </a:r>
            <a:r>
              <a:rPr lang="de-DE" sz="2800" dirty="0" err="1" smtClean="0"/>
              <a:t>Masses</a:t>
            </a:r>
            <a:r>
              <a:rPr lang="de-DE" sz="2800" dirty="0" smtClean="0"/>
              <a:t/>
            </a:r>
            <a:br>
              <a:rPr lang="de-DE" sz="2800" dirty="0" smtClean="0"/>
            </a:br>
            <a:r>
              <a:rPr lang="de-DE" sz="1200" dirty="0" smtClean="0"/>
              <a:t>Marc Duerner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4653136"/>
            <a:ext cx="8568952" cy="151216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sz="1600" dirty="0" smtClean="0">
                <a:cs typeface="Courier New" pitchFamily="49" charset="0"/>
              </a:rPr>
              <a:t>Multi-Threading </a:t>
            </a:r>
            <a:r>
              <a:rPr lang="de-DE" sz="1600" dirty="0" err="1" smtClean="0">
                <a:cs typeface="Courier New" pitchFamily="49" charset="0"/>
              </a:rPr>
              <a:t>is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hard</a:t>
            </a:r>
            <a:r>
              <a:rPr lang="de-DE" sz="1600" dirty="0" smtClean="0">
                <a:cs typeface="Courier New" pitchFamily="49" charset="0"/>
              </a:rPr>
              <a:t>. </a:t>
            </a:r>
          </a:p>
          <a:p>
            <a:pPr marL="0" indent="0">
              <a:buNone/>
            </a:pPr>
            <a:endParaRPr lang="de-DE" sz="1600" dirty="0" smtClean="0"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i="1" dirty="0" err="1" smtClean="0">
                <a:cs typeface="Courier New" pitchFamily="49" charset="0"/>
              </a:rPr>
              <a:t>If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we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are</a:t>
            </a:r>
            <a:r>
              <a:rPr lang="de-DE" sz="1400" i="1" dirty="0" smtClean="0">
                <a:cs typeface="Courier New" pitchFamily="49" charset="0"/>
              </a:rPr>
              <a:t> not </a:t>
            </a:r>
            <a:r>
              <a:rPr lang="de-DE" sz="1400" i="1" dirty="0" err="1" smtClean="0">
                <a:cs typeface="Courier New" pitchFamily="49" charset="0"/>
              </a:rPr>
              <a:t>careful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we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get</a:t>
            </a:r>
            <a:r>
              <a:rPr lang="de-DE" sz="1400" i="1" dirty="0" smtClean="0">
                <a:cs typeface="Courier New" pitchFamily="49" charset="0"/>
              </a:rPr>
              <a:t> stuck, </a:t>
            </a:r>
            <a:r>
              <a:rPr lang="de-DE" sz="1400" i="1" dirty="0" err="1" smtClean="0">
                <a:cs typeface="Courier New" pitchFamily="49" charset="0"/>
              </a:rPr>
              <a:t>because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of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u="sng" dirty="0" err="1" smtClean="0">
                <a:cs typeface="Courier New" pitchFamily="49" charset="0"/>
              </a:rPr>
              <a:t>deadlocks</a:t>
            </a:r>
            <a:r>
              <a:rPr lang="de-DE" sz="1400" i="1" dirty="0" smtClean="0">
                <a:cs typeface="Courier New" pitchFamily="49" charset="0"/>
              </a:rPr>
              <a:t>, </a:t>
            </a:r>
            <a:r>
              <a:rPr lang="de-DE" sz="1400" i="1" u="sng" dirty="0" err="1" smtClean="0">
                <a:cs typeface="Courier New" pitchFamily="49" charset="0"/>
              </a:rPr>
              <a:t>livelocks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or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u="sng" dirty="0" err="1" smtClean="0">
                <a:cs typeface="Courier New" pitchFamily="49" charset="0"/>
              </a:rPr>
              <a:t>uncooperative</a:t>
            </a:r>
            <a:r>
              <a:rPr lang="de-DE" sz="1400" i="1" u="sng" dirty="0" smtClean="0">
                <a:cs typeface="Courier New" pitchFamily="49" charset="0"/>
              </a:rPr>
              <a:t> </a:t>
            </a:r>
            <a:r>
              <a:rPr lang="de-DE" sz="1400" i="1" u="sng" dirty="0" err="1" smtClean="0">
                <a:cs typeface="Courier New" pitchFamily="49" charset="0"/>
              </a:rPr>
              <a:t>threads</a:t>
            </a:r>
            <a:r>
              <a:rPr lang="de-DE" sz="1400" i="1" u="sng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that</a:t>
            </a:r>
            <a:r>
              <a:rPr lang="de-DE" sz="1400" i="1" dirty="0" smtClean="0">
                <a:cs typeface="Courier New" pitchFamily="49" charset="0"/>
              </a:rPr>
              <a:t> do not </a:t>
            </a:r>
            <a:r>
              <a:rPr lang="de-DE" sz="1400" i="1" dirty="0" err="1" smtClean="0">
                <a:cs typeface="Courier New" pitchFamily="49" charset="0"/>
              </a:rPr>
              <a:t>respond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anymore</a:t>
            </a:r>
            <a:r>
              <a:rPr lang="de-DE" sz="1400" i="1" dirty="0" smtClean="0">
                <a:cs typeface="Courier New" pitchFamily="49" charset="0"/>
              </a:rPr>
              <a:t>. </a:t>
            </a:r>
            <a:r>
              <a:rPr lang="de-DE" sz="1400" i="1" dirty="0" err="1" smtClean="0">
                <a:cs typeface="Courier New" pitchFamily="49" charset="0"/>
              </a:rPr>
              <a:t>It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is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shown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here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how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to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avoid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these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problems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with</a:t>
            </a:r>
            <a:r>
              <a:rPr lang="de-DE" sz="1400" i="1" dirty="0" smtClean="0">
                <a:cs typeface="Courier New" pitchFamily="49" charset="0"/>
              </a:rPr>
              <a:t> a portable </a:t>
            </a:r>
            <a:r>
              <a:rPr lang="de-DE" sz="1400" i="1" dirty="0" err="1" smtClean="0">
                <a:cs typeface="Courier New" pitchFamily="49" charset="0"/>
              </a:rPr>
              <a:t>and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productive</a:t>
            </a:r>
            <a:r>
              <a:rPr lang="de-DE" sz="1400" i="1" dirty="0" smtClean="0">
                <a:cs typeface="Courier New" pitchFamily="49" charset="0"/>
              </a:rPr>
              <a:t> API, </a:t>
            </a:r>
            <a:r>
              <a:rPr lang="de-DE" sz="1400" i="1" dirty="0" err="1" smtClean="0">
                <a:cs typeface="Courier New" pitchFamily="49" charset="0"/>
              </a:rPr>
              <a:t>that</a:t>
            </a:r>
            <a:r>
              <a:rPr lang="de-DE" sz="1400" i="1" dirty="0" smtClean="0">
                <a:cs typeface="Courier New" pitchFamily="49" charset="0"/>
              </a:rPr>
              <a:t> also </a:t>
            </a:r>
            <a:r>
              <a:rPr lang="de-DE" sz="1400" i="1" dirty="0" err="1" smtClean="0">
                <a:cs typeface="Courier New" pitchFamily="49" charset="0"/>
              </a:rPr>
              <a:t>delivers</a:t>
            </a:r>
            <a:r>
              <a:rPr lang="de-DE" sz="1400" i="1" dirty="0" smtClean="0">
                <a:cs typeface="Courier New" pitchFamily="49" charset="0"/>
              </a:rPr>
              <a:t> high </a:t>
            </a:r>
            <a:r>
              <a:rPr lang="de-DE" sz="1400" i="1" dirty="0" err="1" smtClean="0">
                <a:cs typeface="Courier New" pitchFamily="49" charset="0"/>
              </a:rPr>
              <a:t>performance</a:t>
            </a:r>
            <a:r>
              <a:rPr lang="de-DE" sz="1400" i="1" dirty="0" smtClean="0">
                <a:cs typeface="Courier New" pitchFamily="49" charset="0"/>
              </a:rPr>
              <a:t>, </a:t>
            </a:r>
            <a:r>
              <a:rPr lang="de-DE" sz="1400" i="1" dirty="0" err="1" smtClean="0">
                <a:cs typeface="Courier New" pitchFamily="49" charset="0"/>
              </a:rPr>
              <a:t>determinism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and</a:t>
            </a:r>
            <a:r>
              <a:rPr lang="de-DE" sz="1400" i="1" dirty="0" smtClean="0">
                <a:cs typeface="Courier New" pitchFamily="49" charset="0"/>
              </a:rPr>
              <a:t> </a:t>
            </a:r>
            <a:r>
              <a:rPr lang="de-DE" sz="1400" i="1" dirty="0" err="1" smtClean="0">
                <a:cs typeface="Courier New" pitchFamily="49" charset="0"/>
              </a:rPr>
              <a:t>reliability</a:t>
            </a:r>
            <a:r>
              <a:rPr lang="de-DE" sz="1400" i="1" dirty="0" smtClean="0">
                <a:cs typeface="Courier New" pitchFamily="49" charset="0"/>
              </a:rPr>
              <a:t>.</a:t>
            </a:r>
            <a:endParaRPr lang="en-US" sz="1400" i="1" dirty="0">
              <a:cs typeface="Courier New" pitchFamily="49" charset="0"/>
            </a:endParaRP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3449" y="1052736"/>
            <a:ext cx="4876796" cy="324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102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smtClean="0"/>
              <a:t>Threading </a:t>
            </a:r>
            <a:r>
              <a:rPr lang="de-DE" sz="2800" dirty="0" err="1" smtClean="0"/>
              <a:t>for</a:t>
            </a:r>
            <a:r>
              <a:rPr lang="de-DE" sz="2800" dirty="0" smtClean="0"/>
              <a:t> </a:t>
            </a:r>
            <a:r>
              <a:rPr lang="de-DE" sz="2800" dirty="0" err="1" smtClean="0"/>
              <a:t>the</a:t>
            </a:r>
            <a:r>
              <a:rPr lang="de-DE" sz="2800" dirty="0" smtClean="0"/>
              <a:t> </a:t>
            </a:r>
            <a:r>
              <a:rPr lang="de-DE" sz="2800" dirty="0" err="1" smtClean="0"/>
              <a:t>Masses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600" dirty="0" err="1" smtClean="0">
                <a:cs typeface="Courier New" pitchFamily="49" charset="0"/>
              </a:rPr>
              <a:t>How</a:t>
            </a:r>
            <a:r>
              <a:rPr lang="de-DE" sz="1600" dirty="0" smtClean="0">
                <a:cs typeface="Courier New" pitchFamily="49" charset="0"/>
              </a:rPr>
              <a:t> do I </a:t>
            </a:r>
            <a:r>
              <a:rPr lang="de-DE" sz="1600" dirty="0" err="1" smtClean="0">
                <a:cs typeface="Courier New" pitchFamily="49" charset="0"/>
              </a:rPr>
              <a:t>stop</a:t>
            </a:r>
            <a:r>
              <a:rPr lang="de-DE" sz="1600" dirty="0" smtClean="0">
                <a:cs typeface="Courier New" pitchFamily="49" charset="0"/>
              </a:rPr>
              <a:t> a </a:t>
            </a:r>
            <a:r>
              <a:rPr lang="de-DE" sz="1600" dirty="0" err="1" smtClean="0">
                <a:cs typeface="Courier New" pitchFamily="49" charset="0"/>
              </a:rPr>
              <a:t>blocked</a:t>
            </a:r>
            <a:r>
              <a:rPr lang="de-DE" sz="1600" dirty="0" smtClean="0">
                <a:cs typeface="Courier New" pitchFamily="49" charset="0"/>
              </a:rPr>
              <a:t> Thread?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know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solution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b="1" u="sng" dirty="0" smtClean="0">
                <a:cs typeface="Courier New" pitchFamily="49" charset="0"/>
              </a:rPr>
              <a:t>not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terminate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or</a:t>
            </a:r>
            <a:r>
              <a:rPr lang="de-DE" sz="1300" dirty="0" smtClean="0">
                <a:cs typeface="Courier New" pitchFamily="49" charset="0"/>
              </a:rPr>
              <a:t> kill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:</a:t>
            </a:r>
          </a:p>
          <a:p>
            <a:pPr lvl="2"/>
            <a:r>
              <a:rPr lang="en-US" sz="1200" dirty="0" smtClean="0"/>
              <a:t>Interrupt </a:t>
            </a:r>
            <a:r>
              <a:rPr lang="en-US" sz="1200" dirty="0"/>
              <a:t>Politely, Dr. Dobbs Journal, April 2008, Herb Sutter, </a:t>
            </a:r>
            <a:r>
              <a:rPr lang="en-US" sz="1200" u="sng" dirty="0">
                <a:hlinkClick r:id="rId2"/>
              </a:rPr>
              <a:t>http://</a:t>
            </a:r>
            <a:r>
              <a:rPr lang="en-US" sz="1200" u="sng" dirty="0" smtClean="0">
                <a:hlinkClick r:id="rId2"/>
              </a:rPr>
              <a:t>drdobbs.com/cpp/207100682</a:t>
            </a:r>
            <a:endParaRPr lang="en-US" sz="1200" u="sng" dirty="0" smtClean="0"/>
          </a:p>
          <a:p>
            <a:pPr lvl="1"/>
            <a:r>
              <a:rPr lang="de-DE" sz="1300" dirty="0">
                <a:cs typeface="Courier New" pitchFamily="49" charset="0"/>
              </a:rPr>
              <a:t>This </a:t>
            </a:r>
            <a:r>
              <a:rPr lang="de-DE" sz="1300" dirty="0" err="1">
                <a:cs typeface="Courier New" pitchFamily="49" charset="0"/>
              </a:rPr>
              <a:t>is</a:t>
            </a:r>
            <a:r>
              <a:rPr lang="de-DE" sz="1300" dirty="0">
                <a:cs typeface="Courier New" pitchFamily="49" charset="0"/>
              </a:rPr>
              <a:t> an </a:t>
            </a:r>
            <a:r>
              <a:rPr lang="de-DE" sz="1300" dirty="0" err="1">
                <a:cs typeface="Courier New" pitchFamily="49" charset="0"/>
              </a:rPr>
              <a:t>unsolved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problem</a:t>
            </a:r>
            <a:r>
              <a:rPr lang="de-DE" sz="1300" dirty="0">
                <a:cs typeface="Courier New" pitchFamily="49" charset="0"/>
              </a:rPr>
              <a:t> so </a:t>
            </a:r>
            <a:r>
              <a:rPr lang="de-DE" sz="1300" dirty="0" err="1">
                <a:cs typeface="Courier New" pitchFamily="49" charset="0"/>
              </a:rPr>
              <a:t>far</a:t>
            </a:r>
            <a:r>
              <a:rPr lang="de-DE" sz="1300" dirty="0">
                <a:cs typeface="Courier New" pitchFamily="49" charset="0"/>
              </a:rPr>
              <a:t>, </a:t>
            </a:r>
            <a:r>
              <a:rPr lang="de-DE" sz="1300" dirty="0" err="1">
                <a:cs typeface="Courier New" pitchFamily="49" charset="0"/>
              </a:rPr>
              <a:t>the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only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answer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to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this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is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simply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smtClean="0">
                <a:cs typeface="Courier New" pitchFamily="49" charset="0"/>
              </a:rPr>
              <a:t>not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block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Blocking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is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sign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deadly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disease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OS </a:t>
            </a:r>
            <a:r>
              <a:rPr lang="de-DE" sz="1300" dirty="0" err="1" smtClean="0">
                <a:cs typeface="Courier New" pitchFamily="49" charset="0"/>
              </a:rPr>
              <a:t>might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simply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put</a:t>
            </a:r>
            <a:r>
              <a:rPr lang="de-DE" sz="1300" dirty="0" smtClean="0">
                <a:cs typeface="Courier New" pitchFamily="49" charset="0"/>
              </a:rPr>
              <a:t> an end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your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suffering</a:t>
            </a:r>
            <a:r>
              <a:rPr lang="de-DE" sz="1300" dirty="0" smtClean="0">
                <a:cs typeface="Courier New" pitchFamily="49" charset="0"/>
              </a:rPr>
              <a:t> (</a:t>
            </a:r>
            <a:r>
              <a:rPr lang="de-DE" sz="1300" dirty="0" err="1" smtClean="0">
                <a:cs typeface="Courier New" pitchFamily="49" charset="0"/>
              </a:rPr>
              <a:t>watchdog</a:t>
            </a:r>
            <a:r>
              <a:rPr lang="de-DE" sz="1300" dirty="0" smtClean="0">
                <a:cs typeface="Courier New" pitchFamily="49" charset="0"/>
              </a:rPr>
              <a:t>)</a:t>
            </a:r>
            <a:endParaRPr lang="de-DE" sz="1300" dirty="0">
              <a:cs typeface="Courier New" pitchFamily="49" charset="0"/>
            </a:endParaRPr>
          </a:p>
          <a:p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How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many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threads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should</a:t>
            </a:r>
            <a:r>
              <a:rPr lang="de-DE" sz="1600" dirty="0" smtClean="0">
                <a:cs typeface="Courier New" pitchFamily="49" charset="0"/>
              </a:rPr>
              <a:t> I </a:t>
            </a:r>
            <a:r>
              <a:rPr lang="de-DE" sz="1600" dirty="0" err="1" smtClean="0">
                <a:cs typeface="Courier New" pitchFamily="49" charset="0"/>
              </a:rPr>
              <a:t>start</a:t>
            </a:r>
            <a:r>
              <a:rPr lang="de-DE" sz="1600" dirty="0" smtClean="0">
                <a:cs typeface="Courier New" pitchFamily="49" charset="0"/>
              </a:rPr>
              <a:t>?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For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performance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reasons</a:t>
            </a:r>
            <a:r>
              <a:rPr lang="de-DE" sz="1300" dirty="0" smtClean="0">
                <a:cs typeface="Courier New" pitchFamily="49" charset="0"/>
              </a:rPr>
              <a:t>: </a:t>
            </a:r>
            <a:r>
              <a:rPr lang="de-DE" sz="1300" dirty="0" err="1" smtClean="0">
                <a:cs typeface="Courier New" pitchFamily="49" charset="0"/>
              </a:rPr>
              <a:t>One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 per CPU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Having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more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threads</a:t>
            </a:r>
            <a:r>
              <a:rPr lang="de-DE" sz="1300" dirty="0" smtClean="0">
                <a:cs typeface="Courier New" pitchFamily="49" charset="0"/>
              </a:rPr>
              <a:t> will not </a:t>
            </a:r>
            <a:r>
              <a:rPr lang="de-DE" sz="1300" dirty="0" err="1" smtClean="0">
                <a:cs typeface="Courier New" pitchFamily="49" charset="0"/>
              </a:rPr>
              <a:t>make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your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app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scale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better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because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en-US" sz="1300" dirty="0" smtClean="0">
                <a:cs typeface="Courier New" pitchFamily="49" charset="0"/>
              </a:rPr>
              <a:t>context switching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Intel TBB </a:t>
            </a:r>
            <a:r>
              <a:rPr lang="de-DE" sz="1300" dirty="0" err="1" smtClean="0">
                <a:cs typeface="Courier New" pitchFamily="49" charset="0"/>
              </a:rPr>
              <a:t>lets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you</a:t>
            </a:r>
            <a:r>
              <a:rPr lang="de-DE" sz="1300" dirty="0" smtClean="0">
                <a:cs typeface="Courier New" pitchFamily="49" charset="0"/>
              </a:rPr>
              <a:t> tune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number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threads</a:t>
            </a:r>
            <a:r>
              <a:rPr lang="de-DE" sz="1300" dirty="0" smtClean="0">
                <a:cs typeface="Courier New" pitchFamily="49" charset="0"/>
              </a:rPr>
              <a:t> in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pool</a:t>
            </a:r>
            <a:endParaRPr lang="de-DE" sz="13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But: The </a:t>
            </a:r>
            <a:r>
              <a:rPr lang="de-DE" sz="1600" dirty="0" err="1" smtClean="0">
                <a:cs typeface="Courier New" pitchFamily="49" charset="0"/>
              </a:rPr>
              <a:t>world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isnt‘t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perfect</a:t>
            </a:r>
            <a:endParaRPr lang="de-DE" sz="1600" dirty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must not block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GUI </a:t>
            </a:r>
            <a:r>
              <a:rPr lang="de-DE" sz="1300" dirty="0" err="1" smtClean="0">
                <a:cs typeface="Courier New" pitchFamily="49" charset="0"/>
              </a:rPr>
              <a:t>main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r>
              <a:rPr lang="de-DE" sz="1300" dirty="0" smtClean="0">
                <a:cs typeface="Courier New" pitchFamily="49" charset="0"/>
              </a:rPr>
              <a:t> so </a:t>
            </a:r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place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long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tasks</a:t>
            </a:r>
            <a:r>
              <a:rPr lang="de-DE" sz="1300" dirty="0" smtClean="0">
                <a:cs typeface="Courier New" pitchFamily="49" charset="0"/>
              </a:rPr>
              <a:t> in a </a:t>
            </a:r>
            <a:r>
              <a:rPr lang="de-DE" sz="1300" dirty="0" err="1" smtClean="0">
                <a:cs typeface="Courier New" pitchFamily="49" charset="0"/>
              </a:rPr>
              <a:t>worker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only</a:t>
            </a:r>
            <a:r>
              <a:rPr lang="de-DE" sz="1300" dirty="0" smtClean="0">
                <a:cs typeface="Courier New" pitchFamily="49" charset="0"/>
              </a:rPr>
              <a:t> do </a:t>
            </a:r>
            <a:r>
              <a:rPr lang="de-DE" sz="1300" dirty="0" err="1" smtClean="0">
                <a:cs typeface="Courier New" pitchFamily="49" charset="0"/>
              </a:rPr>
              <a:t>this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because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have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other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choice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Rule</a:t>
            </a:r>
            <a:r>
              <a:rPr lang="de-DE" sz="1300" dirty="0" smtClean="0">
                <a:cs typeface="Courier New" pitchFamily="49" charset="0"/>
              </a:rPr>
              <a:t> 1: </a:t>
            </a:r>
            <a:r>
              <a:rPr lang="de-DE" sz="1300" dirty="0" err="1" smtClean="0">
                <a:cs typeface="Courier New" pitchFamily="49" charset="0"/>
              </a:rPr>
              <a:t>never</a:t>
            </a:r>
            <a:r>
              <a:rPr lang="de-DE" sz="1300" dirty="0" smtClean="0">
                <a:cs typeface="Courier New" pitchFamily="49" charset="0"/>
              </a:rPr>
              <a:t> block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UI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 (ok, </a:t>
            </a:r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knew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this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already</a:t>
            </a:r>
            <a:r>
              <a:rPr lang="de-DE" sz="1300" dirty="0" smtClean="0">
                <a:cs typeface="Courier New" pitchFamily="49" charset="0"/>
              </a:rPr>
              <a:t>)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Rule</a:t>
            </a:r>
            <a:r>
              <a:rPr lang="de-DE" sz="1300" dirty="0" smtClean="0">
                <a:cs typeface="Courier New" pitchFamily="49" charset="0"/>
              </a:rPr>
              <a:t> 2: </a:t>
            </a:r>
            <a:r>
              <a:rPr lang="de-DE" sz="1300" dirty="0" err="1" smtClean="0">
                <a:cs typeface="Courier New" pitchFamily="49" charset="0"/>
              </a:rPr>
              <a:t>never</a:t>
            </a:r>
            <a:r>
              <a:rPr lang="de-DE" sz="1300" dirty="0" smtClean="0">
                <a:cs typeface="Courier New" pitchFamily="49" charset="0"/>
              </a:rPr>
              <a:t> block a </a:t>
            </a:r>
            <a:r>
              <a:rPr lang="de-DE" sz="1300" dirty="0" err="1" smtClean="0">
                <a:cs typeface="Courier New" pitchFamily="49" charset="0"/>
              </a:rPr>
              <a:t>server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 (ok, I </a:t>
            </a:r>
            <a:r>
              <a:rPr lang="de-DE" sz="1300" dirty="0" err="1" smtClean="0">
                <a:cs typeface="Courier New" pitchFamily="49" charset="0"/>
              </a:rPr>
              <a:t>can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see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why</a:t>
            </a:r>
            <a:r>
              <a:rPr lang="de-DE" sz="1300" dirty="0" smtClean="0">
                <a:cs typeface="Courier New" pitchFamily="49" charset="0"/>
              </a:rPr>
              <a:t>…)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Rule</a:t>
            </a:r>
            <a:r>
              <a:rPr lang="de-DE" sz="1300" dirty="0" smtClean="0">
                <a:cs typeface="Courier New" pitchFamily="49" charset="0"/>
              </a:rPr>
              <a:t> 3: </a:t>
            </a:r>
            <a:r>
              <a:rPr lang="de-DE" sz="1300" dirty="0" err="1" smtClean="0">
                <a:cs typeface="Courier New" pitchFamily="49" charset="0"/>
              </a:rPr>
              <a:t>never</a:t>
            </a:r>
            <a:r>
              <a:rPr lang="de-DE" sz="1300" dirty="0" smtClean="0">
                <a:cs typeface="Courier New" pitchFamily="49" charset="0"/>
              </a:rPr>
              <a:t> block a </a:t>
            </a:r>
            <a:r>
              <a:rPr lang="de-DE" sz="1300" dirty="0" err="1" smtClean="0">
                <a:cs typeface="Courier New" pitchFamily="49" charset="0"/>
              </a:rPr>
              <a:t>worker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 (WTF ???)</a:t>
            </a:r>
            <a:endParaRPr lang="de-DE" sz="1300" dirty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273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 smtClean="0"/>
              <a:t>When</a:t>
            </a:r>
            <a:r>
              <a:rPr lang="de-DE" sz="2800" dirty="0" smtClean="0"/>
              <a:t> </a:t>
            </a:r>
            <a:r>
              <a:rPr lang="de-DE" sz="2800" dirty="0" err="1" smtClean="0"/>
              <a:t>Timers</a:t>
            </a:r>
            <a:r>
              <a:rPr lang="de-DE" sz="2800" dirty="0" smtClean="0"/>
              <a:t> </a:t>
            </a:r>
            <a:r>
              <a:rPr lang="de-DE" sz="2800" dirty="0" err="1" smtClean="0"/>
              <a:t>go</a:t>
            </a:r>
            <a:r>
              <a:rPr lang="de-DE" sz="2800" dirty="0" smtClean="0"/>
              <a:t> </a:t>
            </a:r>
            <a:r>
              <a:rPr lang="de-DE" sz="2800" dirty="0" err="1" smtClean="0"/>
              <a:t>wrong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400" dirty="0" err="1">
                <a:solidFill>
                  <a:schemeClr val="accent2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v</a:t>
            </a:r>
            <a:r>
              <a:rPr lang="de-DE" sz="1400" dirty="0" err="1" smtClean="0">
                <a:solidFill>
                  <a:schemeClr val="accent2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oid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thread_function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()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b="1" dirty="0" err="1" smtClean="0">
                <a:latin typeface="Courier New" pitchFamily="49" charset="0"/>
                <a:cs typeface="Courier New" pitchFamily="49" charset="0"/>
              </a:rPr>
              <a:t>while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keepRunning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{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sleep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interval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observer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-&gt;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notify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}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}</a:t>
            </a:r>
            <a:endParaRPr lang="de-DE" sz="14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The </a:t>
            </a:r>
            <a:r>
              <a:rPr lang="de-DE" sz="1600" dirty="0" err="1" smtClean="0">
                <a:cs typeface="Courier New" pitchFamily="49" charset="0"/>
              </a:rPr>
              <a:t>code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above</a:t>
            </a:r>
            <a:r>
              <a:rPr lang="de-DE" sz="1600" dirty="0" smtClean="0">
                <a:cs typeface="Courier New" pitchFamily="49" charset="0"/>
              </a:rPr>
              <a:t> will </a:t>
            </a:r>
            <a:r>
              <a:rPr lang="de-DE" sz="1600" dirty="0" err="1" smtClean="0">
                <a:cs typeface="Courier New" pitchFamily="49" charset="0"/>
              </a:rPr>
              <a:t>make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experienced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developers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cry</a:t>
            </a:r>
            <a:r>
              <a:rPr lang="de-DE" sz="1600" dirty="0" smtClean="0">
                <a:cs typeface="Courier New" pitchFamily="49" charset="0"/>
              </a:rPr>
              <a:t> (…</a:t>
            </a:r>
            <a:r>
              <a:rPr lang="de-DE" sz="1600" dirty="0" err="1" smtClean="0">
                <a:cs typeface="Courier New" pitchFamily="49" charset="0"/>
              </a:rPr>
              <a:t>or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laugh</a:t>
            </a:r>
            <a:r>
              <a:rPr lang="de-DE" sz="1600" dirty="0" smtClean="0">
                <a:cs typeface="Courier New" pitchFamily="49" charset="0"/>
              </a:rPr>
              <a:t>)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Timer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are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great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example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completely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unneccessary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threading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Can </a:t>
            </a:r>
            <a:r>
              <a:rPr lang="de-DE" sz="1300" dirty="0" err="1" smtClean="0">
                <a:cs typeface="Courier New" pitchFamily="49" charset="0"/>
              </a:rPr>
              <a:t>you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spot</a:t>
            </a:r>
            <a:r>
              <a:rPr lang="de-DE" sz="1300" dirty="0" smtClean="0">
                <a:cs typeface="Courier New" pitchFamily="49" charset="0"/>
              </a:rPr>
              <a:t> all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other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bugs</a:t>
            </a:r>
            <a:r>
              <a:rPr lang="de-DE" sz="1300" dirty="0" smtClean="0">
                <a:cs typeface="Courier New" pitchFamily="49" charset="0"/>
              </a:rPr>
              <a:t>?</a:t>
            </a:r>
            <a:endParaRPr lang="de-DE" sz="1300" dirty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204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 smtClean="0"/>
              <a:t>Timers</a:t>
            </a:r>
            <a:r>
              <a:rPr lang="de-DE" sz="2800" dirty="0" smtClean="0"/>
              <a:t> </a:t>
            </a:r>
            <a:r>
              <a:rPr lang="de-DE" sz="2800" dirty="0" err="1"/>
              <a:t>D</a:t>
            </a:r>
            <a:r>
              <a:rPr lang="de-DE" sz="2800" dirty="0" err="1" smtClean="0"/>
              <a:t>one</a:t>
            </a:r>
            <a:r>
              <a:rPr lang="de-DE" sz="2800" dirty="0" smtClean="0"/>
              <a:t> </a:t>
            </a:r>
            <a:r>
              <a:rPr lang="de-DE" sz="2800" dirty="0" err="1" smtClean="0"/>
              <a:t>Right</a:t>
            </a:r>
            <a:r>
              <a:rPr lang="de-DE" sz="2800" dirty="0" smtClean="0"/>
              <a:t> (1)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</a:t>
            </a: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oid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onTimeout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()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cout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timeout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&lt;&lt;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endl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}</a:t>
            </a:r>
            <a:endParaRPr lang="de-DE" sz="14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argc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**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argv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Pt::System::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MainLoop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endParaRPr lang="de-DE" sz="14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Pt::System::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Timer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timer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timer.start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(5000);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timer.timeout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+= Pt::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slot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onTimeout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timer.timeout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+= Pt::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slot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MainLoop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endParaRPr lang="de-DE" sz="14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loop.add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timer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loop.run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0;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3822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Timers</a:t>
            </a:r>
            <a:r>
              <a:rPr lang="de-DE" sz="2800" dirty="0"/>
              <a:t> </a:t>
            </a:r>
            <a:r>
              <a:rPr lang="de-DE" sz="2800" dirty="0" err="1"/>
              <a:t>Done</a:t>
            </a:r>
            <a:r>
              <a:rPr lang="de-DE" sz="2800" dirty="0"/>
              <a:t> </a:t>
            </a:r>
            <a:r>
              <a:rPr lang="de-DE" sz="2800" dirty="0" err="1" smtClean="0"/>
              <a:t>Right</a:t>
            </a:r>
            <a:r>
              <a:rPr lang="de-DE" sz="2800" dirty="0" smtClean="0"/>
              <a:t> (</a:t>
            </a:r>
            <a:r>
              <a:rPr lang="de-DE" sz="2800" dirty="0"/>
              <a:t>2</a:t>
            </a:r>
            <a:r>
              <a:rPr lang="de-DE" sz="2800" dirty="0" smtClean="0"/>
              <a:t>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600" dirty="0" err="1">
                <a:cs typeface="Courier New" pitchFamily="49" charset="0"/>
              </a:rPr>
              <a:t>Program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blocks</a:t>
            </a:r>
            <a:r>
              <a:rPr lang="de-DE" sz="1600" dirty="0">
                <a:cs typeface="Courier New" pitchFamily="49" charset="0"/>
              </a:rPr>
              <a:t> on </a:t>
            </a:r>
            <a:r>
              <a:rPr lang="de-DE" sz="1600" dirty="0" err="1">
                <a:cs typeface="Courier New" pitchFamily="49" charset="0"/>
              </a:rPr>
              <a:t>run</a:t>
            </a:r>
            <a:r>
              <a:rPr lang="de-DE" sz="1600" dirty="0">
                <a:cs typeface="Courier New" pitchFamily="49" charset="0"/>
              </a:rPr>
              <a:t>() </a:t>
            </a:r>
            <a:r>
              <a:rPr lang="de-DE" sz="1600" dirty="0" err="1">
                <a:cs typeface="Courier New" pitchFamily="49" charset="0"/>
              </a:rPr>
              <a:t>with</a:t>
            </a:r>
            <a:r>
              <a:rPr lang="de-DE" sz="1600" dirty="0">
                <a:cs typeface="Courier New" pitchFamily="49" charset="0"/>
              </a:rPr>
              <a:t> 0% CPU time </a:t>
            </a:r>
            <a:r>
              <a:rPr lang="de-DE" sz="1600" dirty="0" err="1">
                <a:cs typeface="Courier New" pitchFamily="49" charset="0"/>
              </a:rPr>
              <a:t>if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nothing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happens</a:t>
            </a:r>
            <a:endParaRPr lang="de-DE" sz="1600" dirty="0">
              <a:cs typeface="Courier New" pitchFamily="49" charset="0"/>
            </a:endParaRPr>
          </a:p>
          <a:p>
            <a:pPr lvl="1"/>
            <a:r>
              <a:rPr lang="de-DE" sz="1300" dirty="0" err="1">
                <a:cs typeface="Courier New" pitchFamily="49" charset="0"/>
              </a:rPr>
              <a:t>Please</a:t>
            </a:r>
            <a:r>
              <a:rPr lang="de-DE" sz="1300" dirty="0">
                <a:cs typeface="Courier New" pitchFamily="49" charset="0"/>
              </a:rPr>
              <a:t>, </a:t>
            </a:r>
            <a:r>
              <a:rPr lang="de-DE" sz="1300" dirty="0" err="1">
                <a:cs typeface="Courier New" pitchFamily="49" charset="0"/>
              </a:rPr>
              <a:t>no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burning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loops</a:t>
            </a:r>
            <a:endParaRPr lang="de-DE" sz="1300" dirty="0">
              <a:cs typeface="Courier New" pitchFamily="49" charset="0"/>
            </a:endParaRPr>
          </a:p>
          <a:p>
            <a:pPr lvl="1"/>
            <a:r>
              <a:rPr lang="de-DE" sz="1300" dirty="0">
                <a:cs typeface="Courier New" pitchFamily="49" charset="0"/>
              </a:rPr>
              <a:t>Save </a:t>
            </a:r>
            <a:r>
              <a:rPr lang="de-DE" sz="1300" dirty="0" err="1">
                <a:cs typeface="Courier New" pitchFamily="49" charset="0"/>
              </a:rPr>
              <a:t>battery</a:t>
            </a:r>
            <a:r>
              <a:rPr lang="de-DE" sz="1300" dirty="0">
                <a:cs typeface="Courier New" pitchFamily="49" charset="0"/>
              </a:rPr>
              <a:t> (</a:t>
            </a:r>
            <a:r>
              <a:rPr lang="de-DE" sz="1300" dirty="0" err="1">
                <a:cs typeface="Courier New" pitchFamily="49" charset="0"/>
              </a:rPr>
              <a:t>and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the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environment</a:t>
            </a:r>
            <a:r>
              <a:rPr lang="de-DE" sz="1300" dirty="0" smtClean="0"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endParaRPr lang="de-DE" sz="1600" dirty="0">
              <a:cs typeface="Courier New" pitchFamily="49" charset="0"/>
            </a:endParaRPr>
          </a:p>
          <a:p>
            <a:r>
              <a:rPr lang="de-DE" sz="1600" dirty="0" err="1">
                <a:cs typeface="Courier New" pitchFamily="49" charset="0"/>
              </a:rPr>
              <a:t>If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something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happens</a:t>
            </a:r>
            <a:r>
              <a:rPr lang="de-DE" sz="1600" dirty="0">
                <a:cs typeface="Courier New" pitchFamily="49" charset="0"/>
              </a:rPr>
              <a:t>, </a:t>
            </a:r>
            <a:r>
              <a:rPr lang="de-DE" sz="1600" dirty="0" err="1">
                <a:cs typeface="Courier New" pitchFamily="49" charset="0"/>
              </a:rPr>
              <a:t>we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are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notified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by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signals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and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>
                <a:cs typeface="Courier New" pitchFamily="49" charset="0"/>
              </a:rPr>
              <a:t>delegates</a:t>
            </a:r>
            <a:endParaRPr lang="de-DE" sz="1600" dirty="0">
              <a:cs typeface="Courier New" pitchFamily="49" charset="0"/>
            </a:endParaRPr>
          </a:p>
          <a:p>
            <a:pPr lvl="1"/>
            <a:r>
              <a:rPr lang="de-DE" sz="1300" dirty="0">
                <a:cs typeface="Courier New" pitchFamily="49" charset="0"/>
              </a:rPr>
              <a:t>Safe, fast </a:t>
            </a:r>
            <a:r>
              <a:rPr lang="de-DE" sz="1300" dirty="0" err="1">
                <a:cs typeface="Courier New" pitchFamily="49" charset="0"/>
              </a:rPr>
              <a:t>and</a:t>
            </a:r>
            <a:r>
              <a:rPr lang="de-DE" sz="1300" dirty="0">
                <a:cs typeface="Courier New" pitchFamily="49" charset="0"/>
              </a:rPr>
              <a:t> flexible </a:t>
            </a:r>
            <a:r>
              <a:rPr lang="de-DE" sz="1300" dirty="0" err="1">
                <a:cs typeface="Courier New" pitchFamily="49" charset="0"/>
              </a:rPr>
              <a:t>callback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mechanism</a:t>
            </a:r>
            <a:r>
              <a:rPr lang="de-DE" sz="1300" dirty="0">
                <a:cs typeface="Courier New" pitchFamily="49" charset="0"/>
              </a:rPr>
              <a:t> (</a:t>
            </a:r>
            <a:r>
              <a:rPr lang="de-DE" sz="1300" dirty="0" err="1">
                <a:cs typeface="Courier New" pitchFamily="49" charset="0"/>
              </a:rPr>
              <a:t>cost</a:t>
            </a:r>
            <a:r>
              <a:rPr lang="de-DE" sz="1300" dirty="0">
                <a:cs typeface="Courier New" pitchFamily="49" charset="0"/>
              </a:rPr>
              <a:t>: </a:t>
            </a:r>
            <a:r>
              <a:rPr lang="de-DE" sz="1300" dirty="0" err="1">
                <a:cs typeface="Courier New" pitchFamily="49" charset="0"/>
              </a:rPr>
              <a:t>twice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as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much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as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virtual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call</a:t>
            </a:r>
            <a:r>
              <a:rPr lang="de-DE" sz="1300" dirty="0">
                <a:cs typeface="Courier New" pitchFamily="49" charset="0"/>
              </a:rPr>
              <a:t>)</a:t>
            </a:r>
          </a:p>
          <a:p>
            <a:pPr lvl="1"/>
            <a:r>
              <a:rPr lang="de-DE" sz="1300" dirty="0">
                <a:cs typeface="Courier New" pitchFamily="49" charset="0"/>
              </a:rPr>
              <a:t>Signal </a:t>
            </a:r>
            <a:r>
              <a:rPr lang="de-DE" sz="1300" dirty="0" err="1">
                <a:cs typeface="Courier New" pitchFamily="49" charset="0"/>
              </a:rPr>
              <a:t>is</a:t>
            </a:r>
            <a:r>
              <a:rPr lang="de-DE" sz="1300" dirty="0">
                <a:cs typeface="Courier New" pitchFamily="49" charset="0"/>
              </a:rPr>
              <a:t> 1:N </a:t>
            </a:r>
            <a:r>
              <a:rPr lang="de-DE" sz="1300" dirty="0" err="1">
                <a:cs typeface="Courier New" pitchFamily="49" charset="0"/>
              </a:rPr>
              <a:t>relationship</a:t>
            </a:r>
            <a:r>
              <a:rPr lang="de-DE" sz="1300" dirty="0">
                <a:cs typeface="Courier New" pitchFamily="49" charset="0"/>
              </a:rPr>
              <a:t>, </a:t>
            </a:r>
            <a:r>
              <a:rPr lang="de-DE" sz="1300" dirty="0" err="1">
                <a:cs typeface="Courier New" pitchFamily="49" charset="0"/>
              </a:rPr>
              <a:t>Delegate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is</a:t>
            </a:r>
            <a:r>
              <a:rPr lang="de-DE" sz="1300" dirty="0">
                <a:cs typeface="Courier New" pitchFamily="49" charset="0"/>
              </a:rPr>
              <a:t> 1:1 </a:t>
            </a:r>
            <a:r>
              <a:rPr lang="de-DE" sz="1300" dirty="0" err="1">
                <a:cs typeface="Courier New" pitchFamily="49" charset="0"/>
              </a:rPr>
              <a:t>relationship</a:t>
            </a:r>
            <a:endParaRPr lang="de-DE" sz="1300" dirty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Used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for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notification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within</a:t>
            </a:r>
            <a:r>
              <a:rPr lang="de-DE" sz="1300" dirty="0">
                <a:cs typeface="Courier New" pitchFamily="49" charset="0"/>
              </a:rPr>
              <a:t> a </a:t>
            </a:r>
            <a:r>
              <a:rPr lang="de-DE" sz="1300" dirty="0" err="1">
                <a:cs typeface="Courier New" pitchFamily="49" charset="0"/>
              </a:rPr>
              <a:t>thread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context</a:t>
            </a:r>
            <a:endParaRPr lang="de-DE" sz="1300" dirty="0">
              <a:cs typeface="Courier New" pitchFamily="49" charset="0"/>
            </a:endParaRPr>
          </a:p>
          <a:p>
            <a:pPr lvl="1"/>
            <a:r>
              <a:rPr lang="de-DE" sz="1300" dirty="0" err="1">
                <a:cs typeface="Courier New" pitchFamily="49" charset="0"/>
              </a:rPr>
              <a:t>Automatic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disconnect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when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slot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or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signal</a:t>
            </a:r>
            <a:r>
              <a:rPr lang="de-DE" sz="1300" dirty="0">
                <a:cs typeface="Courier New" pitchFamily="49" charset="0"/>
              </a:rPr>
              <a:t>/</a:t>
            </a:r>
            <a:r>
              <a:rPr lang="de-DE" sz="1300" dirty="0" err="1">
                <a:cs typeface="Courier New" pitchFamily="49" charset="0"/>
              </a:rPr>
              <a:t>delegate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are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destructed</a:t>
            </a:r>
            <a:endParaRPr lang="en-US" sz="1300" dirty="0"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Timer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monitored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by</a:t>
            </a:r>
            <a:r>
              <a:rPr lang="de-DE" sz="1600" dirty="0" smtClean="0">
                <a:cs typeface="Courier New" pitchFamily="49" charset="0"/>
              </a:rPr>
              <a:t> an </a:t>
            </a:r>
            <a:r>
              <a:rPr lang="de-DE" sz="1600" dirty="0" err="1" smtClean="0">
                <a:cs typeface="Courier New" pitchFamily="49" charset="0"/>
              </a:rPr>
              <a:t>event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loop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Deregisters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automatically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when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timer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are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destoyed</a:t>
            </a:r>
            <a:r>
              <a:rPr lang="de-DE" sz="1300" dirty="0" smtClean="0">
                <a:cs typeface="Courier New" pitchFamily="49" charset="0"/>
              </a:rPr>
              <a:t> 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Easy </a:t>
            </a:r>
            <a:r>
              <a:rPr lang="de-DE" sz="1300" dirty="0" err="1" smtClean="0">
                <a:cs typeface="Courier New" pitchFamily="49" charset="0"/>
              </a:rPr>
              <a:t>life</a:t>
            </a:r>
            <a:r>
              <a:rPr lang="de-DE" sz="1300" dirty="0" smtClean="0">
                <a:cs typeface="Courier New" pitchFamily="49" charset="0"/>
              </a:rPr>
              <a:t>-time </a:t>
            </a:r>
            <a:r>
              <a:rPr lang="de-DE" sz="1300" dirty="0" err="1" smtClean="0">
                <a:cs typeface="Courier New" pitchFamily="49" charset="0"/>
              </a:rPr>
              <a:t>management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Notifies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through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timeout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signal</a:t>
            </a:r>
            <a:endParaRPr lang="de-DE" sz="13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Interval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based</a:t>
            </a:r>
            <a:r>
              <a:rPr lang="de-DE" sz="1600" dirty="0" smtClean="0">
                <a:cs typeface="Courier New" pitchFamily="49" charset="0"/>
              </a:rPr>
              <a:t>, drift-</a:t>
            </a:r>
            <a:r>
              <a:rPr lang="de-DE" sz="1600" dirty="0" err="1" smtClean="0">
                <a:cs typeface="Courier New" pitchFamily="49" charset="0"/>
              </a:rPr>
              <a:t>free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Unless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you</a:t>
            </a:r>
            <a:r>
              <a:rPr lang="de-DE" sz="1300" dirty="0" smtClean="0">
                <a:cs typeface="Courier New" pitchFamily="49" charset="0"/>
              </a:rPr>
              <a:t> block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event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for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longer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than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timer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inteval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Accuracy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depends</a:t>
            </a:r>
            <a:r>
              <a:rPr lang="de-DE" sz="1300" dirty="0" smtClean="0">
                <a:cs typeface="Courier New" pitchFamily="49" charset="0"/>
              </a:rPr>
              <a:t> on OS</a:t>
            </a:r>
          </a:p>
          <a:p>
            <a:pPr lvl="1"/>
            <a:endParaRPr lang="de-DE" sz="1200" dirty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Cheap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Requires</a:t>
            </a:r>
            <a:r>
              <a:rPr lang="de-DE" sz="1300" dirty="0" smtClean="0">
                <a:cs typeface="Courier New" pitchFamily="49" charset="0"/>
              </a:rPr>
              <a:t> 64 </a:t>
            </a:r>
            <a:r>
              <a:rPr lang="de-DE" sz="1300" dirty="0" err="1" smtClean="0">
                <a:cs typeface="Courier New" pitchFamily="49" charset="0"/>
              </a:rPr>
              <a:t>bytes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when</a:t>
            </a:r>
            <a:r>
              <a:rPr lang="de-DE" sz="1300" dirty="0" smtClean="0">
                <a:cs typeface="Courier New" pitchFamily="49" charset="0"/>
              </a:rPr>
              <a:t> registered in an </a:t>
            </a:r>
            <a:r>
              <a:rPr lang="de-DE" sz="1300" dirty="0" err="1" smtClean="0">
                <a:cs typeface="Courier New" pitchFamily="49" charset="0"/>
              </a:rPr>
              <a:t>event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Event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is</a:t>
            </a:r>
            <a:r>
              <a:rPr lang="de-DE" sz="1300" dirty="0" smtClean="0">
                <a:cs typeface="Courier New" pitchFamily="49" charset="0"/>
              </a:rPr>
              <a:t> not </a:t>
            </a:r>
            <a:r>
              <a:rPr lang="de-DE" sz="1300" dirty="0" err="1" smtClean="0">
                <a:cs typeface="Courier New" pitchFamily="49" charset="0"/>
              </a:rPr>
              <a:t>slowed</a:t>
            </a:r>
            <a:r>
              <a:rPr lang="de-DE" sz="1300" dirty="0" smtClean="0">
                <a:cs typeface="Courier New" pitchFamily="49" charset="0"/>
              </a:rPr>
              <a:t> down </a:t>
            </a:r>
            <a:r>
              <a:rPr lang="de-DE" sz="1300" dirty="0" err="1" smtClean="0">
                <a:cs typeface="Courier New" pitchFamily="49" charset="0"/>
              </a:rPr>
              <a:t>when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many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timers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are</a:t>
            </a:r>
            <a:r>
              <a:rPr lang="de-DE" sz="1300" dirty="0" smtClean="0">
                <a:cs typeface="Courier New" pitchFamily="49" charset="0"/>
              </a:rPr>
              <a:t> registered</a:t>
            </a:r>
            <a:endParaRPr lang="de-DE" sz="1300" dirty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marL="457200" lvl="1" indent="0">
              <a:buNone/>
            </a:pPr>
            <a:endParaRPr lang="de-DE" sz="1200" dirty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644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 smtClean="0"/>
              <a:t>Proactors</a:t>
            </a:r>
            <a:r>
              <a:rPr lang="de-DE" sz="2800" dirty="0" smtClean="0"/>
              <a:t> </a:t>
            </a:r>
            <a:r>
              <a:rPr lang="de-DE" sz="2800" dirty="0" err="1" smtClean="0"/>
              <a:t>vs</a:t>
            </a:r>
            <a:r>
              <a:rPr lang="de-DE" sz="2800" dirty="0" smtClean="0"/>
              <a:t> </a:t>
            </a:r>
            <a:r>
              <a:rPr lang="de-DE" sz="2800" dirty="0" err="1" smtClean="0"/>
              <a:t>Reactors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4104456" cy="1800200"/>
          </a:xfrm>
        </p:spPr>
        <p:txBody>
          <a:bodyPr>
            <a:normAutofit/>
          </a:bodyPr>
          <a:lstStyle/>
          <a:p>
            <a:r>
              <a:rPr lang="de-DE" sz="1600" dirty="0" err="1" smtClean="0">
                <a:cs typeface="Courier New" pitchFamily="49" charset="0"/>
              </a:rPr>
              <a:t>Proactor</a:t>
            </a:r>
            <a:r>
              <a:rPr lang="de-DE" sz="1600" dirty="0" smtClean="0">
                <a:cs typeface="Courier New" pitchFamily="49" charset="0"/>
              </a:rPr>
              <a:t> (</a:t>
            </a:r>
            <a:r>
              <a:rPr lang="de-DE" sz="1600" dirty="0" err="1" smtClean="0">
                <a:cs typeface="Courier New" pitchFamily="49" charset="0"/>
              </a:rPr>
              <a:t>asynchronous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smtClean="0">
                <a:cs typeface="Courier New" pitchFamily="49" charset="0"/>
              </a:rPr>
              <a:t>non-</a:t>
            </a:r>
            <a:r>
              <a:rPr lang="de-DE" sz="1600" dirty="0" err="1" smtClean="0">
                <a:cs typeface="Courier New" pitchFamily="49" charset="0"/>
              </a:rPr>
              <a:t>blocking</a:t>
            </a:r>
            <a:r>
              <a:rPr lang="de-DE" sz="1600" dirty="0" smtClean="0">
                <a:cs typeface="Courier New" pitchFamily="49" charset="0"/>
              </a:rPr>
              <a:t>)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Long </a:t>
            </a:r>
            <a:r>
              <a:rPr lang="de-DE" sz="1300" dirty="0" err="1" smtClean="0">
                <a:cs typeface="Courier New" pitchFamily="49" charset="0"/>
              </a:rPr>
              <a:t>tasks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run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asynchronously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Completion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handler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called</a:t>
            </a:r>
            <a:r>
              <a:rPr lang="de-DE" sz="1300" dirty="0" smtClean="0">
                <a:cs typeface="Courier New" pitchFamily="49" charset="0"/>
              </a:rPr>
              <a:t> (</a:t>
            </a:r>
            <a:r>
              <a:rPr lang="de-DE" sz="1300" dirty="0" err="1" smtClean="0">
                <a:cs typeface="Courier New" pitchFamily="49" charset="0"/>
              </a:rPr>
              <a:t>or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some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other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kind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notification</a:t>
            </a:r>
            <a:r>
              <a:rPr lang="de-DE" sz="1300" dirty="0" smtClean="0">
                <a:cs typeface="Courier New" pitchFamily="49" charset="0"/>
              </a:rPr>
              <a:t>)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Must </a:t>
            </a:r>
            <a:r>
              <a:rPr lang="de-DE" sz="1300" dirty="0" err="1" smtClean="0">
                <a:cs typeface="Courier New" pitchFamily="49" charset="0"/>
              </a:rPr>
              <a:t>be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cancellable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Example</a:t>
            </a:r>
            <a:r>
              <a:rPr lang="de-DE" sz="1300" dirty="0" smtClean="0">
                <a:cs typeface="Courier New" pitchFamily="49" charset="0"/>
              </a:rPr>
              <a:t>: POSIX AIO (</a:t>
            </a:r>
            <a:r>
              <a:rPr lang="de-DE" sz="1300" dirty="0" err="1" smtClean="0">
                <a:cs typeface="Courier New" pitchFamily="49" charset="0"/>
              </a:rPr>
              <a:t>hint</a:t>
            </a:r>
            <a:r>
              <a:rPr lang="de-DE" sz="1300" dirty="0" smtClean="0">
                <a:cs typeface="Courier New" pitchFamily="49" charset="0"/>
              </a:rPr>
              <a:t>: </a:t>
            </a:r>
            <a:r>
              <a:rPr lang="de-DE" sz="1300" dirty="0" err="1" smtClean="0">
                <a:cs typeface="Courier New" pitchFamily="49" charset="0"/>
              </a:rPr>
              <a:t>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needed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start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operation</a:t>
            </a:r>
            <a:r>
              <a:rPr lang="de-DE" sz="1300" dirty="0" smtClean="0">
                <a:cs typeface="Courier New" pitchFamily="49" charset="0"/>
              </a:rPr>
              <a:t>)</a:t>
            </a:r>
          </a:p>
          <a:p>
            <a:pPr marL="457200" lvl="1" indent="0">
              <a:buNone/>
            </a:pPr>
            <a:endParaRPr lang="de-DE" sz="1200" dirty="0" smtClean="0">
              <a:cs typeface="Courier New" pitchFamily="49" charset="0"/>
            </a:endParaRPr>
          </a:p>
          <a:p>
            <a:pPr marL="457200" lvl="1" indent="0">
              <a:buNone/>
            </a:pPr>
            <a:endParaRPr lang="de-DE" sz="1200" dirty="0">
              <a:cs typeface="Courier New" pitchFamily="49" charset="0"/>
            </a:endParaRPr>
          </a:p>
          <a:p>
            <a:pPr marL="457200" lvl="1" indent="0">
              <a:buNone/>
            </a:pPr>
            <a:endParaRPr lang="de-DE" sz="1200" dirty="0">
              <a:cs typeface="Courier New" pitchFamily="49" charset="0"/>
            </a:endParaRP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57" y="3789040"/>
            <a:ext cx="4497959" cy="2826813"/>
          </a:xfrm>
          <a:prstGeom prst="rect">
            <a:avLst/>
          </a:prstGeom>
        </p:spPr>
      </p:pic>
      <p:pic>
        <p:nvPicPr>
          <p:cNvPr id="5" name="Grafik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527" y="836710"/>
            <a:ext cx="3972937" cy="2808313"/>
          </a:xfrm>
          <a:prstGeom prst="rect">
            <a:avLst/>
          </a:prstGeom>
        </p:spPr>
      </p:pic>
      <p:sp>
        <p:nvSpPr>
          <p:cNvPr id="8" name="Inhaltsplatzhalter 2"/>
          <p:cNvSpPr txBox="1">
            <a:spLocks/>
          </p:cNvSpPr>
          <p:nvPr/>
        </p:nvSpPr>
        <p:spPr>
          <a:xfrm>
            <a:off x="4860032" y="4005064"/>
            <a:ext cx="4176464" cy="15121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err="1">
                <a:cs typeface="Courier New" pitchFamily="49" charset="0"/>
              </a:rPr>
              <a:t>Reactor</a:t>
            </a:r>
            <a:r>
              <a:rPr lang="de-DE" sz="1600" dirty="0">
                <a:cs typeface="Courier New" pitchFamily="49" charset="0"/>
              </a:rPr>
              <a:t> (</a:t>
            </a:r>
            <a:r>
              <a:rPr lang="de-DE" sz="1600" dirty="0" err="1">
                <a:cs typeface="Courier New" pitchFamily="49" charset="0"/>
              </a:rPr>
              <a:t>asynchronous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blocking</a:t>
            </a:r>
            <a:r>
              <a:rPr lang="de-DE" sz="1600" dirty="0" smtClean="0">
                <a:cs typeface="Courier New" pitchFamily="49" charset="0"/>
              </a:rPr>
              <a:t>)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Block on all </a:t>
            </a:r>
            <a:r>
              <a:rPr lang="de-DE" sz="1300" dirty="0" err="1" smtClean="0">
                <a:cs typeface="Courier New" pitchFamily="49" charset="0"/>
              </a:rPr>
              <a:t>resources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Notifies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when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operation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performed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without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blocking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Must </a:t>
            </a:r>
            <a:r>
              <a:rPr lang="de-DE" sz="1300" dirty="0" err="1" smtClean="0">
                <a:cs typeface="Courier New" pitchFamily="49" charset="0"/>
              </a:rPr>
              <a:t>be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cancelable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Example</a:t>
            </a:r>
            <a:r>
              <a:rPr lang="de-DE" sz="1300" dirty="0" smtClean="0">
                <a:cs typeface="Courier New" pitchFamily="49" charset="0"/>
              </a:rPr>
              <a:t>: </a:t>
            </a:r>
            <a:r>
              <a:rPr lang="de-DE" sz="1300" dirty="0" err="1" smtClean="0">
                <a:cs typeface="Courier New" pitchFamily="49" charset="0"/>
              </a:rPr>
              <a:t>select</a:t>
            </a:r>
            <a:r>
              <a:rPr lang="de-DE" sz="1300" dirty="0" smtClean="0">
                <a:cs typeface="Courier New" pitchFamily="49" charset="0"/>
              </a:rPr>
              <a:t>/</a:t>
            </a:r>
            <a:r>
              <a:rPr lang="de-DE" sz="1300" dirty="0" err="1" smtClean="0">
                <a:cs typeface="Courier New" pitchFamily="49" charset="0"/>
              </a:rPr>
              <a:t>poll</a:t>
            </a:r>
            <a:r>
              <a:rPr lang="de-DE" sz="1300" dirty="0" smtClean="0">
                <a:cs typeface="Courier New" pitchFamily="49" charset="0"/>
              </a:rPr>
              <a:t> (</a:t>
            </a:r>
            <a:r>
              <a:rPr lang="de-DE" sz="1300" dirty="0" err="1" smtClean="0">
                <a:cs typeface="Courier New" pitchFamily="49" charset="0"/>
              </a:rPr>
              <a:t>hint</a:t>
            </a:r>
            <a:r>
              <a:rPr lang="de-DE" sz="1300" dirty="0" smtClean="0">
                <a:cs typeface="Courier New" pitchFamily="49" charset="0"/>
              </a:rPr>
              <a:t>: </a:t>
            </a:r>
            <a:r>
              <a:rPr lang="de-DE" sz="1300" dirty="0" err="1" smtClean="0">
                <a:cs typeface="Courier New" pitchFamily="49" charset="0"/>
              </a:rPr>
              <a:t>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used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later</a:t>
            </a:r>
            <a:r>
              <a:rPr lang="de-DE" sz="1300" dirty="0" smtClean="0">
                <a:cs typeface="Courier New" pitchFamily="49" charset="0"/>
              </a:rPr>
              <a:t>)</a:t>
            </a:r>
          </a:p>
          <a:p>
            <a:pPr marL="457200" lvl="1" indent="0">
              <a:buNone/>
            </a:pPr>
            <a:endParaRPr lang="de-DE" sz="1200" dirty="0" smtClean="0">
              <a:cs typeface="Courier New" pitchFamily="49" charset="0"/>
            </a:endParaRPr>
          </a:p>
          <a:p>
            <a:pPr marL="457200" lvl="1" indent="0">
              <a:buFont typeface="Arial" pitchFamily="34" charset="0"/>
              <a:buNone/>
            </a:pPr>
            <a:endParaRPr lang="de-DE" sz="1200" dirty="0" smtClean="0">
              <a:cs typeface="Courier New" pitchFamily="49" charset="0"/>
            </a:endParaRPr>
          </a:p>
          <a:p>
            <a:pPr marL="457200" lvl="1" indent="0">
              <a:buFont typeface="Arial" pitchFamily="34" charset="0"/>
              <a:buNone/>
            </a:pPr>
            <a:endParaRPr lang="de-DE" sz="1200" dirty="0">
              <a:cs typeface="Courier New" pitchFamily="49" charset="0"/>
            </a:endParaRPr>
          </a:p>
        </p:txBody>
      </p:sp>
      <p:sp>
        <p:nvSpPr>
          <p:cNvPr id="10" name="Inhaltsplatzhalter 2"/>
          <p:cNvSpPr txBox="1">
            <a:spLocks/>
          </p:cNvSpPr>
          <p:nvPr/>
        </p:nvSpPr>
        <p:spPr>
          <a:xfrm>
            <a:off x="4853253" y="5805264"/>
            <a:ext cx="3967219" cy="8640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smtClean="0">
                <a:cs typeface="Courier New" pitchFamily="49" charset="0"/>
              </a:rPr>
              <a:t>OS </a:t>
            </a:r>
            <a:r>
              <a:rPr lang="de-DE" sz="1600" dirty="0" err="1" smtClean="0">
                <a:cs typeface="Courier New" pitchFamily="49" charset="0"/>
              </a:rPr>
              <a:t>might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offer</a:t>
            </a:r>
            <a:r>
              <a:rPr lang="de-DE" sz="1600" dirty="0" smtClean="0">
                <a:cs typeface="Courier New" pitchFamily="49" charset="0"/>
              </a:rPr>
              <a:t> just </a:t>
            </a:r>
            <a:r>
              <a:rPr lang="de-DE" sz="1600" dirty="0" err="1" smtClean="0">
                <a:cs typeface="Courier New" pitchFamily="49" charset="0"/>
              </a:rPr>
              <a:t>one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or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both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Application</a:t>
            </a:r>
            <a:r>
              <a:rPr lang="de-DE" sz="1300" dirty="0" smtClean="0">
                <a:cs typeface="Courier New" pitchFamily="49" charset="0"/>
              </a:rPr>
              <a:t> API must </a:t>
            </a:r>
            <a:r>
              <a:rPr lang="de-DE" sz="1300" dirty="0" err="1" smtClean="0">
                <a:cs typeface="Courier New" pitchFamily="49" charset="0"/>
              </a:rPr>
              <a:t>support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both</a:t>
            </a:r>
            <a:endParaRPr lang="de-DE" sz="1300" dirty="0" smtClean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marL="457200" lvl="1" indent="0">
              <a:buFont typeface="Arial" pitchFamily="34" charset="0"/>
              <a:buNone/>
            </a:pPr>
            <a:endParaRPr lang="de-DE" sz="1200" dirty="0" smtClean="0">
              <a:cs typeface="Courier New" pitchFamily="49" charset="0"/>
            </a:endParaRPr>
          </a:p>
          <a:p>
            <a:pPr marL="457200" lvl="1" indent="0">
              <a:buFont typeface="Arial" pitchFamily="34" charset="0"/>
              <a:buNone/>
            </a:pPr>
            <a:endParaRPr lang="de-DE" sz="1200" dirty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380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A</a:t>
            </a:r>
            <a:r>
              <a:rPr lang="de-DE" sz="2800" dirty="0" err="1" smtClean="0"/>
              <a:t>synchronous</a:t>
            </a:r>
            <a:r>
              <a:rPr lang="de-DE" sz="2800" dirty="0" smtClean="0"/>
              <a:t> I/O (1)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836712"/>
            <a:ext cx="5616624" cy="597666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sz="17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de-DE" sz="17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har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buffer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[25];</a:t>
            </a: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7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onWrite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::System::</a:t>
            </a:r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IODevice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700" dirty="0" err="1" smtClean="0">
                <a:latin typeface="Courier New" pitchFamily="49" charset="0"/>
                <a:cs typeface="Courier New" pitchFamily="49" charset="0"/>
              </a:rPr>
              <a:t>dev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size_t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n =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dev.endWrite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de-DE" sz="17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7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onRead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700" dirty="0" err="1" smtClean="0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::System::</a:t>
            </a:r>
            <a:r>
              <a:rPr lang="en-US" sz="1700" dirty="0" err="1" smtClean="0">
                <a:latin typeface="Courier New" pitchFamily="49" charset="0"/>
                <a:cs typeface="Courier New" pitchFamily="49" charset="0"/>
              </a:rPr>
              <a:t>IODevice</a:t>
            </a: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700" dirty="0" err="1" smtClean="0">
                <a:latin typeface="Courier New" pitchFamily="49" charset="0"/>
                <a:cs typeface="Courier New" pitchFamily="49" charset="0"/>
              </a:rPr>
              <a:t>dev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7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 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size_t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n =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dev.endRead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(); </a:t>
            </a:r>
          </a:p>
          <a:p>
            <a:pPr marL="0" indent="0">
              <a:buNone/>
            </a:pPr>
            <a:r>
              <a:rPr lang="de-DE" sz="17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 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cout.write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buffer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, n);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de-DE" sz="17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7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7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argc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7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**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argv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   Pt::System::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MainLoop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nb-NO" sz="1700" dirty="0" smtClean="0">
                <a:latin typeface="Courier New" pitchFamily="49" charset="0"/>
                <a:cs typeface="Courier New" pitchFamily="49" charset="0"/>
              </a:rPr>
              <a:t>    Pt</a:t>
            </a:r>
            <a:r>
              <a:rPr lang="nb-NO" sz="1700" dirty="0">
                <a:latin typeface="Courier New" pitchFamily="49" charset="0"/>
                <a:cs typeface="Courier New" pitchFamily="49" charset="0"/>
              </a:rPr>
              <a:t>::System::Pipe pipe(Pt::System::Pipe::Async);</a:t>
            </a:r>
          </a:p>
          <a:p>
            <a:pPr marL="0" indent="0">
              <a:buNone/>
            </a:pPr>
            <a:endParaRPr lang="de-DE" sz="17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    pipe.in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().</a:t>
            </a:r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beginWrite</a:t>
            </a: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7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“Hello World”</a:t>
            </a: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, 11);</a:t>
            </a:r>
          </a:p>
          <a:p>
            <a:pPr marL="0" indent="0">
              <a:buNone/>
            </a:pP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    pipe.in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().</a:t>
            </a:r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outputReady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::slot</a:t>
            </a: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en-US" sz="1700" dirty="0" err="1" smtClean="0">
                <a:latin typeface="Courier New" pitchFamily="49" charset="0"/>
                <a:cs typeface="Courier New" pitchFamily="49" charset="0"/>
              </a:rPr>
              <a:t>onWrite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indent="0">
              <a:buNone/>
            </a:pP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700" dirty="0" err="1" smtClean="0">
                <a:latin typeface="Courier New" pitchFamily="49" charset="0"/>
                <a:cs typeface="Courier New" pitchFamily="49" charset="0"/>
              </a:rPr>
              <a:t>pipe.out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().</a:t>
            </a:r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beginRead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( </a:t>
            </a: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buffer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700" b="1" dirty="0" err="1" smtClean="0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(buffer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) ); </a:t>
            </a:r>
            <a:endParaRPr lang="en-US" sz="17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700" dirty="0" err="1" smtClean="0">
                <a:latin typeface="Courier New" pitchFamily="49" charset="0"/>
                <a:cs typeface="Courier New" pitchFamily="49" charset="0"/>
              </a:rPr>
              <a:t>pipe.out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().</a:t>
            </a:r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inputReady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700" dirty="0" err="1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700" dirty="0" smtClean="0">
                <a:latin typeface="Courier New" pitchFamily="49" charset="0"/>
                <a:cs typeface="Courier New" pitchFamily="49" charset="0"/>
              </a:rPr>
              <a:t>slot(&amp;</a:t>
            </a:r>
            <a:r>
              <a:rPr lang="en-US" sz="1700" dirty="0" err="1" smtClean="0">
                <a:latin typeface="Courier New" pitchFamily="49" charset="0"/>
                <a:cs typeface="Courier New" pitchFamily="49" charset="0"/>
              </a:rPr>
              <a:t>onRead</a:t>
            </a:r>
            <a:r>
              <a:rPr lang="en-US" sz="17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endParaRPr lang="de-DE" sz="17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loop.add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pipe.out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());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loop.add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(pipe.in())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700" dirty="0" err="1" smtClean="0">
                <a:latin typeface="Courier New" pitchFamily="49" charset="0"/>
                <a:cs typeface="Courier New" pitchFamily="49" charset="0"/>
              </a:rPr>
              <a:t>loop.run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7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 0;</a:t>
            </a:r>
          </a:p>
          <a:p>
            <a:pPr marL="0" indent="0">
              <a:buNone/>
            </a:pPr>
            <a:r>
              <a:rPr lang="de-DE" sz="1700" dirty="0" smtClean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Zylinder 4"/>
          <p:cNvSpPr/>
          <p:nvPr/>
        </p:nvSpPr>
        <p:spPr>
          <a:xfrm>
            <a:off x="6408713" y="2132856"/>
            <a:ext cx="668234" cy="2520280"/>
          </a:xfrm>
          <a:prstGeom prst="can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</a:ln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Pipe</a:t>
            </a:r>
            <a:endParaRPr lang="en-US" dirty="0"/>
          </a:p>
        </p:txBody>
      </p:sp>
      <p:sp>
        <p:nvSpPr>
          <p:cNvPr id="6" name="Pfeil nach unten 5"/>
          <p:cNvSpPr/>
          <p:nvPr/>
        </p:nvSpPr>
        <p:spPr>
          <a:xfrm>
            <a:off x="6507511" y="105273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Pfeil nach unten 6"/>
          <p:cNvSpPr/>
          <p:nvPr/>
        </p:nvSpPr>
        <p:spPr>
          <a:xfrm>
            <a:off x="6507511" y="482685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feld 7"/>
          <p:cNvSpPr txBox="1"/>
          <p:nvPr/>
        </p:nvSpPr>
        <p:spPr>
          <a:xfrm>
            <a:off x="6952452" y="1357274"/>
            <a:ext cx="1796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In (</a:t>
            </a:r>
            <a:r>
              <a:rPr lang="de-DE" dirty="0" err="1" smtClean="0"/>
              <a:t>write</a:t>
            </a:r>
            <a:r>
              <a:rPr lang="de-DE" dirty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)</a:t>
            </a:r>
            <a:endParaRPr lang="en-US" dirty="0"/>
          </a:p>
        </p:txBody>
      </p:sp>
      <p:sp>
        <p:nvSpPr>
          <p:cNvPr id="9" name="Textfeld 8"/>
          <p:cNvSpPr txBox="1"/>
          <p:nvPr/>
        </p:nvSpPr>
        <p:spPr>
          <a:xfrm>
            <a:off x="6952453" y="5131394"/>
            <a:ext cx="2012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Out (</a:t>
            </a:r>
            <a:r>
              <a:rPr lang="de-DE" dirty="0" err="1" smtClean="0"/>
              <a:t>read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807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Asynchronous</a:t>
            </a:r>
            <a:r>
              <a:rPr lang="de-DE" sz="2800" dirty="0"/>
              <a:t> </a:t>
            </a:r>
            <a:r>
              <a:rPr lang="de-DE" sz="2800" dirty="0" smtClean="0"/>
              <a:t>I/O (2)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836712"/>
            <a:ext cx="8568952" cy="5904656"/>
          </a:xfrm>
        </p:spPr>
        <p:txBody>
          <a:bodyPr>
            <a:normAutofit/>
          </a:bodyPr>
          <a:lstStyle/>
          <a:p>
            <a:r>
              <a:rPr lang="de-DE" sz="1600" dirty="0" err="1" smtClean="0">
                <a:cs typeface="Courier New" pitchFamily="49" charset="0"/>
              </a:rPr>
              <a:t>IODevices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wrap</a:t>
            </a:r>
            <a:r>
              <a:rPr lang="de-DE" sz="1600" dirty="0" smtClean="0">
                <a:cs typeface="Courier New" pitchFamily="49" charset="0"/>
              </a:rPr>
              <a:t> native I/O handle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File </a:t>
            </a:r>
            <a:r>
              <a:rPr lang="de-DE" sz="1300" dirty="0" err="1" smtClean="0">
                <a:cs typeface="Courier New" pitchFamily="49" charset="0"/>
              </a:rPr>
              <a:t>or</a:t>
            </a:r>
            <a:r>
              <a:rPr lang="de-DE" sz="1300" dirty="0" smtClean="0">
                <a:cs typeface="Courier New" pitchFamily="49" charset="0"/>
              </a:rPr>
              <a:t> socket </a:t>
            </a:r>
            <a:r>
              <a:rPr lang="de-DE" sz="1300" dirty="0" err="1" smtClean="0">
                <a:cs typeface="Courier New" pitchFamily="49" charset="0"/>
              </a:rPr>
              <a:t>descriptor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Overlapped</a:t>
            </a:r>
            <a:r>
              <a:rPr lang="de-DE" sz="1300" dirty="0" smtClean="0">
                <a:cs typeface="Courier New" pitchFamily="49" charset="0"/>
              </a:rPr>
              <a:t> I/O </a:t>
            </a:r>
            <a:r>
              <a:rPr lang="de-DE" sz="1300" dirty="0" err="1" smtClean="0">
                <a:cs typeface="Courier New" pitchFamily="49" charset="0"/>
              </a:rPr>
              <a:t>event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handles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Active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objects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IODevices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for</a:t>
            </a:r>
            <a:r>
              <a:rPr lang="de-DE" sz="1300" dirty="0" smtClean="0">
                <a:cs typeface="Courier New" pitchFamily="49" charset="0"/>
              </a:rPr>
              <a:t> Files, Pipes, </a:t>
            </a:r>
            <a:r>
              <a:rPr lang="de-DE" sz="1300" dirty="0" err="1" smtClean="0">
                <a:cs typeface="Courier New" pitchFamily="49" charset="0"/>
              </a:rPr>
              <a:t>SerialDevices</a:t>
            </a:r>
            <a:r>
              <a:rPr lang="de-DE" sz="1300" dirty="0" smtClean="0">
                <a:cs typeface="Courier New" pitchFamily="49" charset="0"/>
              </a:rPr>
              <a:t>, TCP, UDP, </a:t>
            </a:r>
            <a:r>
              <a:rPr lang="de-DE" sz="1300" dirty="0" err="1" smtClean="0">
                <a:cs typeface="Courier New" pitchFamily="49" charset="0"/>
              </a:rPr>
              <a:t>parent</a:t>
            </a:r>
            <a:r>
              <a:rPr lang="de-DE" sz="1300" dirty="0" smtClean="0">
                <a:cs typeface="Courier New" pitchFamily="49" charset="0"/>
              </a:rPr>
              <a:t>/</a:t>
            </a:r>
            <a:r>
              <a:rPr lang="de-DE" sz="1300" dirty="0" err="1" smtClean="0">
                <a:cs typeface="Courier New" pitchFamily="49" charset="0"/>
              </a:rPr>
              <a:t>child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process</a:t>
            </a:r>
            <a:r>
              <a:rPr lang="de-DE" sz="1300" dirty="0" smtClean="0">
                <a:cs typeface="Courier New" pitchFamily="49" charset="0"/>
              </a:rPr>
              <a:t> I/O</a:t>
            </a:r>
          </a:p>
          <a:p>
            <a:pPr lvl="1"/>
            <a:endParaRPr lang="de-DE" sz="1200" dirty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IODevice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monitored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by</a:t>
            </a:r>
            <a:r>
              <a:rPr lang="de-DE" sz="1600" dirty="0" smtClean="0">
                <a:cs typeface="Courier New" pitchFamily="49" charset="0"/>
              </a:rPr>
              <a:t> an </a:t>
            </a:r>
            <a:r>
              <a:rPr lang="de-DE" sz="1600" dirty="0" err="1" smtClean="0">
                <a:cs typeface="Courier New" pitchFamily="49" charset="0"/>
              </a:rPr>
              <a:t>event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loop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Deregisters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when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IODevice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are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destroyed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Notifies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through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inputReady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outputReady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signals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Begin-</a:t>
            </a:r>
            <a:r>
              <a:rPr lang="de-DE" sz="1300" dirty="0" err="1" smtClean="0">
                <a:cs typeface="Courier New" pitchFamily="49" charset="0"/>
              </a:rPr>
              <a:t>notify</a:t>
            </a:r>
            <a:r>
              <a:rPr lang="de-DE" sz="1300" dirty="0" smtClean="0">
                <a:cs typeface="Courier New" pitchFamily="49" charset="0"/>
              </a:rPr>
              <a:t>-end </a:t>
            </a:r>
            <a:r>
              <a:rPr lang="de-DE" sz="1300" dirty="0" err="1" smtClean="0">
                <a:cs typeface="Courier New" pitchFamily="49" charset="0"/>
              </a:rPr>
              <a:t>pattern</a:t>
            </a:r>
            <a:endParaRPr lang="de-DE" sz="13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Solves</a:t>
            </a:r>
            <a:r>
              <a:rPr lang="de-DE" sz="1600" dirty="0" smtClean="0">
                <a:cs typeface="Courier New" pitchFamily="49" charset="0"/>
              </a:rPr>
              <a:t> C10k </a:t>
            </a:r>
            <a:r>
              <a:rPr lang="de-DE" sz="1600" dirty="0" err="1" smtClean="0">
                <a:cs typeface="Courier New" pitchFamily="49" charset="0"/>
              </a:rPr>
              <a:t>problem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  <a:hlinkClick r:id="rId2"/>
              </a:rPr>
              <a:t>http://www.kegel.com/c10k.html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„</a:t>
            </a:r>
            <a:r>
              <a:rPr lang="en-US" sz="1300" dirty="0" smtClean="0"/>
              <a:t>It's time for web servers to handle ten thousand clients simultaneously, don't you think? After all, the web is a big place now. “</a:t>
            </a:r>
            <a:endParaRPr lang="de-DE" sz="1300" dirty="0" smtClean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Renaissance </a:t>
            </a:r>
            <a:r>
              <a:rPr lang="de-DE" sz="1600" dirty="0" err="1" smtClean="0">
                <a:cs typeface="Courier New" pitchFamily="49" charset="0"/>
              </a:rPr>
              <a:t>of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reactive</a:t>
            </a:r>
            <a:r>
              <a:rPr lang="de-DE" sz="1600" dirty="0" smtClean="0">
                <a:cs typeface="Courier New" pitchFamily="49" charset="0"/>
              </a:rPr>
              <a:t> I/O</a:t>
            </a:r>
          </a:p>
          <a:p>
            <a:pPr lvl="1"/>
            <a:r>
              <a:rPr lang="de-DE" sz="1300" dirty="0">
                <a:cs typeface="Courier New" pitchFamily="49" charset="0"/>
              </a:rPr>
              <a:t>In </a:t>
            </a:r>
            <a:r>
              <a:rPr lang="de-DE" sz="1300" dirty="0" err="1">
                <a:cs typeface="Courier New" pitchFamily="49" charset="0"/>
              </a:rPr>
              <a:t>the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olden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days</a:t>
            </a:r>
            <a:r>
              <a:rPr lang="de-DE" sz="1300" dirty="0">
                <a:cs typeface="Courier New" pitchFamily="49" charset="0"/>
              </a:rPr>
              <a:t> (</a:t>
            </a:r>
            <a:r>
              <a:rPr lang="de-DE" sz="1300" dirty="0" err="1">
                <a:cs typeface="Courier New" pitchFamily="49" charset="0"/>
              </a:rPr>
              <a:t>before</a:t>
            </a:r>
            <a:r>
              <a:rPr lang="de-DE" sz="1300" dirty="0">
                <a:cs typeface="Courier New" pitchFamily="49" charset="0"/>
              </a:rPr>
              <a:t> MT) </a:t>
            </a:r>
            <a:r>
              <a:rPr lang="de-DE" sz="1300" dirty="0" err="1">
                <a:cs typeface="Courier New" pitchFamily="49" charset="0"/>
              </a:rPr>
              <a:t>it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used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to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be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your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only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choice</a:t>
            </a:r>
            <a:r>
              <a:rPr lang="de-DE" sz="1300" dirty="0">
                <a:cs typeface="Courier New" pitchFamily="49" charset="0"/>
              </a:rPr>
              <a:t> !!!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90‘s </a:t>
            </a:r>
            <a:r>
              <a:rPr lang="de-DE" sz="1300" dirty="0" err="1">
                <a:cs typeface="Courier New" pitchFamily="49" charset="0"/>
              </a:rPr>
              <a:t>were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the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dark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ages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of</a:t>
            </a:r>
            <a:r>
              <a:rPr lang="de-DE" sz="1300" dirty="0">
                <a:cs typeface="Courier New" pitchFamily="49" charset="0"/>
              </a:rPr>
              <a:t> multi-threading (Hart J.M., Windows System </a:t>
            </a:r>
            <a:r>
              <a:rPr lang="de-DE" sz="1300" dirty="0" err="1">
                <a:cs typeface="Courier New" pitchFamily="49" charset="0"/>
              </a:rPr>
              <a:t>Programming</a:t>
            </a:r>
            <a:r>
              <a:rPr lang="de-DE" sz="1300" dirty="0">
                <a:cs typeface="Courier New" pitchFamily="49" charset="0"/>
              </a:rPr>
              <a:t>)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Some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>
                <a:cs typeface="Courier New" pitchFamily="49" charset="0"/>
              </a:rPr>
              <a:t>OS </a:t>
            </a:r>
            <a:r>
              <a:rPr lang="de-DE" sz="1300" dirty="0" err="1">
                <a:cs typeface="Courier New" pitchFamily="49" charset="0"/>
              </a:rPr>
              <a:t>don‘t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offer</a:t>
            </a:r>
            <a:r>
              <a:rPr lang="de-DE" sz="1300" dirty="0">
                <a:cs typeface="Courier New" pitchFamily="49" charset="0"/>
              </a:rPr>
              <a:t> </a:t>
            </a:r>
            <a:r>
              <a:rPr lang="de-DE" sz="1300" dirty="0" err="1">
                <a:cs typeface="Courier New" pitchFamily="49" charset="0"/>
              </a:rPr>
              <a:t>blocking</a:t>
            </a:r>
            <a:r>
              <a:rPr lang="de-DE" sz="1300" dirty="0">
                <a:cs typeface="Courier New" pitchFamily="49" charset="0"/>
              </a:rPr>
              <a:t> API </a:t>
            </a:r>
            <a:r>
              <a:rPr lang="de-DE" sz="1300" dirty="0" err="1">
                <a:cs typeface="Courier New" pitchFamily="49" charset="0"/>
              </a:rPr>
              <a:t>anymore</a:t>
            </a:r>
            <a:r>
              <a:rPr lang="de-DE" sz="1300" dirty="0">
                <a:cs typeface="Courier New" pitchFamily="49" charset="0"/>
              </a:rPr>
              <a:t> (Symbian, </a:t>
            </a:r>
            <a:r>
              <a:rPr lang="de-DE" sz="1300" dirty="0" err="1">
                <a:cs typeface="Courier New" pitchFamily="49" charset="0"/>
              </a:rPr>
              <a:t>WinRT</a:t>
            </a:r>
            <a:r>
              <a:rPr lang="de-DE" sz="1300" dirty="0">
                <a:cs typeface="Courier New" pitchFamily="49" charset="0"/>
              </a:rPr>
              <a:t>)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Newest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generation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web </a:t>
            </a:r>
            <a:r>
              <a:rPr lang="de-DE" sz="1300" dirty="0" err="1" smtClean="0">
                <a:cs typeface="Courier New" pitchFamily="49" charset="0"/>
              </a:rPr>
              <a:t>servers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work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this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way</a:t>
            </a:r>
            <a:r>
              <a:rPr lang="de-DE" sz="1300" dirty="0" smtClean="0">
                <a:cs typeface="Courier New" pitchFamily="49" charset="0"/>
              </a:rPr>
              <a:t>: </a:t>
            </a:r>
            <a:r>
              <a:rPr lang="de-DE" sz="1300" dirty="0" err="1" smtClean="0">
                <a:cs typeface="Courier New" pitchFamily="49" charset="0"/>
              </a:rPr>
              <a:t>nginx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Cherokee</a:t>
            </a:r>
            <a:endParaRPr lang="de-DE" sz="1300" dirty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Blocking</a:t>
            </a:r>
            <a:r>
              <a:rPr lang="de-DE" sz="1300" dirty="0" smtClean="0">
                <a:cs typeface="Courier New" pitchFamily="49" charset="0"/>
              </a:rPr>
              <a:t> I/O </a:t>
            </a:r>
            <a:r>
              <a:rPr lang="de-DE" sz="1300" dirty="0" err="1" smtClean="0">
                <a:cs typeface="Courier New" pitchFamily="49" charset="0"/>
              </a:rPr>
              <a:t>is</a:t>
            </a:r>
            <a:r>
              <a:rPr lang="de-DE" sz="1300" dirty="0" smtClean="0">
                <a:cs typeface="Courier New" pitchFamily="49" charset="0"/>
              </a:rPr>
              <a:t> vulnerable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attacks</a:t>
            </a:r>
            <a:r>
              <a:rPr lang="de-DE" sz="1300" dirty="0" smtClean="0">
                <a:cs typeface="Courier New" pitchFamily="49" charset="0"/>
              </a:rPr>
              <a:t> such </a:t>
            </a:r>
            <a:r>
              <a:rPr lang="de-DE" sz="1300" dirty="0" err="1" smtClean="0">
                <a:cs typeface="Courier New" pitchFamily="49" charset="0"/>
              </a:rPr>
              <a:t>as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Slowloris</a:t>
            </a:r>
            <a:r>
              <a:rPr lang="de-DE" sz="1300" dirty="0" smtClean="0">
                <a:cs typeface="Courier New" pitchFamily="49" charset="0"/>
              </a:rPr>
              <a:t> DOS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epoll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since</a:t>
            </a:r>
            <a:r>
              <a:rPr lang="de-DE" sz="1300" dirty="0" smtClean="0">
                <a:cs typeface="Courier New" pitchFamily="49" charset="0"/>
              </a:rPr>
              <a:t> Linux 2.5.44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Kqueue</a:t>
            </a:r>
            <a:r>
              <a:rPr lang="de-DE" sz="1300" dirty="0" smtClean="0">
                <a:cs typeface="Courier New" pitchFamily="49" charset="0"/>
              </a:rPr>
              <a:t>/</a:t>
            </a:r>
            <a:r>
              <a:rPr lang="de-DE" sz="1300" dirty="0" err="1" smtClean="0">
                <a:cs typeface="Courier New" pitchFamily="49" charset="0"/>
              </a:rPr>
              <a:t>knotify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since</a:t>
            </a:r>
            <a:r>
              <a:rPr lang="de-DE" sz="1300" dirty="0" smtClean="0">
                <a:cs typeface="Courier New" pitchFamily="49" charset="0"/>
              </a:rPr>
              <a:t> FreeBSD 4.1</a:t>
            </a:r>
          </a:p>
        </p:txBody>
      </p:sp>
    </p:spTree>
    <p:extLst>
      <p:ext uri="{BB962C8B-B14F-4D97-AF65-F5344CB8AC3E}">
        <p14:creationId xmlns:p14="http://schemas.microsoft.com/office/powerpoint/2010/main" val="776738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Asynchronous</a:t>
            </a:r>
            <a:r>
              <a:rPr lang="de-DE" sz="2800" dirty="0"/>
              <a:t> </a:t>
            </a:r>
            <a:r>
              <a:rPr lang="de-DE" sz="2800" dirty="0" smtClean="0"/>
              <a:t>I/O </a:t>
            </a:r>
            <a:r>
              <a:rPr lang="de-DE" sz="2800" dirty="0" err="1" smtClean="0"/>
              <a:t>with</a:t>
            </a:r>
            <a:r>
              <a:rPr lang="de-DE" sz="2800" dirty="0" smtClean="0"/>
              <a:t> </a:t>
            </a:r>
            <a:r>
              <a:rPr lang="de-DE" sz="2800" dirty="0" err="1" smtClean="0"/>
              <a:t>streams</a:t>
            </a:r>
            <a:r>
              <a:rPr lang="de-DE" sz="2800" dirty="0" smtClean="0"/>
              <a:t> (1)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90465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onWrite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::System::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StreamBuffer</a:t>
            </a: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sb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size_t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n =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sb.endWrite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endParaRPr lang="de-DE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cout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de-DE" sz="13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bytes</a:t>
            </a:r>
            <a:r>
              <a:rPr lang="de-DE" sz="13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left</a:t>
            </a:r>
            <a:r>
              <a:rPr lang="de-DE" sz="13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: “ 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&lt;&lt;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sb.out_avail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endl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300" dirty="0">
                <a:latin typeface="Courier New" pitchFamily="49" charset="0"/>
                <a:cs typeface="Courier New" pitchFamily="49" charset="0"/>
              </a:rPr>
              <a:t>	</a:t>
            </a:r>
            <a:endParaRPr lang="de-DE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b="1" dirty="0" err="1" smtClean="0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sb.out_avail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 &gt; 0)</a:t>
            </a:r>
          </a:p>
          <a:p>
            <a:pPr marL="0" indent="0">
              <a:buNone/>
            </a:pPr>
            <a:r>
              <a:rPr lang="de-DE" sz="1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sb.beginWrite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de-DE" sz="13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argc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**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argv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Pt::System::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MainLoop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nb-NO" sz="1300" dirty="0" smtClean="0">
                <a:latin typeface="Courier New" pitchFamily="49" charset="0"/>
                <a:cs typeface="Courier New" pitchFamily="49" charset="0"/>
              </a:rPr>
              <a:t>    Pt</a:t>
            </a:r>
            <a:r>
              <a:rPr lang="nb-NO" sz="1300" dirty="0">
                <a:latin typeface="Courier New" pitchFamily="49" charset="0"/>
                <a:cs typeface="Courier New" pitchFamily="49" charset="0"/>
              </a:rPr>
              <a:t>::System::Pipe pipe(Pt::System::Pipe::Async</a:t>
            </a:r>
            <a:r>
              <a:rPr lang="nb-NO" sz="13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indent="0">
              <a:buNone/>
            </a:pP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300" dirty="0">
                <a:latin typeface="Courier New" pitchFamily="49" charset="0"/>
                <a:cs typeface="Courier New" pitchFamily="49" charset="0"/>
              </a:rPr>
              <a:t>::System</a:t>
            </a: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StreamBuffer</a:t>
            </a: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sb</a:t>
            </a: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(pipe.in());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sb.outputReady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+= Pt::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slot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onWrite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endParaRPr lang="en-US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ostream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os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sb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);</a:t>
            </a:r>
            <a:endParaRPr lang="en-US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os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de-DE" sz="13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Hello</a:t>
            </a:r>
            <a:r>
              <a:rPr lang="de-DE" sz="13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de-DE" sz="13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!“ 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&lt;&lt;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endl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sb.beginWrite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();</a:t>
            </a:r>
            <a:endParaRPr lang="en-US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loop.add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(pipe.in());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loop.run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0;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32322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Asynchronous</a:t>
            </a:r>
            <a:r>
              <a:rPr lang="de-DE" sz="2800" dirty="0"/>
              <a:t> </a:t>
            </a:r>
            <a:r>
              <a:rPr lang="de-DE" sz="2800" dirty="0" smtClean="0"/>
              <a:t>I/O </a:t>
            </a:r>
            <a:r>
              <a:rPr lang="de-DE" sz="2800" dirty="0" err="1" smtClean="0"/>
              <a:t>with</a:t>
            </a:r>
            <a:r>
              <a:rPr lang="de-DE" sz="2800" dirty="0" smtClean="0"/>
              <a:t> </a:t>
            </a:r>
            <a:r>
              <a:rPr lang="de-DE" sz="2800" dirty="0" err="1" smtClean="0"/>
              <a:t>streams</a:t>
            </a:r>
            <a:r>
              <a:rPr lang="de-DE" sz="2800" dirty="0" smtClean="0"/>
              <a:t> (2)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5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onRead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500" dirty="0" err="1" smtClean="0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::System::</a:t>
            </a:r>
            <a:r>
              <a:rPr lang="en-US" sz="1500" dirty="0" err="1" smtClean="0">
                <a:latin typeface="Courier New" pitchFamily="49" charset="0"/>
                <a:cs typeface="Courier New" pitchFamily="49" charset="0"/>
              </a:rPr>
              <a:t>StreamBuffer</a:t>
            </a: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500" dirty="0" err="1" smtClean="0">
                <a:latin typeface="Courier New" pitchFamily="49" charset="0"/>
                <a:cs typeface="Courier New" pitchFamily="49" charset="0"/>
              </a:rPr>
              <a:t>sb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size_t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n =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sb.endRead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cout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de-DE" sz="15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5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bytes</a:t>
            </a:r>
            <a:r>
              <a:rPr lang="de-DE" sz="15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5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available</a:t>
            </a:r>
            <a:r>
              <a:rPr lang="de-DE" sz="15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: “ 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&lt;&lt;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sb.in_avail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endl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indent="0">
              <a:buNone/>
            </a:pP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5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in[20]; </a:t>
            </a:r>
            <a:endParaRPr lang="en-US" sz="15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istream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is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sb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is.readsome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(in, </a:t>
            </a:r>
            <a:r>
              <a:rPr lang="de-DE" sz="1500" b="1" dirty="0" err="1" smtClean="0">
                <a:latin typeface="Courier New" pitchFamily="49" charset="0"/>
                <a:cs typeface="Courier New" pitchFamily="49" charset="0"/>
              </a:rPr>
              <a:t>sizeof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(in));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de-DE" sz="15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5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5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argc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5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**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argv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Pt::System::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MainLoop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nb-NO" sz="1500" dirty="0" smtClean="0">
                <a:latin typeface="Courier New" pitchFamily="49" charset="0"/>
                <a:cs typeface="Courier New" pitchFamily="49" charset="0"/>
              </a:rPr>
              <a:t>    Pt::System::Pipe pipe(Pt::System::Pipe::Async);</a:t>
            </a:r>
          </a:p>
          <a:p>
            <a:pPr marL="0" indent="0">
              <a:buNone/>
            </a:pP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indent="0">
              <a:buNone/>
            </a:pP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500" dirty="0" err="1" smtClean="0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::System::</a:t>
            </a:r>
            <a:r>
              <a:rPr lang="en-US" sz="1500" dirty="0" err="1" smtClean="0">
                <a:latin typeface="Courier New" pitchFamily="49" charset="0"/>
                <a:cs typeface="Courier New" pitchFamily="49" charset="0"/>
              </a:rPr>
              <a:t>StreamBuffer</a:t>
            </a: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dirty="0" err="1" smtClean="0">
                <a:latin typeface="Courier New" pitchFamily="49" charset="0"/>
                <a:cs typeface="Courier New" pitchFamily="49" charset="0"/>
              </a:rPr>
              <a:t>sb</a:t>
            </a: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500" dirty="0" err="1" smtClean="0">
                <a:latin typeface="Courier New" pitchFamily="49" charset="0"/>
                <a:cs typeface="Courier New" pitchFamily="49" charset="0"/>
              </a:rPr>
              <a:t>pipe.out</a:t>
            </a:r>
            <a:r>
              <a:rPr lang="en-US" sz="1500" dirty="0" smtClean="0">
                <a:latin typeface="Courier New" pitchFamily="49" charset="0"/>
                <a:cs typeface="Courier New" pitchFamily="49" charset="0"/>
              </a:rPr>
              <a:t>());</a:t>
            </a:r>
          </a:p>
          <a:p>
            <a:pPr marL="0" indent="0">
              <a:buNone/>
            </a:pPr>
            <a:r>
              <a:rPr lang="de-DE" sz="15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sb.inputReady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+= Pt::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slot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onRead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);</a:t>
            </a:r>
            <a:endParaRPr lang="en-US" sz="15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sb.beginRead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();</a:t>
            </a:r>
            <a:endParaRPr lang="en-US" sz="15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5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loop.add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pipe.out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());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500" dirty="0" err="1" smtClean="0">
                <a:latin typeface="Courier New" pitchFamily="49" charset="0"/>
                <a:cs typeface="Courier New" pitchFamily="49" charset="0"/>
              </a:rPr>
              <a:t>loop.run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5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 0;</a:t>
            </a:r>
          </a:p>
          <a:p>
            <a:pPr marL="0" indent="0">
              <a:buNone/>
            </a:pPr>
            <a:r>
              <a:rPr lang="de-DE" sz="15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962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Asynchronous</a:t>
            </a:r>
            <a:r>
              <a:rPr lang="de-DE" sz="2800" dirty="0"/>
              <a:t> </a:t>
            </a:r>
            <a:r>
              <a:rPr lang="de-DE" sz="2800" dirty="0" smtClean="0"/>
              <a:t>I/O </a:t>
            </a:r>
            <a:r>
              <a:rPr lang="de-DE" sz="2800" dirty="0" err="1" smtClean="0"/>
              <a:t>with</a:t>
            </a:r>
            <a:r>
              <a:rPr lang="de-DE" sz="2800" dirty="0" smtClean="0"/>
              <a:t> </a:t>
            </a:r>
            <a:r>
              <a:rPr lang="de-DE" sz="2800" dirty="0" err="1" smtClean="0"/>
              <a:t>streams</a:t>
            </a:r>
            <a:r>
              <a:rPr lang="de-DE" sz="2800" dirty="0" smtClean="0"/>
              <a:t> (3)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600" dirty="0" err="1" smtClean="0">
                <a:cs typeface="Courier New" pitchFamily="49" charset="0"/>
              </a:rPr>
              <a:t>With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streams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we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mean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std</a:t>
            </a:r>
            <a:r>
              <a:rPr lang="de-DE" sz="1600" dirty="0" smtClean="0">
                <a:cs typeface="Courier New" pitchFamily="49" charset="0"/>
              </a:rPr>
              <a:t>::</a:t>
            </a:r>
            <a:r>
              <a:rPr lang="de-DE" sz="1600" dirty="0" err="1" smtClean="0">
                <a:cs typeface="Courier New" pitchFamily="49" charset="0"/>
              </a:rPr>
              <a:t>iostreams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with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std</a:t>
            </a:r>
            <a:r>
              <a:rPr lang="de-DE" sz="1600" dirty="0" smtClean="0">
                <a:cs typeface="Courier New" pitchFamily="49" charset="0"/>
              </a:rPr>
              <a:t>::</a:t>
            </a:r>
            <a:r>
              <a:rPr lang="de-DE" sz="1600" dirty="0" err="1" smtClean="0">
                <a:cs typeface="Courier New" pitchFamily="49" charset="0"/>
              </a:rPr>
              <a:t>streambufs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Again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begin</a:t>
            </a:r>
            <a:r>
              <a:rPr lang="de-DE" sz="1300" dirty="0" smtClean="0">
                <a:cs typeface="Courier New" pitchFamily="49" charset="0"/>
              </a:rPr>
              <a:t>-</a:t>
            </a:r>
            <a:r>
              <a:rPr lang="de-DE" sz="1300" dirty="0" err="1" smtClean="0">
                <a:cs typeface="Courier New" pitchFamily="49" charset="0"/>
              </a:rPr>
              <a:t>notify</a:t>
            </a:r>
            <a:r>
              <a:rPr lang="de-DE" sz="1300" dirty="0" smtClean="0">
                <a:cs typeface="Courier New" pitchFamily="49" charset="0"/>
              </a:rPr>
              <a:t>-end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IODevice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works</a:t>
            </a:r>
            <a:r>
              <a:rPr lang="de-DE" sz="1300" dirty="0" smtClean="0">
                <a:cs typeface="Courier New" pitchFamily="49" charset="0"/>
              </a:rPr>
              <a:t> on </a:t>
            </a:r>
            <a:r>
              <a:rPr lang="de-DE" sz="1300" dirty="0" err="1" smtClean="0">
                <a:cs typeface="Courier New" pitchFamily="49" charset="0"/>
              </a:rPr>
              <a:t>std</a:t>
            </a:r>
            <a:r>
              <a:rPr lang="de-DE" sz="1300" dirty="0" smtClean="0">
                <a:cs typeface="Courier New" pitchFamily="49" charset="0"/>
              </a:rPr>
              <a:t>::</a:t>
            </a:r>
            <a:r>
              <a:rPr lang="de-DE" sz="1300" dirty="0" err="1" smtClean="0">
                <a:cs typeface="Courier New" pitchFamily="49" charset="0"/>
              </a:rPr>
              <a:t>streambuf‘s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areas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StreamBuffer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work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with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IODevice</a:t>
            </a:r>
            <a:endParaRPr lang="de-DE" sz="13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Output </a:t>
            </a:r>
            <a:r>
              <a:rPr lang="de-DE" sz="1600" dirty="0" err="1" smtClean="0">
                <a:cs typeface="Courier New" pitchFamily="49" charset="0"/>
              </a:rPr>
              <a:t>buffer</a:t>
            </a:r>
            <a:r>
              <a:rPr lang="de-DE" sz="1600" dirty="0">
                <a:cs typeface="Courier New" pitchFamily="49" charset="0"/>
              </a:rPr>
              <a:t>: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Enlarge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area</a:t>
            </a:r>
            <a:r>
              <a:rPr lang="de-DE" sz="1300" dirty="0" smtClean="0">
                <a:cs typeface="Courier New" pitchFamily="49" charset="0"/>
              </a:rPr>
              <a:t> on </a:t>
            </a:r>
            <a:r>
              <a:rPr lang="de-DE" sz="1300" dirty="0" err="1" smtClean="0">
                <a:cs typeface="Courier New" pitchFamily="49" charset="0"/>
              </a:rPr>
              <a:t>overflow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don‘t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know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up</a:t>
            </a:r>
            <a:r>
              <a:rPr lang="de-DE" sz="1300" dirty="0" smtClean="0">
                <a:cs typeface="Courier New" pitchFamily="49" charset="0"/>
              </a:rPr>
              <a:t>-front </a:t>
            </a:r>
            <a:r>
              <a:rPr lang="de-DE" sz="1300" dirty="0" err="1" smtClean="0">
                <a:cs typeface="Courier New" pitchFamily="49" charset="0"/>
              </a:rPr>
              <a:t>how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much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data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want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write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Possible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strategy</a:t>
            </a:r>
            <a:r>
              <a:rPr lang="de-DE" sz="1300" dirty="0" smtClean="0">
                <a:cs typeface="Courier New" pitchFamily="49" charset="0"/>
              </a:rPr>
              <a:t>: Start </a:t>
            </a:r>
            <a:r>
              <a:rPr lang="de-DE" sz="1300" dirty="0" err="1" smtClean="0">
                <a:cs typeface="Courier New" pitchFamily="49" charset="0"/>
              </a:rPr>
              <a:t>writing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when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exceeds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water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mark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Query </a:t>
            </a:r>
            <a:r>
              <a:rPr lang="de-DE" sz="1300" dirty="0" err="1" smtClean="0">
                <a:cs typeface="Courier New" pitchFamily="49" charset="0"/>
              </a:rPr>
              <a:t>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size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with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out_avail</a:t>
            </a:r>
            <a:r>
              <a:rPr lang="de-DE" sz="1300" dirty="0" smtClean="0">
                <a:cs typeface="Courier New" pitchFamily="49" charset="0"/>
              </a:rPr>
              <a:t>()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On </a:t>
            </a:r>
            <a:r>
              <a:rPr lang="de-DE" sz="1300" dirty="0" err="1" smtClean="0">
                <a:cs typeface="Courier New" pitchFamily="49" charset="0"/>
              </a:rPr>
              <a:t>successful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write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only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part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might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written</a:t>
            </a:r>
            <a:r>
              <a:rPr lang="de-DE" sz="1300" dirty="0" smtClean="0">
                <a:cs typeface="Courier New" pitchFamily="49" charset="0"/>
              </a:rPr>
              <a:t> out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Important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optimize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write</a:t>
            </a:r>
            <a:r>
              <a:rPr lang="de-DE" sz="1300" dirty="0" smtClean="0">
                <a:cs typeface="Courier New" pitchFamily="49" charset="0"/>
              </a:rPr>
              <a:t>() </a:t>
            </a:r>
            <a:r>
              <a:rPr lang="de-DE" sz="1300" dirty="0" err="1" smtClean="0">
                <a:cs typeface="Courier New" pitchFamily="49" charset="0"/>
              </a:rPr>
              <a:t>system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call</a:t>
            </a:r>
            <a:endParaRPr lang="de-DE" sz="13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Input </a:t>
            </a:r>
            <a:r>
              <a:rPr lang="de-DE" sz="1600" dirty="0" err="1" smtClean="0">
                <a:cs typeface="Courier New" pitchFamily="49" charset="0"/>
              </a:rPr>
              <a:t>Buffer</a:t>
            </a:r>
            <a:r>
              <a:rPr lang="de-DE" sz="1600" dirty="0" smtClean="0">
                <a:cs typeface="Courier New" pitchFamily="49" charset="0"/>
              </a:rPr>
              <a:t>: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On </a:t>
            </a:r>
            <a:r>
              <a:rPr lang="de-DE" sz="1300" dirty="0" err="1" smtClean="0">
                <a:cs typeface="Courier New" pitchFamily="49" charset="0"/>
              </a:rPr>
              <a:t>successful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read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only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part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might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filled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Optimize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read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sstem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call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Check </a:t>
            </a:r>
            <a:r>
              <a:rPr lang="de-DE" sz="1300" dirty="0" err="1" smtClean="0">
                <a:cs typeface="Courier New" pitchFamily="49" charset="0"/>
              </a:rPr>
              <a:t>buffer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size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with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in_avail</a:t>
            </a:r>
            <a:r>
              <a:rPr lang="de-DE" sz="1300" dirty="0" smtClean="0">
                <a:cs typeface="Courier New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593351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Asynchronous</a:t>
            </a:r>
            <a:r>
              <a:rPr lang="de-DE" sz="2800" dirty="0"/>
              <a:t> </a:t>
            </a:r>
            <a:r>
              <a:rPr lang="de-DE" sz="2800" dirty="0" smtClean="0"/>
              <a:t>I/O - Error Handling (1)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onRead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Pt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::System::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StreamBuffer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400" dirty="0" err="1" smtClean="0">
                <a:latin typeface="Courier New" pitchFamily="49" charset="0"/>
                <a:cs typeface="Courier New" pitchFamily="49" charset="0"/>
              </a:rPr>
              <a:t>sb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b="1" dirty="0" err="1" smtClean="0">
                <a:latin typeface="Courier New" pitchFamily="49" charset="0"/>
                <a:cs typeface="Courier New" pitchFamily="49" charset="0"/>
              </a:rPr>
              <a:t>try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{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size_t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n =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sb.endRead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(); </a:t>
            </a:r>
            <a:r>
              <a:rPr lang="de-DE" sz="1400" dirty="0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de-DE" sz="1400" dirty="0" err="1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throws</a:t>
            </a:r>
            <a:r>
              <a:rPr lang="de-DE" sz="1400" dirty="0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indent="0">
              <a:buNone/>
            </a:pP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en-US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in[20]; </a:t>
            </a:r>
            <a:endParaRPr lang="en-US" sz="14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istream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is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sb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is.readsome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(in, </a:t>
            </a:r>
            <a:r>
              <a:rPr lang="de-DE" sz="1400" b="1" dirty="0" err="1" smtClean="0">
                <a:latin typeface="Courier New" pitchFamily="49" charset="0"/>
                <a:cs typeface="Courier New" pitchFamily="49" charset="0"/>
              </a:rPr>
              <a:t>sizeof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(in));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}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b="1" dirty="0" smtClean="0">
                <a:latin typeface="Courier New" pitchFamily="49" charset="0"/>
                <a:cs typeface="Courier New" pitchFamily="49" charset="0"/>
              </a:rPr>
              <a:t>catch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Pt::System::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IOError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&amp; e)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{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400" dirty="0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// handle I/O </a:t>
            </a:r>
            <a:r>
              <a:rPr lang="de-DE" sz="1400" dirty="0" err="1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error</a:t>
            </a:r>
            <a:r>
              <a:rPr lang="de-DE" sz="1400" dirty="0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400" dirty="0" err="1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close</a:t>
            </a:r>
            <a:r>
              <a:rPr lang="de-DE" sz="1400" dirty="0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device</a:t>
            </a:r>
            <a:r>
              <a:rPr lang="de-DE" sz="1400" dirty="0" smtClean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etc…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}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de-DE" sz="15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3315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Asynchronous</a:t>
            </a:r>
            <a:r>
              <a:rPr lang="de-DE" sz="2800" dirty="0"/>
              <a:t> </a:t>
            </a:r>
            <a:r>
              <a:rPr lang="de-DE" sz="2800" dirty="0" smtClean="0"/>
              <a:t>I/O – Error Handling (2)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600" dirty="0" smtClean="0">
                <a:cs typeface="Courier New" pitchFamily="49" charset="0"/>
              </a:rPr>
              <a:t>All </a:t>
            </a:r>
            <a:r>
              <a:rPr lang="de-DE" sz="1600" dirty="0" err="1" smtClean="0">
                <a:cs typeface="Courier New" pitchFamily="49" charset="0"/>
              </a:rPr>
              <a:t>exceptions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are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defered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until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the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operation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is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ended</a:t>
            </a:r>
            <a:endParaRPr lang="de-DE" sz="1200" dirty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IODevice</a:t>
            </a:r>
            <a:r>
              <a:rPr lang="de-DE" sz="1300" dirty="0" smtClean="0">
                <a:cs typeface="Courier New" pitchFamily="49" charset="0"/>
              </a:rPr>
              <a:t>::</a:t>
            </a:r>
            <a:r>
              <a:rPr lang="de-DE" sz="1300" dirty="0" err="1" smtClean="0">
                <a:cs typeface="Courier New" pitchFamily="49" charset="0"/>
              </a:rPr>
              <a:t>endRead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IODevice</a:t>
            </a:r>
            <a:r>
              <a:rPr lang="de-DE" sz="1300" dirty="0" smtClean="0">
                <a:cs typeface="Courier New" pitchFamily="49" charset="0"/>
              </a:rPr>
              <a:t>::</a:t>
            </a:r>
            <a:r>
              <a:rPr lang="de-DE" sz="1300" dirty="0" err="1" smtClean="0">
                <a:cs typeface="Courier New" pitchFamily="49" charset="0"/>
              </a:rPr>
              <a:t>endWrite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StreamBuffer</a:t>
            </a:r>
            <a:r>
              <a:rPr lang="de-DE" sz="1300" dirty="0" smtClean="0">
                <a:cs typeface="Courier New" pitchFamily="49" charset="0"/>
              </a:rPr>
              <a:t>::</a:t>
            </a:r>
            <a:r>
              <a:rPr lang="de-DE" sz="1300" dirty="0" err="1" smtClean="0">
                <a:cs typeface="Courier New" pitchFamily="49" charset="0"/>
              </a:rPr>
              <a:t>endRead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StreamBuffer</a:t>
            </a:r>
            <a:r>
              <a:rPr lang="de-DE" sz="1300" dirty="0" smtClean="0">
                <a:cs typeface="Courier New" pitchFamily="49" charset="0"/>
              </a:rPr>
              <a:t>::</a:t>
            </a:r>
            <a:r>
              <a:rPr lang="de-DE" sz="1300" dirty="0" err="1" smtClean="0">
                <a:cs typeface="Courier New" pitchFamily="49" charset="0"/>
              </a:rPr>
              <a:t>endWrite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will </a:t>
            </a:r>
            <a:r>
              <a:rPr lang="de-DE" sz="1300" dirty="0" err="1" smtClean="0">
                <a:cs typeface="Courier New" pitchFamily="49" charset="0"/>
              </a:rPr>
              <a:t>see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more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later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fits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well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with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begin</a:t>
            </a:r>
            <a:r>
              <a:rPr lang="de-DE" sz="1300" dirty="0" smtClean="0">
                <a:cs typeface="Courier New" pitchFamily="49" charset="0"/>
              </a:rPr>
              <a:t>-</a:t>
            </a:r>
            <a:r>
              <a:rPr lang="de-DE" sz="1300" dirty="0" err="1" smtClean="0">
                <a:cs typeface="Courier New" pitchFamily="49" charset="0"/>
              </a:rPr>
              <a:t>notify</a:t>
            </a:r>
            <a:r>
              <a:rPr lang="de-DE" sz="1300" dirty="0" smtClean="0">
                <a:cs typeface="Courier New" pitchFamily="49" charset="0"/>
              </a:rPr>
              <a:t>-end </a:t>
            </a:r>
            <a:r>
              <a:rPr lang="de-DE" sz="1300" dirty="0" err="1" smtClean="0">
                <a:cs typeface="Courier New" pitchFamily="49" charset="0"/>
              </a:rPr>
              <a:t>pattern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If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exceptions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were</a:t>
            </a:r>
            <a:r>
              <a:rPr lang="de-DE" sz="1300" dirty="0" smtClean="0">
                <a:cs typeface="Courier New" pitchFamily="49" charset="0"/>
              </a:rPr>
              <a:t> just </a:t>
            </a:r>
            <a:r>
              <a:rPr lang="de-DE" sz="1300" dirty="0" err="1" smtClean="0">
                <a:cs typeface="Courier New" pitchFamily="49" charset="0"/>
              </a:rPr>
              <a:t>thrown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where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they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appear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would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kicked</a:t>
            </a:r>
            <a:r>
              <a:rPr lang="de-DE" sz="1300" dirty="0" smtClean="0">
                <a:cs typeface="Courier New" pitchFamily="49" charset="0"/>
              </a:rPr>
              <a:t> out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Need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deal </a:t>
            </a:r>
            <a:r>
              <a:rPr lang="de-DE" sz="1300" dirty="0" err="1" smtClean="0">
                <a:cs typeface="Courier New" pitchFamily="49" charset="0"/>
              </a:rPr>
              <a:t>with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exceptions</a:t>
            </a:r>
            <a:r>
              <a:rPr lang="de-DE" sz="1300" dirty="0" smtClean="0">
                <a:cs typeface="Courier New" pitchFamily="49" charset="0"/>
              </a:rPr>
              <a:t> in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callback</a:t>
            </a:r>
            <a:endParaRPr lang="de-DE" sz="1300" dirty="0" smtClean="0">
              <a:cs typeface="Courier New" pitchFamily="49" charset="0"/>
            </a:endParaRPr>
          </a:p>
          <a:p>
            <a:pPr marL="457200" lvl="1" indent="0">
              <a:buNone/>
            </a:pPr>
            <a:endParaRPr lang="de-DE" sz="1200" dirty="0" smtClean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IOErrors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can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be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cured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by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closing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the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connection</a:t>
            </a:r>
            <a:r>
              <a:rPr lang="de-DE" sz="1600" dirty="0" smtClean="0">
                <a:cs typeface="Courier New" pitchFamily="49" charset="0"/>
              </a:rPr>
              <a:t> / </a:t>
            </a:r>
            <a:r>
              <a:rPr lang="de-DE" sz="1600" dirty="0" err="1" smtClean="0">
                <a:cs typeface="Courier New" pitchFamily="49" charset="0"/>
              </a:rPr>
              <a:t>device</a:t>
            </a:r>
            <a:endParaRPr lang="de-DE" sz="1600" dirty="0" smtClean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3414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Asynchronous</a:t>
            </a:r>
            <a:r>
              <a:rPr lang="de-DE" sz="2800" dirty="0"/>
              <a:t> </a:t>
            </a:r>
            <a:r>
              <a:rPr lang="de-DE" sz="2800" dirty="0" smtClean="0"/>
              <a:t>I/O Software </a:t>
            </a:r>
            <a:r>
              <a:rPr lang="de-DE" sz="2800" dirty="0" err="1" smtClean="0"/>
              <a:t>Stack</a:t>
            </a:r>
            <a:endParaRPr lang="en-US" sz="2800" dirty="0"/>
          </a:p>
        </p:txBody>
      </p:sp>
      <p:sp>
        <p:nvSpPr>
          <p:cNvPr id="4" name="Abgerundetes Rechteck 3"/>
          <p:cNvSpPr/>
          <p:nvPr/>
        </p:nvSpPr>
        <p:spPr>
          <a:xfrm>
            <a:off x="2544886" y="4077072"/>
            <a:ext cx="2592288" cy="360040"/>
          </a:xfrm>
          <a:prstGeom prst="roundRect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IODevice</a:t>
            </a:r>
            <a:endParaRPr lang="en-US" dirty="0"/>
          </a:p>
        </p:txBody>
      </p:sp>
      <p:sp>
        <p:nvSpPr>
          <p:cNvPr id="5" name="Abgerundetes Rechteck 4"/>
          <p:cNvSpPr/>
          <p:nvPr/>
        </p:nvSpPr>
        <p:spPr>
          <a:xfrm>
            <a:off x="2544886" y="3284984"/>
            <a:ext cx="2592288" cy="360040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IOStream</a:t>
            </a:r>
            <a:r>
              <a:rPr lang="de-DE" dirty="0" smtClean="0"/>
              <a:t>/</a:t>
            </a:r>
            <a:r>
              <a:rPr lang="de-DE" dirty="0" err="1" smtClean="0"/>
              <a:t>Streambuffer</a:t>
            </a:r>
            <a:endParaRPr lang="en-US" dirty="0"/>
          </a:p>
        </p:txBody>
      </p:sp>
      <p:sp>
        <p:nvSpPr>
          <p:cNvPr id="6" name="Abgerundetes Rechteck 5"/>
          <p:cNvSpPr/>
          <p:nvPr/>
        </p:nvSpPr>
        <p:spPr>
          <a:xfrm>
            <a:off x="2555776" y="2492896"/>
            <a:ext cx="2592288" cy="36004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TextStream</a:t>
            </a:r>
            <a:endParaRPr lang="en-US" dirty="0"/>
          </a:p>
        </p:txBody>
      </p:sp>
      <p:sp>
        <p:nvSpPr>
          <p:cNvPr id="7" name="Abgerundetes Rechteck 6"/>
          <p:cNvSpPr/>
          <p:nvPr/>
        </p:nvSpPr>
        <p:spPr>
          <a:xfrm>
            <a:off x="2555776" y="1700808"/>
            <a:ext cx="2592288" cy="36004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XML </a:t>
            </a:r>
            <a:r>
              <a:rPr lang="de-DE" dirty="0"/>
              <a:t>P</a:t>
            </a:r>
            <a:r>
              <a:rPr lang="de-DE" dirty="0" smtClean="0"/>
              <a:t>arser/Writer</a:t>
            </a:r>
            <a:endParaRPr lang="en-US" dirty="0"/>
          </a:p>
        </p:txBody>
      </p:sp>
      <p:sp>
        <p:nvSpPr>
          <p:cNvPr id="8" name="Pfeil nach unten 7"/>
          <p:cNvSpPr/>
          <p:nvPr/>
        </p:nvSpPr>
        <p:spPr>
          <a:xfrm>
            <a:off x="3059832" y="2147708"/>
            <a:ext cx="242316" cy="27318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feil nach unten 8"/>
          <p:cNvSpPr/>
          <p:nvPr/>
        </p:nvSpPr>
        <p:spPr>
          <a:xfrm>
            <a:off x="4401692" y="2132856"/>
            <a:ext cx="242316" cy="27318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scene3d>
            <a:camera prst="orthographicFront">
              <a:rot lat="599999" lon="0" rev="10799999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feil nach unten 9"/>
          <p:cNvSpPr/>
          <p:nvPr/>
        </p:nvSpPr>
        <p:spPr>
          <a:xfrm>
            <a:off x="3059832" y="2939796"/>
            <a:ext cx="242316" cy="27318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feil nach unten 10"/>
          <p:cNvSpPr/>
          <p:nvPr/>
        </p:nvSpPr>
        <p:spPr>
          <a:xfrm>
            <a:off x="4401692" y="2924944"/>
            <a:ext cx="242316" cy="27318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scene3d>
            <a:camera prst="orthographicFront">
              <a:rot lat="599999" lon="0" rev="10799999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feil nach unten 11"/>
          <p:cNvSpPr/>
          <p:nvPr/>
        </p:nvSpPr>
        <p:spPr>
          <a:xfrm>
            <a:off x="3059832" y="3731884"/>
            <a:ext cx="242316" cy="27318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feil nach unten 12"/>
          <p:cNvSpPr/>
          <p:nvPr/>
        </p:nvSpPr>
        <p:spPr>
          <a:xfrm>
            <a:off x="4401692" y="3717032"/>
            <a:ext cx="242316" cy="27318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scene3d>
            <a:camera prst="orthographicFront">
              <a:rot lat="599999" lon="0" rev="10799999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feil nach unten 13"/>
          <p:cNvSpPr/>
          <p:nvPr/>
        </p:nvSpPr>
        <p:spPr>
          <a:xfrm>
            <a:off x="3059832" y="4595980"/>
            <a:ext cx="242316" cy="27318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feil nach unten 14"/>
          <p:cNvSpPr/>
          <p:nvPr/>
        </p:nvSpPr>
        <p:spPr>
          <a:xfrm>
            <a:off x="4401692" y="4581128"/>
            <a:ext cx="242316" cy="27318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scene3d>
            <a:camera prst="orthographicFront">
              <a:rot lat="599999" lon="0" rev="10799999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bgerundetes Rechteck 15"/>
          <p:cNvSpPr/>
          <p:nvPr/>
        </p:nvSpPr>
        <p:spPr>
          <a:xfrm>
            <a:off x="1475656" y="4941168"/>
            <a:ext cx="4824536" cy="504056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OS</a:t>
            </a:r>
            <a:endParaRPr lang="en-US" dirty="0"/>
          </a:p>
        </p:txBody>
      </p:sp>
      <p:sp>
        <p:nvSpPr>
          <p:cNvPr id="17" name="Inhaltsplatzhalter 2"/>
          <p:cNvSpPr>
            <a:spLocks noGrp="1"/>
          </p:cNvSpPr>
          <p:nvPr>
            <p:ph idx="1"/>
          </p:nvPr>
        </p:nvSpPr>
        <p:spPr>
          <a:xfrm>
            <a:off x="5364088" y="4077072"/>
            <a:ext cx="2880320" cy="4320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400" dirty="0" err="1" smtClean="0">
                <a:cs typeface="Courier New" pitchFamily="49" charset="0"/>
              </a:rPr>
              <a:t>Raw</a:t>
            </a:r>
            <a:r>
              <a:rPr lang="de-DE" sz="1400" dirty="0" smtClean="0">
                <a:cs typeface="Courier New" pitchFamily="49" charset="0"/>
              </a:rPr>
              <a:t> I/O</a:t>
            </a:r>
          </a:p>
        </p:txBody>
      </p:sp>
      <p:sp>
        <p:nvSpPr>
          <p:cNvPr id="18" name="Inhaltsplatzhalter 2"/>
          <p:cNvSpPr txBox="1">
            <a:spLocks/>
          </p:cNvSpPr>
          <p:nvPr/>
        </p:nvSpPr>
        <p:spPr>
          <a:xfrm>
            <a:off x="5364088" y="3284984"/>
            <a:ext cx="2880320" cy="432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de-DE" sz="1400" dirty="0" smtClean="0">
                <a:cs typeface="Courier New" pitchFamily="49" charset="0"/>
              </a:rPr>
              <a:t>I/O </a:t>
            </a:r>
            <a:r>
              <a:rPr lang="de-DE" sz="1400" dirty="0" err="1" smtClean="0">
                <a:cs typeface="Courier New" pitchFamily="49" charset="0"/>
              </a:rPr>
              <a:t>Buffering</a:t>
            </a:r>
            <a:endParaRPr lang="de-DE" sz="1400" dirty="0" smtClean="0">
              <a:cs typeface="Courier New" pitchFamily="49" charset="0"/>
            </a:endParaRPr>
          </a:p>
        </p:txBody>
      </p:sp>
      <p:sp>
        <p:nvSpPr>
          <p:cNvPr id="19" name="Inhaltsplatzhalter 2"/>
          <p:cNvSpPr txBox="1">
            <a:spLocks/>
          </p:cNvSpPr>
          <p:nvPr/>
        </p:nvSpPr>
        <p:spPr>
          <a:xfrm>
            <a:off x="5364088" y="2492896"/>
            <a:ext cx="2880320" cy="432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de-DE" sz="1400" dirty="0" smtClean="0">
                <a:cs typeface="Courier New" pitchFamily="49" charset="0"/>
              </a:rPr>
              <a:t>Text Encoding/Decoding</a:t>
            </a:r>
          </a:p>
        </p:txBody>
      </p:sp>
      <p:sp>
        <p:nvSpPr>
          <p:cNvPr id="20" name="Inhaltsplatzhalter 2"/>
          <p:cNvSpPr txBox="1">
            <a:spLocks/>
          </p:cNvSpPr>
          <p:nvPr/>
        </p:nvSpPr>
        <p:spPr>
          <a:xfrm>
            <a:off x="5364088" y="1700808"/>
            <a:ext cx="2880320" cy="432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de-DE" sz="1400" dirty="0" err="1" smtClean="0">
                <a:cs typeface="Courier New" pitchFamily="49" charset="0"/>
              </a:rPr>
              <a:t>Node</a:t>
            </a:r>
            <a:r>
              <a:rPr lang="de-DE" sz="1400" dirty="0" err="1">
                <a:cs typeface="Courier New" pitchFamily="49" charset="0"/>
              </a:rPr>
              <a:t>-</a:t>
            </a:r>
            <a:r>
              <a:rPr lang="de-DE" sz="1400" dirty="0" err="1" smtClean="0">
                <a:cs typeface="Courier New" pitchFamily="49" charset="0"/>
              </a:rPr>
              <a:t>based</a:t>
            </a:r>
            <a:r>
              <a:rPr lang="de-DE" sz="1400" dirty="0" smtClean="0">
                <a:cs typeface="Courier New" pitchFamily="49" charset="0"/>
              </a:rPr>
              <a:t> XML Processing</a:t>
            </a:r>
          </a:p>
        </p:txBody>
      </p:sp>
    </p:spTree>
    <p:extLst>
      <p:ext uri="{BB962C8B-B14F-4D97-AF65-F5344CB8AC3E}">
        <p14:creationId xmlns:p14="http://schemas.microsoft.com/office/powerpoint/2010/main" val="2521901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smtClean="0"/>
              <a:t>Event </a:t>
            </a:r>
            <a:r>
              <a:rPr lang="de-DE" sz="2800" dirty="0" err="1" smtClean="0"/>
              <a:t>Driven</a:t>
            </a:r>
            <a:r>
              <a:rPr lang="de-DE" sz="2800" dirty="0" smtClean="0"/>
              <a:t> </a:t>
            </a:r>
            <a:r>
              <a:rPr lang="de-DE" sz="2800" dirty="0" err="1" smtClean="0"/>
              <a:t>Programming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600" dirty="0" smtClean="0">
                <a:cs typeface="Courier New" pitchFamily="49" charset="0"/>
              </a:rPr>
              <a:t>Not a </a:t>
            </a:r>
            <a:r>
              <a:rPr lang="de-DE" sz="1600" dirty="0" err="1" smtClean="0">
                <a:cs typeface="Courier New" pitchFamily="49" charset="0"/>
              </a:rPr>
              <a:t>new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technology</a:t>
            </a:r>
            <a:endParaRPr lang="de-DE" sz="12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Traditionally</a:t>
            </a:r>
            <a:r>
              <a:rPr lang="de-DE" sz="1300" dirty="0" smtClean="0">
                <a:cs typeface="Courier New" pitchFamily="49" charset="0"/>
              </a:rPr>
              <a:t>, all UI </a:t>
            </a:r>
            <a:r>
              <a:rPr lang="de-DE" sz="1300" dirty="0" err="1" smtClean="0">
                <a:cs typeface="Courier New" pitchFamily="49" charset="0"/>
              </a:rPr>
              <a:t>are</a:t>
            </a:r>
            <a:r>
              <a:rPr lang="de-DE" sz="1300" dirty="0" smtClean="0">
                <a:cs typeface="Courier New" pitchFamily="49" charset="0"/>
              </a:rPr>
              <a:t> event-</a:t>
            </a:r>
            <a:r>
              <a:rPr lang="de-DE" sz="1300" dirty="0" err="1" smtClean="0">
                <a:cs typeface="Courier New" pitchFamily="49" charset="0"/>
              </a:rPr>
              <a:t>driven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Events </a:t>
            </a:r>
            <a:r>
              <a:rPr lang="de-DE" sz="1300" dirty="0" err="1" smtClean="0">
                <a:cs typeface="Courier New" pitchFamily="49" charset="0"/>
              </a:rPr>
              <a:t>are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stored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OS in </a:t>
            </a:r>
            <a:r>
              <a:rPr lang="de-DE" sz="1300" dirty="0" err="1" smtClean="0">
                <a:cs typeface="Courier New" pitchFamily="49" charset="0"/>
              </a:rPr>
              <a:t>the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event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queue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an </a:t>
            </a:r>
            <a:r>
              <a:rPr lang="de-DE" sz="1300" dirty="0" err="1" smtClean="0">
                <a:cs typeface="Courier New" pitchFamily="49" charset="0"/>
              </a:rPr>
              <a:t>application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Application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wakes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up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processes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events</a:t>
            </a:r>
            <a:r>
              <a:rPr lang="de-DE" sz="1300" dirty="0" smtClean="0">
                <a:cs typeface="Courier New" pitchFamily="49" charset="0"/>
              </a:rPr>
              <a:t> in ist </a:t>
            </a:r>
            <a:r>
              <a:rPr lang="de-DE" sz="1300" dirty="0" err="1" smtClean="0">
                <a:cs typeface="Courier New" pitchFamily="49" charset="0"/>
              </a:rPr>
              <a:t>context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Events </a:t>
            </a:r>
            <a:r>
              <a:rPr lang="de-DE" sz="1300" dirty="0" err="1" smtClean="0">
                <a:cs typeface="Courier New" pitchFamily="49" charset="0"/>
              </a:rPr>
              <a:t>are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routed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receivers</a:t>
            </a:r>
            <a:r>
              <a:rPr lang="de-DE" sz="1300" dirty="0" smtClean="0">
                <a:cs typeface="Courier New" pitchFamily="49" charset="0"/>
              </a:rPr>
              <a:t> (</a:t>
            </a:r>
            <a:r>
              <a:rPr lang="de-DE" sz="1300" dirty="0" err="1" smtClean="0">
                <a:cs typeface="Courier New" pitchFamily="49" charset="0"/>
              </a:rPr>
              <a:t>publish-subscribe</a:t>
            </a:r>
            <a:r>
              <a:rPr lang="de-DE" sz="1300" dirty="0" smtClean="0">
                <a:cs typeface="Courier New" pitchFamily="49" charset="0"/>
              </a:rPr>
              <a:t>)</a:t>
            </a: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lvl="1"/>
            <a:endParaRPr lang="de-DE" sz="1200" dirty="0" smtClean="0">
              <a:cs typeface="Courier New" pitchFamily="49" charset="0"/>
            </a:endParaRPr>
          </a:p>
          <a:p>
            <a:pPr lvl="1"/>
            <a:endParaRPr lang="de-DE" sz="1200" dirty="0">
              <a:cs typeface="Courier New" pitchFamily="49" charset="0"/>
            </a:endParaRPr>
          </a:p>
          <a:p>
            <a:pPr marL="457200" lvl="1" indent="0">
              <a:buNone/>
            </a:pPr>
            <a:endParaRPr lang="de-DE" sz="1200" dirty="0" smtClean="0"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cs typeface="Courier New" pitchFamily="49" charset="0"/>
              </a:rPr>
              <a:t>		</a:t>
            </a:r>
            <a:r>
              <a:rPr lang="de-DE" sz="1800" dirty="0" smtClean="0">
                <a:cs typeface="Courier New" pitchFamily="49" charset="0"/>
              </a:rPr>
              <a:t>Can </a:t>
            </a:r>
            <a:r>
              <a:rPr lang="de-DE" sz="1800" dirty="0" err="1" smtClean="0">
                <a:cs typeface="Courier New" pitchFamily="49" charset="0"/>
              </a:rPr>
              <a:t>be</a:t>
            </a:r>
            <a:r>
              <a:rPr lang="de-DE" sz="1800" dirty="0" smtClean="0">
                <a:cs typeface="Courier New" pitchFamily="49" charset="0"/>
              </a:rPr>
              <a:t> </a:t>
            </a:r>
            <a:r>
              <a:rPr lang="de-DE" sz="1800" dirty="0" err="1" smtClean="0">
                <a:cs typeface="Courier New" pitchFamily="49" charset="0"/>
              </a:rPr>
              <a:t>leveraged</a:t>
            </a:r>
            <a:r>
              <a:rPr lang="de-DE" sz="1800" dirty="0" smtClean="0">
                <a:cs typeface="Courier New" pitchFamily="49" charset="0"/>
              </a:rPr>
              <a:t> </a:t>
            </a:r>
            <a:r>
              <a:rPr lang="de-DE" sz="1800" dirty="0" err="1" smtClean="0">
                <a:cs typeface="Courier New" pitchFamily="49" charset="0"/>
              </a:rPr>
              <a:t>for</a:t>
            </a:r>
            <a:r>
              <a:rPr lang="de-DE" sz="1800" dirty="0" smtClean="0">
                <a:cs typeface="Courier New" pitchFamily="49" charset="0"/>
              </a:rPr>
              <a:t> inter-thread </a:t>
            </a:r>
            <a:r>
              <a:rPr lang="de-DE" sz="1800" dirty="0" err="1" smtClean="0">
                <a:cs typeface="Courier New" pitchFamily="49" charset="0"/>
              </a:rPr>
              <a:t>communication</a:t>
            </a:r>
            <a:endParaRPr lang="de-DE" sz="1800" dirty="0">
              <a:cs typeface="Courier New" pitchFamily="49" charset="0"/>
            </a:endParaRP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764" y="2636912"/>
            <a:ext cx="4762500" cy="2647950"/>
          </a:xfrm>
          <a:prstGeom prst="rect">
            <a:avLst/>
          </a:prstGeom>
        </p:spPr>
      </p:pic>
      <p:sp>
        <p:nvSpPr>
          <p:cNvPr id="5" name="Pfeil nach rechts 4"/>
          <p:cNvSpPr/>
          <p:nvPr/>
        </p:nvSpPr>
        <p:spPr>
          <a:xfrm>
            <a:off x="1907704" y="5994000"/>
            <a:ext cx="252336" cy="188720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62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smtClean="0"/>
              <a:t>Inter-Thread Event </a:t>
            </a:r>
            <a:r>
              <a:rPr lang="de-DE" sz="2800" dirty="0"/>
              <a:t>H</a:t>
            </a:r>
            <a:r>
              <a:rPr lang="de-DE" sz="2800" dirty="0" smtClean="0"/>
              <a:t>andling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300" b="1" dirty="0" err="1">
                <a:latin typeface="Courier New" pitchFamily="49" charset="0"/>
                <a:cs typeface="Courier New" pitchFamily="49" charset="0"/>
              </a:rPr>
              <a:t>c</a:t>
            </a:r>
            <a:r>
              <a:rPr lang="de-DE" sz="1300" b="1" dirty="0" err="1" smtClean="0">
                <a:latin typeface="Courier New" pitchFamily="49" charset="0"/>
                <a:cs typeface="Courier New" pitchFamily="49" charset="0"/>
              </a:rPr>
              <a:t>lass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ExitEvent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: </a:t>
            </a:r>
            <a:r>
              <a:rPr lang="de-DE" sz="1300" b="1" dirty="0" err="1" smtClean="0">
                <a:latin typeface="Courier New" pitchFamily="49" charset="0"/>
                <a:cs typeface="Courier New" pitchFamily="49" charset="0"/>
              </a:rPr>
              <a:t>public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Pt::Event {};</a:t>
            </a:r>
          </a:p>
          <a:p>
            <a:pPr marL="0" indent="0">
              <a:buNone/>
            </a:pPr>
            <a:endParaRPr lang="de-DE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threadFunc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ExitEvent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ev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Pt::System::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Application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instance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().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().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commitEvent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ev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300" dirty="0">
                <a:latin typeface="Courier New" pitchFamily="49" charset="0"/>
                <a:cs typeface="Courier New" pitchFamily="49" charset="0"/>
              </a:rPr>
              <a:t>}</a:t>
            </a:r>
            <a:endParaRPr lang="de-DE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onExitEvent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ExitEvent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ev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Pt::System::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Application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instance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().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().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300" dirty="0">
                <a:latin typeface="Courier New" pitchFamily="49" charset="0"/>
                <a:cs typeface="Courier New" pitchFamily="49" charset="0"/>
              </a:rPr>
              <a:t>}</a:t>
            </a:r>
            <a:endParaRPr lang="de-DE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3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argc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3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**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argv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Pt::System::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Application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argc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argv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Pt::System::</a:t>
            </a:r>
            <a:r>
              <a:rPr lang="de-DE" sz="1300" dirty="0" err="1">
                <a:latin typeface="Courier New" pitchFamily="49" charset="0"/>
                <a:cs typeface="Courier New" pitchFamily="49" charset="0"/>
              </a:rPr>
              <a:t>A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ttachedThread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thread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(Pt::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callable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threadFunc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thread.start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endParaRPr lang="de-DE" sz="13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app.loop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().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+= Pt::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slot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onExitEvent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app.run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3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0;</a:t>
            </a:r>
          </a:p>
          <a:p>
            <a:pPr marL="0" indent="0">
              <a:buNone/>
            </a:pP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7752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smtClean="0"/>
              <a:t>Inter-Thread Event Handling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600" dirty="0" smtClean="0">
                <a:cs typeface="Courier New" pitchFamily="49" charset="0"/>
              </a:rPr>
              <a:t>Threads </a:t>
            </a:r>
            <a:r>
              <a:rPr lang="de-DE" sz="1600" dirty="0" err="1" smtClean="0">
                <a:cs typeface="Courier New" pitchFamily="49" charset="0"/>
              </a:rPr>
              <a:t>communicate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through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the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means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of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events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and</a:t>
            </a:r>
            <a:r>
              <a:rPr lang="de-DE" sz="1600" dirty="0" smtClean="0">
                <a:cs typeface="Courier New" pitchFamily="49" charset="0"/>
              </a:rPr>
              <a:t> a thread-safe </a:t>
            </a:r>
            <a:r>
              <a:rPr lang="de-DE" sz="1600" dirty="0" err="1" smtClean="0">
                <a:cs typeface="Courier New" pitchFamily="49" charset="0"/>
              </a:rPr>
              <a:t>loop</a:t>
            </a:r>
            <a:r>
              <a:rPr lang="de-DE" sz="1600" dirty="0" smtClean="0">
                <a:cs typeface="Courier New" pitchFamily="49" charset="0"/>
              </a:rPr>
              <a:t> API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Use</a:t>
            </a:r>
            <a:r>
              <a:rPr lang="de-DE" sz="1300" dirty="0" smtClean="0">
                <a:cs typeface="Courier New" pitchFamily="49" charset="0"/>
              </a:rPr>
              <a:t> Events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cross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borders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commitEvent</a:t>
            </a:r>
            <a:r>
              <a:rPr lang="de-DE" sz="1300" dirty="0" smtClean="0">
                <a:cs typeface="Courier New" pitchFamily="49" charset="0"/>
              </a:rPr>
              <a:t>() </a:t>
            </a:r>
            <a:r>
              <a:rPr lang="de-DE" sz="1300" dirty="0" err="1" smtClean="0">
                <a:cs typeface="Courier New" pitchFamily="49" charset="0"/>
              </a:rPr>
              <a:t>puts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event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into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queue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wakes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up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queueEvent</a:t>
            </a:r>
            <a:r>
              <a:rPr lang="de-DE" sz="1300" dirty="0" smtClean="0">
                <a:cs typeface="Courier New" pitchFamily="49" charset="0"/>
              </a:rPr>
              <a:t>() </a:t>
            </a:r>
            <a:r>
              <a:rPr lang="de-DE" sz="1300" dirty="0" err="1" smtClean="0">
                <a:cs typeface="Courier New" pitchFamily="49" charset="0"/>
              </a:rPr>
              <a:t>only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puts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event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into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queue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wake</a:t>
            </a:r>
            <a:r>
              <a:rPr lang="de-DE" sz="1300" dirty="0" smtClean="0">
                <a:cs typeface="Courier New" pitchFamily="49" charset="0"/>
              </a:rPr>
              <a:t>() </a:t>
            </a:r>
            <a:r>
              <a:rPr lang="de-DE" sz="1300" dirty="0" err="1" smtClean="0">
                <a:cs typeface="Courier New" pitchFamily="49" charset="0"/>
              </a:rPr>
              <a:t>forces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iteration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>
                <a:cs typeface="Courier New" pitchFamily="49" charset="0"/>
              </a:rPr>
              <a:t>e</a:t>
            </a:r>
            <a:r>
              <a:rPr lang="de-DE" sz="1300" dirty="0" err="1" smtClean="0">
                <a:cs typeface="Courier New" pitchFamily="49" charset="0"/>
              </a:rPr>
              <a:t>xit</a:t>
            </a:r>
            <a:r>
              <a:rPr lang="de-DE" sz="1300" dirty="0" smtClean="0">
                <a:cs typeface="Courier New" pitchFamily="49" charset="0"/>
              </a:rPr>
              <a:t>() </a:t>
            </a:r>
            <a:r>
              <a:rPr lang="de-DE" sz="1300" dirty="0" err="1" smtClean="0">
                <a:cs typeface="Courier New" pitchFamily="49" charset="0"/>
              </a:rPr>
              <a:t>quits</a:t>
            </a:r>
            <a:r>
              <a:rPr lang="de-DE" sz="1300" dirty="0" smtClean="0">
                <a:cs typeface="Courier New" pitchFamily="49" charset="0"/>
              </a:rPr>
              <a:t> an </a:t>
            </a:r>
            <a:r>
              <a:rPr lang="de-DE" sz="1300" dirty="0" err="1" smtClean="0">
                <a:cs typeface="Courier New" pitchFamily="49" charset="0"/>
              </a:rPr>
              <a:t>event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loop</a:t>
            </a:r>
            <a:endParaRPr lang="de-DE" sz="1300" dirty="0"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Signal </a:t>
            </a:r>
            <a:r>
              <a:rPr lang="de-DE" sz="1600" dirty="0" err="1" smtClean="0">
                <a:cs typeface="Courier New" pitchFamily="49" charset="0"/>
              </a:rPr>
              <a:t>dispatches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events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within</a:t>
            </a:r>
            <a:r>
              <a:rPr lang="de-DE" sz="1600" dirty="0" smtClean="0">
                <a:cs typeface="Courier New" pitchFamily="49" charset="0"/>
              </a:rPr>
              <a:t> a </a:t>
            </a:r>
            <a:r>
              <a:rPr lang="de-DE" sz="1600" dirty="0" err="1" smtClean="0">
                <a:cs typeface="Courier New" pitchFamily="49" charset="0"/>
              </a:rPr>
              <a:t>thread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No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manual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cast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required</a:t>
            </a:r>
            <a:r>
              <a:rPr lang="de-DE" sz="1300" dirty="0">
                <a:cs typeface="Courier New" pitchFamily="49" charset="0"/>
              </a:rPr>
              <a:t>.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Event type </a:t>
            </a:r>
            <a:r>
              <a:rPr lang="de-DE" sz="1300" dirty="0" err="1" smtClean="0">
                <a:cs typeface="Courier New" pitchFamily="49" charset="0"/>
              </a:rPr>
              <a:t>derived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from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signature</a:t>
            </a:r>
            <a:r>
              <a:rPr lang="de-DE" sz="1300" dirty="0" smtClean="0">
                <a:cs typeface="Courier New" pitchFamily="49" charset="0"/>
              </a:rPr>
              <a:t>:  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app.loop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().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 += Pt::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slot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300" dirty="0" err="1" smtClean="0">
                <a:latin typeface="Courier New" pitchFamily="49" charset="0"/>
                <a:cs typeface="Courier New" pitchFamily="49" charset="0"/>
              </a:rPr>
              <a:t>onExitEvent</a:t>
            </a:r>
            <a:r>
              <a:rPr lang="de-DE" sz="13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Ideal: Per-Thread </a:t>
            </a:r>
            <a:r>
              <a:rPr lang="de-DE" sz="1600" dirty="0" err="1" smtClean="0">
                <a:cs typeface="Courier New" pitchFamily="49" charset="0"/>
              </a:rPr>
              <a:t>event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loop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Performance: </a:t>
            </a:r>
            <a:r>
              <a:rPr lang="de-DE" sz="1300" dirty="0" err="1" smtClean="0">
                <a:cs typeface="Courier New" pitchFamily="49" charset="0"/>
              </a:rPr>
              <a:t>one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active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 per CPU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Performance: </a:t>
            </a:r>
            <a:r>
              <a:rPr lang="de-DE" sz="1300" dirty="0" err="1" smtClean="0">
                <a:cs typeface="Courier New" pitchFamily="49" charset="0"/>
              </a:rPr>
              <a:t>much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better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locality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reference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Performance: </a:t>
            </a:r>
            <a:r>
              <a:rPr lang="de-DE" sz="1300" dirty="0" err="1" smtClean="0">
                <a:cs typeface="Courier New" pitchFamily="49" charset="0"/>
              </a:rPr>
              <a:t>within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don‘t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need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lock (</a:t>
            </a:r>
            <a:r>
              <a:rPr lang="de-DE" sz="1300" dirty="0" err="1" smtClean="0">
                <a:cs typeface="Courier New" pitchFamily="49" charset="0"/>
              </a:rPr>
              <a:t>example</a:t>
            </a:r>
            <a:r>
              <a:rPr lang="de-DE" sz="1300" dirty="0" smtClean="0">
                <a:cs typeface="Courier New" pitchFamily="49" charset="0"/>
              </a:rPr>
              <a:t>: </a:t>
            </a:r>
            <a:r>
              <a:rPr lang="de-DE" sz="1300" dirty="0" err="1" smtClean="0">
                <a:cs typeface="Courier New" pitchFamily="49" charset="0"/>
              </a:rPr>
              <a:t>allocators</a:t>
            </a:r>
            <a:r>
              <a:rPr lang="de-DE" sz="1300" dirty="0" smtClean="0">
                <a:cs typeface="Courier New" pitchFamily="49" charset="0"/>
              </a:rPr>
              <a:t>)</a:t>
            </a:r>
          </a:p>
        </p:txBody>
      </p:sp>
      <p:sp>
        <p:nvSpPr>
          <p:cNvPr id="4" name="Abgerundetes Rechteck 3"/>
          <p:cNvSpPr/>
          <p:nvPr/>
        </p:nvSpPr>
        <p:spPr>
          <a:xfrm>
            <a:off x="3491880" y="5368666"/>
            <a:ext cx="1512168" cy="940653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 smtClean="0"/>
              <a:t>Main Thread</a:t>
            </a:r>
            <a:endParaRPr lang="en-US" dirty="0"/>
          </a:p>
        </p:txBody>
      </p:sp>
      <p:sp>
        <p:nvSpPr>
          <p:cNvPr id="9" name="Bogen 8"/>
          <p:cNvSpPr/>
          <p:nvPr/>
        </p:nvSpPr>
        <p:spPr>
          <a:xfrm>
            <a:off x="3887924" y="5445224"/>
            <a:ext cx="720080" cy="220573"/>
          </a:xfrm>
          <a:prstGeom prst="arc">
            <a:avLst>
              <a:gd name="adj1" fmla="val 17365597"/>
              <a:gd name="adj2" fmla="val 15573359"/>
            </a:avLst>
          </a:prstGeom>
          <a:ln w="25400">
            <a:solidFill>
              <a:schemeClr val="tx1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12" name="Ellipse 11"/>
          <p:cNvSpPr/>
          <p:nvPr/>
        </p:nvSpPr>
        <p:spPr>
          <a:xfrm>
            <a:off x="1475656" y="5301208"/>
            <a:ext cx="1584176" cy="108012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 smtClean="0"/>
              <a:t>Thread A</a:t>
            </a:r>
            <a:endParaRPr lang="en-US" dirty="0"/>
          </a:p>
        </p:txBody>
      </p:sp>
      <p:sp>
        <p:nvSpPr>
          <p:cNvPr id="13" name="Bogen 12"/>
          <p:cNvSpPr/>
          <p:nvPr/>
        </p:nvSpPr>
        <p:spPr>
          <a:xfrm>
            <a:off x="1907704" y="5440676"/>
            <a:ext cx="720080" cy="220573"/>
          </a:xfrm>
          <a:prstGeom prst="arc">
            <a:avLst>
              <a:gd name="adj1" fmla="val 17365597"/>
              <a:gd name="adj2" fmla="val 15573359"/>
            </a:avLst>
          </a:prstGeom>
          <a:ln w="25400">
            <a:solidFill>
              <a:schemeClr val="tx1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hteck 16"/>
          <p:cNvSpPr/>
          <p:nvPr/>
        </p:nvSpPr>
        <p:spPr>
          <a:xfrm>
            <a:off x="3815916" y="5737806"/>
            <a:ext cx="864096" cy="139466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900" dirty="0" err="1" smtClean="0"/>
              <a:t>EventQueue</a:t>
            </a:r>
            <a:endParaRPr lang="en-US" sz="900" dirty="0"/>
          </a:p>
        </p:txBody>
      </p:sp>
      <p:sp>
        <p:nvSpPr>
          <p:cNvPr id="19" name="Rechteck 18"/>
          <p:cNvSpPr/>
          <p:nvPr/>
        </p:nvSpPr>
        <p:spPr>
          <a:xfrm>
            <a:off x="1838962" y="5741519"/>
            <a:ext cx="864096" cy="139466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900" dirty="0" err="1" smtClean="0"/>
              <a:t>EventQueue</a:t>
            </a:r>
            <a:endParaRPr lang="en-US" sz="900" dirty="0"/>
          </a:p>
        </p:txBody>
      </p:sp>
      <p:sp>
        <p:nvSpPr>
          <p:cNvPr id="20" name="Ellipse 19"/>
          <p:cNvSpPr/>
          <p:nvPr/>
        </p:nvSpPr>
        <p:spPr>
          <a:xfrm>
            <a:off x="5436096" y="5301208"/>
            <a:ext cx="1584176" cy="108012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 smtClean="0"/>
              <a:t>Thread B</a:t>
            </a:r>
            <a:endParaRPr lang="en-US" dirty="0"/>
          </a:p>
        </p:txBody>
      </p:sp>
      <p:sp>
        <p:nvSpPr>
          <p:cNvPr id="21" name="Bogen 20"/>
          <p:cNvSpPr/>
          <p:nvPr/>
        </p:nvSpPr>
        <p:spPr>
          <a:xfrm>
            <a:off x="5864878" y="5440676"/>
            <a:ext cx="720080" cy="220573"/>
          </a:xfrm>
          <a:prstGeom prst="arc">
            <a:avLst>
              <a:gd name="adj1" fmla="val 17365597"/>
              <a:gd name="adj2" fmla="val 15573359"/>
            </a:avLst>
          </a:prstGeom>
          <a:ln w="25400">
            <a:solidFill>
              <a:schemeClr val="tx1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hteck 21"/>
          <p:cNvSpPr/>
          <p:nvPr/>
        </p:nvSpPr>
        <p:spPr>
          <a:xfrm>
            <a:off x="5796136" y="5741519"/>
            <a:ext cx="864096" cy="139466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900" dirty="0" err="1" smtClean="0"/>
              <a:t>EventQueue</a:t>
            </a:r>
            <a:endParaRPr lang="en-US" sz="900" dirty="0"/>
          </a:p>
        </p:txBody>
      </p:sp>
      <p:cxnSp>
        <p:nvCxnSpPr>
          <p:cNvPr id="24" name="Gerade Verbindung mit Pfeil 23"/>
          <p:cNvCxnSpPr>
            <a:stCxn id="12" idx="6"/>
            <a:endCxn id="4" idx="1"/>
          </p:cNvCxnSpPr>
          <p:nvPr/>
        </p:nvCxnSpPr>
        <p:spPr>
          <a:xfrm flipV="1">
            <a:off x="3059832" y="5838993"/>
            <a:ext cx="432048" cy="227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/>
          <p:cNvCxnSpPr>
            <a:stCxn id="20" idx="2"/>
            <a:endCxn id="4" idx="3"/>
          </p:cNvCxnSpPr>
          <p:nvPr/>
        </p:nvCxnSpPr>
        <p:spPr>
          <a:xfrm flipH="1" flipV="1">
            <a:off x="5004048" y="5838993"/>
            <a:ext cx="432048" cy="227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997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smtClean="0"/>
              <a:t>The Big Picture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1440160"/>
          </a:xfrm>
        </p:spPr>
        <p:txBody>
          <a:bodyPr>
            <a:normAutofit/>
          </a:bodyPr>
          <a:lstStyle/>
          <a:p>
            <a:r>
              <a:rPr lang="de-DE" sz="1600" dirty="0" err="1" smtClean="0">
                <a:cs typeface="Courier New" pitchFamily="49" charset="0"/>
              </a:rPr>
              <a:t>Combination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of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asynchronous</a:t>
            </a:r>
            <a:r>
              <a:rPr lang="de-DE" sz="1600" dirty="0" smtClean="0">
                <a:cs typeface="Courier New" pitchFamily="49" charset="0"/>
              </a:rPr>
              <a:t>  I/O, Events </a:t>
            </a:r>
            <a:r>
              <a:rPr lang="de-DE" sz="1600" dirty="0" err="1" smtClean="0">
                <a:cs typeface="Courier New" pitchFamily="49" charset="0"/>
              </a:rPr>
              <a:t>and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Timers</a:t>
            </a:r>
            <a:endParaRPr lang="de-DE" sz="1200" dirty="0" smtClean="0">
              <a:cs typeface="Courier New" pitchFamily="49" charset="0"/>
            </a:endParaRPr>
          </a:p>
          <a:p>
            <a:pPr lvl="1"/>
            <a:r>
              <a:rPr lang="de-DE" sz="1300" dirty="0" err="1">
                <a:cs typeface="Courier New" pitchFamily="49" charset="0"/>
              </a:rPr>
              <a:t>R</a:t>
            </a:r>
            <a:r>
              <a:rPr lang="de-DE" sz="1300" dirty="0" err="1" smtClean="0">
                <a:cs typeface="Courier New" pitchFamily="49" charset="0"/>
              </a:rPr>
              <a:t>eliably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stoppable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service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Reduce</a:t>
            </a:r>
            <a:r>
              <a:rPr lang="de-DE" sz="1300" dirty="0" smtClean="0">
                <a:cs typeface="Courier New" pitchFamily="49" charset="0"/>
              </a:rPr>
              <a:t> total </a:t>
            </a:r>
            <a:r>
              <a:rPr lang="de-DE" sz="1300" dirty="0" err="1" smtClean="0">
                <a:cs typeface="Courier New" pitchFamily="49" charset="0"/>
              </a:rPr>
              <a:t>number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required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Less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locking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Clear </a:t>
            </a:r>
            <a:r>
              <a:rPr lang="de-DE" sz="1300" dirty="0" err="1" smtClean="0">
                <a:cs typeface="Courier New" pitchFamily="49" charset="0"/>
              </a:rPr>
              <a:t>separation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responsibility</a:t>
            </a:r>
            <a:endParaRPr lang="de-DE" sz="1300" dirty="0" smtClean="0">
              <a:cs typeface="Courier New" pitchFamily="49" charset="0"/>
            </a:endParaRPr>
          </a:p>
        </p:txBody>
      </p:sp>
      <p:sp>
        <p:nvSpPr>
          <p:cNvPr id="6" name="Ellipse 5"/>
          <p:cNvSpPr/>
          <p:nvPr/>
        </p:nvSpPr>
        <p:spPr>
          <a:xfrm>
            <a:off x="6060776" y="3615320"/>
            <a:ext cx="914400" cy="9144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 err="1" smtClean="0"/>
              <a:t>EventLoop</a:t>
            </a:r>
            <a:endParaRPr lang="en-US" sz="1400" dirty="0"/>
          </a:p>
        </p:txBody>
      </p:sp>
      <p:sp>
        <p:nvSpPr>
          <p:cNvPr id="7" name="Pfeil nach rechts 6"/>
          <p:cNvSpPr/>
          <p:nvPr/>
        </p:nvSpPr>
        <p:spPr>
          <a:xfrm>
            <a:off x="5052664" y="4498840"/>
            <a:ext cx="978408" cy="484632"/>
          </a:xfrm>
          <a:prstGeom prst="rightArrow">
            <a:avLst/>
          </a:prstGeom>
          <a:scene3d>
            <a:camera prst="orthographicFront">
              <a:rot lat="0" lon="0" rev="21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I/O</a:t>
            </a:r>
            <a:endParaRPr lang="en-US" dirty="0"/>
          </a:p>
        </p:txBody>
      </p:sp>
      <p:sp>
        <p:nvSpPr>
          <p:cNvPr id="8" name="Pfeil nach unten 7"/>
          <p:cNvSpPr/>
          <p:nvPr/>
        </p:nvSpPr>
        <p:spPr>
          <a:xfrm>
            <a:off x="6275660" y="2492896"/>
            <a:ext cx="484632" cy="978408"/>
          </a:xfrm>
          <a:prstGeom prst="downArrow">
            <a:avLst/>
          </a:prstGeom>
          <a:solidFill>
            <a:schemeClr val="accent3">
              <a:lumMod val="75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feil nach rechts 8"/>
          <p:cNvSpPr/>
          <p:nvPr/>
        </p:nvSpPr>
        <p:spPr>
          <a:xfrm>
            <a:off x="6996880" y="4498840"/>
            <a:ext cx="97840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 w="19050">
            <a:solidFill>
              <a:schemeClr val="accent2">
                <a:lumMod val="50000"/>
              </a:schemeClr>
            </a:solidFill>
          </a:ln>
          <a:scene3d>
            <a:camera prst="orthographicFront">
              <a:rot lat="0" lon="0" rev="87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feld 9"/>
          <p:cNvSpPr txBox="1"/>
          <p:nvPr/>
        </p:nvSpPr>
        <p:spPr>
          <a:xfrm>
            <a:off x="7212904" y="4623432"/>
            <a:ext cx="815480" cy="369332"/>
          </a:xfrm>
          <a:prstGeom prst="rect">
            <a:avLst/>
          </a:prstGeom>
          <a:noFill/>
          <a:ln w="12700">
            <a:noFill/>
          </a:ln>
          <a:scene3d>
            <a:camera prst="orthographicFront">
              <a:rot lat="0" lon="0" rev="19499999"/>
            </a:camera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de-DE" dirty="0" err="1" smtClean="0">
                <a:solidFill>
                  <a:schemeClr val="bg1"/>
                </a:solidFill>
              </a:rPr>
              <a:t>Timers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Textfeld 11"/>
          <p:cNvSpPr txBox="1"/>
          <p:nvPr/>
        </p:nvSpPr>
        <p:spPr>
          <a:xfrm>
            <a:off x="6096888" y="2669924"/>
            <a:ext cx="795282" cy="369332"/>
          </a:xfrm>
          <a:prstGeom prst="rect">
            <a:avLst/>
          </a:prstGeom>
          <a:noFill/>
          <a:ln w="12700">
            <a:noFill/>
          </a:ln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E</a:t>
            </a:r>
            <a:r>
              <a:rPr lang="de-DE" dirty="0" smtClean="0">
                <a:solidFill>
                  <a:schemeClr val="bg1"/>
                </a:solidFill>
              </a:rPr>
              <a:t>vents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3" name="Grafik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1979" y="2708920"/>
            <a:ext cx="1365560" cy="1181209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629" y="4034145"/>
            <a:ext cx="2702982" cy="756835"/>
          </a:xfrm>
          <a:prstGeom prst="rect">
            <a:avLst/>
          </a:prstGeom>
        </p:spPr>
      </p:pic>
      <p:sp>
        <p:nvSpPr>
          <p:cNvPr id="16" name="Inhaltsplatzhalter 2"/>
          <p:cNvSpPr txBox="1">
            <a:spLocks/>
          </p:cNvSpPr>
          <p:nvPr/>
        </p:nvSpPr>
        <p:spPr>
          <a:xfrm>
            <a:off x="487259" y="4941168"/>
            <a:ext cx="3796709" cy="57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 dirty="0"/>
              <a:t>One ring to rule them all, one ring to find them,</a:t>
            </a:r>
            <a:br>
              <a:rPr lang="en-US" sz="1200" i="1" dirty="0"/>
            </a:br>
            <a:r>
              <a:rPr lang="en-US" sz="1200" i="1" dirty="0"/>
              <a:t>One ring to bring them all and in the darkness bind them</a:t>
            </a:r>
            <a:endParaRPr lang="de-DE" sz="1200" dirty="0" smtClean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81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smtClean="0"/>
              <a:t>Implementation </a:t>
            </a:r>
            <a:r>
              <a:rPr lang="de-DE" sz="2800" dirty="0" err="1" smtClean="0"/>
              <a:t>Hints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108012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DWORD </a:t>
            </a:r>
            <a:r>
              <a:rPr lang="en-US" sz="1600" b="1" dirty="0" err="1" smtClean="0">
                <a:latin typeface="Courier New" pitchFamily="49" charset="0"/>
                <a:cs typeface="Courier New" pitchFamily="49" charset="0"/>
              </a:rPr>
              <a:t>WaitForMultipleObjects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(DWORD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nCount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                          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HANDLE*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lpHandles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, </a:t>
            </a:r>
          </a:p>
          <a:p>
            <a:pPr marL="0" indent="0">
              <a:buNone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                           BOOL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bWaitAll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                           DWORD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dwMilliseconds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);</a:t>
            </a:r>
            <a:endParaRPr lang="de-DE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Inhaltsplatzhalter 2"/>
          <p:cNvSpPr txBox="1">
            <a:spLocks/>
          </p:cNvSpPr>
          <p:nvPr/>
        </p:nvSpPr>
        <p:spPr>
          <a:xfrm>
            <a:off x="323528" y="4077072"/>
            <a:ext cx="4284476" cy="136815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smtClean="0">
                <a:latin typeface="Courier New" pitchFamily="49" charset="0"/>
                <a:cs typeface="Courier New" pitchFamily="49" charset="0"/>
              </a:rPr>
              <a:t>select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i="1" dirty="0" err="1" smtClean="0">
                <a:latin typeface="Courier New" pitchFamily="49" charset="0"/>
                <a:cs typeface="Courier New" pitchFamily="49" charset="0"/>
              </a:rPr>
              <a:t>nfds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        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fd_set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i="1" dirty="0" err="1" smtClean="0">
                <a:latin typeface="Courier New" pitchFamily="49" charset="0"/>
                <a:cs typeface="Courier New" pitchFamily="49" charset="0"/>
              </a:rPr>
              <a:t>readfds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        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fd_set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i="1" dirty="0" err="1" smtClean="0">
                <a:latin typeface="Courier New" pitchFamily="49" charset="0"/>
                <a:cs typeface="Courier New" pitchFamily="49" charset="0"/>
              </a:rPr>
              <a:t>writefds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        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fd_set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i="1" dirty="0" err="1" smtClean="0">
                <a:latin typeface="Courier New" pitchFamily="49" charset="0"/>
                <a:cs typeface="Courier New" pitchFamily="49" charset="0"/>
              </a:rPr>
              <a:t>exceptfds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        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 smtClean="0">
                <a:latin typeface="Courier New" pitchFamily="49" charset="0"/>
                <a:cs typeface="Courier New" pitchFamily="49" charset="0"/>
              </a:rPr>
              <a:t>timeval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i="1" dirty="0" smtClean="0">
                <a:latin typeface="Courier New" pitchFamily="49" charset="0"/>
                <a:cs typeface="Courier New" pitchFamily="49" charset="0"/>
              </a:rPr>
              <a:t>timeout</a:t>
            </a: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);</a:t>
            </a: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Inhaltsplatzhalter 2"/>
          <p:cNvSpPr txBox="1">
            <a:spLocks/>
          </p:cNvSpPr>
          <p:nvPr/>
        </p:nvSpPr>
        <p:spPr>
          <a:xfrm>
            <a:off x="323528" y="2348880"/>
            <a:ext cx="8568952" cy="10801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smtClean="0">
                <a:cs typeface="Courier New" pitchFamily="49" charset="0"/>
              </a:rPr>
              <a:t>Register I/O </a:t>
            </a:r>
            <a:r>
              <a:rPr lang="de-DE" sz="1600" dirty="0" err="1" smtClean="0">
                <a:cs typeface="Courier New" pitchFamily="49" charset="0"/>
              </a:rPr>
              <a:t>handles</a:t>
            </a:r>
            <a:r>
              <a:rPr lang="de-DE" sz="1600" dirty="0" smtClean="0">
                <a:cs typeface="Courier New" pitchFamily="49" charset="0"/>
              </a:rPr>
              <a:t> (</a:t>
            </a:r>
            <a:r>
              <a:rPr lang="de-DE" sz="1600" dirty="0" err="1" smtClean="0">
                <a:cs typeface="Courier New" pitchFamily="49" charset="0"/>
              </a:rPr>
              <a:t>IODevice</a:t>
            </a:r>
            <a:r>
              <a:rPr lang="de-DE" sz="1600" dirty="0" smtClean="0">
                <a:cs typeface="Courier New" pitchFamily="49" charset="0"/>
              </a:rPr>
              <a:t>) </a:t>
            </a:r>
            <a:r>
              <a:rPr lang="de-DE" sz="1600" dirty="0" err="1" smtClean="0">
                <a:cs typeface="Courier New" pitchFamily="49" charset="0"/>
              </a:rPr>
              <a:t>as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fd_set</a:t>
            </a:r>
            <a:r>
              <a:rPr lang="de-DE" sz="1600" dirty="0" smtClean="0">
                <a:cs typeface="Courier New" pitchFamily="49" charset="0"/>
              </a:rPr>
              <a:t> (non-</a:t>
            </a:r>
            <a:r>
              <a:rPr lang="de-DE" sz="1600" dirty="0" err="1" smtClean="0">
                <a:cs typeface="Courier New" pitchFamily="49" charset="0"/>
              </a:rPr>
              <a:t>blocking</a:t>
            </a:r>
            <a:r>
              <a:rPr lang="de-DE" sz="1600" dirty="0" smtClean="0">
                <a:cs typeface="Courier New" pitchFamily="49" charset="0"/>
              </a:rPr>
              <a:t>) </a:t>
            </a:r>
            <a:r>
              <a:rPr lang="de-DE" sz="1600" dirty="0" err="1" smtClean="0">
                <a:cs typeface="Courier New" pitchFamily="49" charset="0"/>
              </a:rPr>
              <a:t>or</a:t>
            </a:r>
            <a:r>
              <a:rPr lang="de-DE" sz="1600" dirty="0" smtClean="0">
                <a:cs typeface="Courier New" pitchFamily="49" charset="0"/>
              </a:rPr>
              <a:t> HANDLE (</a:t>
            </a:r>
            <a:r>
              <a:rPr lang="de-DE" sz="1600" dirty="0" err="1" smtClean="0">
                <a:cs typeface="Courier New" pitchFamily="49" charset="0"/>
              </a:rPr>
              <a:t>overlapped</a:t>
            </a:r>
            <a:r>
              <a:rPr lang="de-DE" sz="1600" dirty="0" smtClean="0">
                <a:cs typeface="Courier New" pitchFamily="49" charset="0"/>
              </a:rPr>
              <a:t>)</a:t>
            </a:r>
          </a:p>
          <a:p>
            <a:r>
              <a:rPr lang="de-DE" sz="1600" dirty="0" smtClean="0">
                <a:cs typeface="Courier New" pitchFamily="49" charset="0"/>
              </a:rPr>
              <a:t>Begin-</a:t>
            </a:r>
            <a:r>
              <a:rPr lang="de-DE" sz="1600" dirty="0" err="1" smtClean="0">
                <a:cs typeface="Courier New" pitchFamily="49" charset="0"/>
              </a:rPr>
              <a:t>notify</a:t>
            </a:r>
            <a:r>
              <a:rPr lang="de-DE" sz="1600" dirty="0" smtClean="0">
                <a:cs typeface="Courier New" pitchFamily="49" charset="0"/>
              </a:rPr>
              <a:t>-end </a:t>
            </a:r>
            <a:r>
              <a:rPr lang="de-DE" sz="1600" dirty="0" err="1" smtClean="0">
                <a:cs typeface="Courier New" pitchFamily="49" charset="0"/>
              </a:rPr>
              <a:t>can</a:t>
            </a:r>
            <a:r>
              <a:rPr lang="de-DE" sz="1600" dirty="0" smtClean="0">
                <a:cs typeface="Courier New" pitchFamily="49" charset="0"/>
              </a:rPr>
              <a:t> handle </a:t>
            </a:r>
            <a:r>
              <a:rPr lang="de-DE" sz="1600" dirty="0" err="1" smtClean="0">
                <a:cs typeface="Courier New" pitchFamily="49" charset="0"/>
              </a:rPr>
              <a:t>level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and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edge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triggering</a:t>
            </a:r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Register </a:t>
            </a:r>
            <a:r>
              <a:rPr lang="de-DE" sz="1600" dirty="0" err="1" smtClean="0">
                <a:cs typeface="Courier New" pitchFamily="49" charset="0"/>
              </a:rPr>
              <a:t>windows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event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or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pipe</a:t>
            </a:r>
            <a:r>
              <a:rPr lang="de-DE" sz="1600" dirty="0" smtClean="0">
                <a:cs typeface="Courier New" pitchFamily="49" charset="0"/>
              </a:rPr>
              <a:t> handle </a:t>
            </a:r>
            <a:r>
              <a:rPr lang="de-DE" sz="1600" dirty="0" err="1" smtClean="0">
                <a:cs typeface="Courier New" pitchFamily="49" charset="0"/>
              </a:rPr>
              <a:t>to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wake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up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if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events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need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to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be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processed</a:t>
            </a:r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Suspend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timeout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is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interval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to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next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timer</a:t>
            </a:r>
            <a:r>
              <a:rPr lang="de-DE" sz="1600" dirty="0" smtClean="0">
                <a:cs typeface="Courier New" pitchFamily="49" charset="0"/>
              </a:rPr>
              <a:t> in </a:t>
            </a:r>
            <a:r>
              <a:rPr lang="de-DE" sz="1600" dirty="0" err="1" smtClean="0">
                <a:cs typeface="Courier New" pitchFamily="49" charset="0"/>
              </a:rPr>
              <a:t>timer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queue</a:t>
            </a:r>
            <a:endParaRPr lang="de-DE" sz="1600" dirty="0" smtClean="0"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Inhaltsplatzhalter 2"/>
          <p:cNvSpPr txBox="1">
            <a:spLocks/>
          </p:cNvSpPr>
          <p:nvPr/>
        </p:nvSpPr>
        <p:spPr>
          <a:xfrm>
            <a:off x="5084440" y="4005064"/>
            <a:ext cx="3952056" cy="2592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1600" u="sng" dirty="0" smtClean="0">
                <a:cs typeface="Courier New" pitchFamily="49" charset="0"/>
              </a:rPr>
              <a:t>Works also </a:t>
            </a:r>
            <a:r>
              <a:rPr lang="de-DE" sz="1600" u="sng" dirty="0" err="1" smtClean="0">
                <a:cs typeface="Courier New" pitchFamily="49" charset="0"/>
              </a:rPr>
              <a:t>for</a:t>
            </a:r>
            <a:r>
              <a:rPr lang="de-DE" sz="1600" u="sng" dirty="0" smtClean="0">
                <a:cs typeface="Courier New" pitchFamily="49" charset="0"/>
              </a:rPr>
              <a:t>:</a:t>
            </a:r>
          </a:p>
          <a:p>
            <a:r>
              <a:rPr lang="de-DE" sz="1600" dirty="0" err="1" smtClean="0">
                <a:cs typeface="Courier New" pitchFamily="49" charset="0"/>
              </a:rPr>
              <a:t>NSRunLoop</a:t>
            </a:r>
            <a:r>
              <a:rPr lang="de-DE" sz="1600" dirty="0" smtClean="0">
                <a:cs typeface="Courier New" pitchFamily="49" charset="0"/>
              </a:rPr>
              <a:t> / </a:t>
            </a:r>
            <a:r>
              <a:rPr lang="de-DE" sz="1600" dirty="0" err="1" smtClean="0">
                <a:cs typeface="Courier New" pitchFamily="49" charset="0"/>
              </a:rPr>
              <a:t>CFRunLoop</a:t>
            </a:r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QNX Photon</a:t>
            </a:r>
          </a:p>
          <a:p>
            <a:r>
              <a:rPr lang="de-DE" sz="1600" dirty="0" err="1" smtClean="0">
                <a:cs typeface="Courier New" pitchFamily="49" charset="0"/>
              </a:rPr>
              <a:t>Epoll</a:t>
            </a:r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Poll</a:t>
            </a:r>
          </a:p>
          <a:p>
            <a:r>
              <a:rPr lang="de-DE" sz="1600" dirty="0" err="1" smtClean="0">
                <a:cs typeface="Courier New" pitchFamily="49" charset="0"/>
              </a:rPr>
              <a:t>Kqueue</a:t>
            </a:r>
            <a:r>
              <a:rPr lang="de-DE" sz="1600" dirty="0" smtClean="0">
                <a:cs typeface="Courier New" pitchFamily="49" charset="0"/>
              </a:rPr>
              <a:t>/</a:t>
            </a:r>
            <a:r>
              <a:rPr lang="de-DE" sz="1600" dirty="0" err="1" smtClean="0">
                <a:cs typeface="Courier New" pitchFamily="49" charset="0"/>
              </a:rPr>
              <a:t>knotify</a:t>
            </a:r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POSIX AIO</a:t>
            </a:r>
          </a:p>
          <a:p>
            <a:r>
              <a:rPr lang="de-DE" sz="1600" dirty="0" smtClean="0">
                <a:cs typeface="Courier New" pitchFamily="49" charset="0"/>
              </a:rPr>
              <a:t>Symbian </a:t>
            </a:r>
            <a:r>
              <a:rPr lang="de-DE" sz="1600" dirty="0" err="1" smtClean="0">
                <a:cs typeface="Courier New" pitchFamily="49" charset="0"/>
              </a:rPr>
              <a:t>ActiveObjects</a:t>
            </a:r>
            <a:r>
              <a:rPr lang="de-DE" sz="1600" dirty="0" smtClean="0">
                <a:cs typeface="Courier New" pitchFamily="49" charset="0"/>
              </a:rPr>
              <a:t>/</a:t>
            </a:r>
            <a:r>
              <a:rPr lang="de-DE" sz="1600" dirty="0" err="1" smtClean="0">
                <a:cs typeface="Courier New" pitchFamily="49" charset="0"/>
              </a:rPr>
              <a:t>ActiveScheduler</a:t>
            </a:r>
            <a:endParaRPr lang="de-DE" sz="1600" dirty="0" smtClean="0"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Arial" pitchFamily="34" charset="0"/>
              <a:buNone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0012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smtClean="0"/>
              <a:t>Remote </a:t>
            </a:r>
            <a:r>
              <a:rPr lang="de-DE" sz="2800" dirty="0" err="1" smtClean="0"/>
              <a:t>Procedure</a:t>
            </a:r>
            <a:r>
              <a:rPr lang="de-DE" sz="2800" dirty="0" smtClean="0"/>
              <a:t> </a:t>
            </a:r>
            <a:r>
              <a:rPr lang="de-DE" sz="2800" dirty="0" err="1" smtClean="0"/>
              <a:t>Calls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836712"/>
            <a:ext cx="8568952" cy="1728192"/>
          </a:xfrm>
        </p:spPr>
        <p:txBody>
          <a:bodyPr>
            <a:normAutofit lnSpcReduction="10000"/>
          </a:bodyPr>
          <a:lstStyle/>
          <a:p>
            <a:r>
              <a:rPr lang="de-DE" sz="1600" dirty="0" smtClean="0">
                <a:cs typeface="Courier New" pitchFamily="49" charset="0"/>
              </a:rPr>
              <a:t>Client Server Communication</a:t>
            </a:r>
          </a:p>
          <a:p>
            <a:pPr lvl="1"/>
            <a:r>
              <a:rPr lang="de-DE" sz="1300" dirty="0" smtClean="0">
                <a:cs typeface="Courier New" pitchFamily="49" charset="0"/>
              </a:rPr>
              <a:t>Client </a:t>
            </a:r>
            <a:r>
              <a:rPr lang="de-DE" sz="1300" dirty="0" err="1" smtClean="0">
                <a:cs typeface="Courier New" pitchFamily="49" charset="0"/>
              </a:rPr>
              <a:t>serializes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arguments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sends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data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server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Server </a:t>
            </a:r>
            <a:r>
              <a:rPr lang="de-DE" sz="1300" dirty="0" err="1" smtClean="0">
                <a:cs typeface="Courier New" pitchFamily="49" charset="0"/>
              </a:rPr>
              <a:t>deserializes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arguments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calls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local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procedure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Server </a:t>
            </a:r>
            <a:r>
              <a:rPr lang="de-DE" sz="1300" dirty="0" err="1" smtClean="0">
                <a:cs typeface="Courier New" pitchFamily="49" charset="0"/>
              </a:rPr>
              <a:t>serializes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return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value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sends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data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client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Client </a:t>
            </a:r>
            <a:r>
              <a:rPr lang="de-DE" sz="1300" dirty="0" err="1" smtClean="0">
                <a:cs typeface="Courier New" pitchFamily="49" charset="0"/>
              </a:rPr>
              <a:t>deserializes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return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value</a:t>
            </a:r>
            <a:endParaRPr lang="de-DE" sz="1300" dirty="0">
              <a:cs typeface="Courier New" pitchFamily="49" charset="0"/>
            </a:endParaRPr>
          </a:p>
          <a:p>
            <a:pPr marL="457200" lvl="1" indent="0">
              <a:buNone/>
            </a:pPr>
            <a:endParaRPr lang="de-DE" sz="1200" dirty="0" smtClean="0">
              <a:cs typeface="Courier New" pitchFamily="49" charset="0"/>
            </a:endParaRPr>
          </a:p>
          <a:p>
            <a:r>
              <a:rPr lang="de-DE" sz="1600" dirty="0" smtClean="0">
                <a:cs typeface="Courier New" pitchFamily="49" charset="0"/>
              </a:rPr>
              <a:t>Key </a:t>
            </a:r>
            <a:r>
              <a:rPr lang="de-DE" sz="1600" dirty="0" err="1" smtClean="0">
                <a:cs typeface="Courier New" pitchFamily="49" charset="0"/>
              </a:rPr>
              <a:t>issues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are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network</a:t>
            </a:r>
            <a:r>
              <a:rPr lang="de-DE" sz="1600" dirty="0" smtClean="0">
                <a:cs typeface="Courier New" pitchFamily="49" charset="0"/>
              </a:rPr>
              <a:t> I/O </a:t>
            </a:r>
            <a:r>
              <a:rPr lang="de-DE" sz="1600" dirty="0" err="1" smtClean="0">
                <a:cs typeface="Courier New" pitchFamily="49" charset="0"/>
              </a:rPr>
              <a:t>and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serialization</a:t>
            </a:r>
            <a:endParaRPr lang="en-US" sz="1600" dirty="0">
              <a:cs typeface="Courier New" pitchFamily="49" charset="0"/>
            </a:endParaRPr>
          </a:p>
        </p:txBody>
      </p:sp>
      <p:sp>
        <p:nvSpPr>
          <p:cNvPr id="4" name="Abgerundetes Rechteck 3"/>
          <p:cNvSpPr/>
          <p:nvPr/>
        </p:nvSpPr>
        <p:spPr>
          <a:xfrm>
            <a:off x="1943708" y="3068778"/>
            <a:ext cx="1440160" cy="914400"/>
          </a:xfrm>
          <a:prstGeom prst="roundRect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Client</a:t>
            </a:r>
            <a:endParaRPr lang="en-US" dirty="0"/>
          </a:p>
        </p:txBody>
      </p:sp>
      <p:sp>
        <p:nvSpPr>
          <p:cNvPr id="6" name="Rechteck 5"/>
          <p:cNvSpPr/>
          <p:nvPr/>
        </p:nvSpPr>
        <p:spPr>
          <a:xfrm>
            <a:off x="1763688" y="2924944"/>
            <a:ext cx="1800200" cy="36724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Gerade Verbindung mit Pfeil 8"/>
          <p:cNvCxnSpPr/>
          <p:nvPr/>
        </p:nvCxnSpPr>
        <p:spPr>
          <a:xfrm>
            <a:off x="2663788" y="4343218"/>
            <a:ext cx="3168352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Abgerundetes Rechteck 10"/>
          <p:cNvSpPr/>
          <p:nvPr/>
        </p:nvSpPr>
        <p:spPr>
          <a:xfrm>
            <a:off x="5112060" y="3068778"/>
            <a:ext cx="1440160" cy="9144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Server</a:t>
            </a:r>
            <a:endParaRPr lang="en-US" dirty="0"/>
          </a:p>
        </p:txBody>
      </p:sp>
      <p:sp>
        <p:nvSpPr>
          <p:cNvPr id="12" name="Rechteck 11"/>
          <p:cNvSpPr/>
          <p:nvPr/>
        </p:nvSpPr>
        <p:spPr>
          <a:xfrm>
            <a:off x="4932040" y="2924944"/>
            <a:ext cx="1800200" cy="3672408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Gerade Verbindung 13"/>
          <p:cNvCxnSpPr/>
          <p:nvPr/>
        </p:nvCxnSpPr>
        <p:spPr>
          <a:xfrm>
            <a:off x="2663788" y="3983178"/>
            <a:ext cx="0" cy="36004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14"/>
          <p:cNvCxnSpPr/>
          <p:nvPr/>
        </p:nvCxnSpPr>
        <p:spPr>
          <a:xfrm>
            <a:off x="5832140" y="3983178"/>
            <a:ext cx="0" cy="36004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16"/>
          <p:cNvCxnSpPr/>
          <p:nvPr/>
        </p:nvCxnSpPr>
        <p:spPr>
          <a:xfrm>
            <a:off x="5832140" y="4343218"/>
            <a:ext cx="0" cy="18002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/>
          <p:cNvCxnSpPr/>
          <p:nvPr/>
        </p:nvCxnSpPr>
        <p:spPr>
          <a:xfrm>
            <a:off x="5832140" y="4526169"/>
            <a:ext cx="540060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/>
          <p:cNvCxnSpPr/>
          <p:nvPr/>
        </p:nvCxnSpPr>
        <p:spPr>
          <a:xfrm>
            <a:off x="6372200" y="4526169"/>
            <a:ext cx="0" cy="1207087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/>
          <p:cNvCxnSpPr/>
          <p:nvPr/>
        </p:nvCxnSpPr>
        <p:spPr>
          <a:xfrm flipH="1">
            <a:off x="5832140" y="5733256"/>
            <a:ext cx="540060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27"/>
          <p:cNvCxnSpPr/>
          <p:nvPr/>
        </p:nvCxnSpPr>
        <p:spPr>
          <a:xfrm>
            <a:off x="5832140" y="5733256"/>
            <a:ext cx="0" cy="18002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/>
          <p:nvPr/>
        </p:nvCxnSpPr>
        <p:spPr>
          <a:xfrm flipH="1">
            <a:off x="2663788" y="5913276"/>
            <a:ext cx="3168352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30"/>
          <p:cNvCxnSpPr/>
          <p:nvPr/>
        </p:nvCxnSpPr>
        <p:spPr>
          <a:xfrm>
            <a:off x="2663788" y="4293096"/>
            <a:ext cx="0" cy="162018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/>
          <p:nvPr/>
        </p:nvCxnSpPr>
        <p:spPr>
          <a:xfrm>
            <a:off x="2663788" y="5913276"/>
            <a:ext cx="0" cy="61206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34"/>
          <p:cNvCxnSpPr/>
          <p:nvPr/>
        </p:nvCxnSpPr>
        <p:spPr>
          <a:xfrm>
            <a:off x="5832140" y="5913276"/>
            <a:ext cx="0" cy="612068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feld 38"/>
          <p:cNvSpPr txBox="1"/>
          <p:nvPr/>
        </p:nvSpPr>
        <p:spPr>
          <a:xfrm>
            <a:off x="3859075" y="4077072"/>
            <a:ext cx="777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 smtClean="0"/>
              <a:t>RPC Call</a:t>
            </a:r>
            <a:endParaRPr lang="en-US" sz="1400" dirty="0"/>
          </a:p>
        </p:txBody>
      </p:sp>
      <p:sp>
        <p:nvSpPr>
          <p:cNvPr id="40" name="Textfeld 39"/>
          <p:cNvSpPr txBox="1"/>
          <p:nvPr/>
        </p:nvSpPr>
        <p:spPr>
          <a:xfrm>
            <a:off x="5148064" y="4509120"/>
            <a:ext cx="1242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 err="1" smtClean="0"/>
              <a:t>Procedure</a:t>
            </a:r>
            <a:r>
              <a:rPr lang="de-DE" sz="1400" dirty="0" smtClean="0"/>
              <a:t> Call</a:t>
            </a:r>
            <a:endParaRPr lang="en-US" sz="1400" dirty="0"/>
          </a:p>
        </p:txBody>
      </p:sp>
      <p:sp>
        <p:nvSpPr>
          <p:cNvPr id="41" name="Textfeld 40"/>
          <p:cNvSpPr txBox="1"/>
          <p:nvPr/>
        </p:nvSpPr>
        <p:spPr>
          <a:xfrm>
            <a:off x="4932040" y="5425479"/>
            <a:ext cx="14721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 err="1" smtClean="0"/>
              <a:t>Procedure</a:t>
            </a:r>
            <a:r>
              <a:rPr lang="de-DE" sz="1400" dirty="0" smtClean="0"/>
              <a:t> Return</a:t>
            </a:r>
            <a:endParaRPr lang="en-US" sz="1400" dirty="0"/>
          </a:p>
        </p:txBody>
      </p:sp>
      <p:sp>
        <p:nvSpPr>
          <p:cNvPr id="42" name="Textfeld 41"/>
          <p:cNvSpPr txBox="1"/>
          <p:nvPr/>
        </p:nvSpPr>
        <p:spPr>
          <a:xfrm>
            <a:off x="3779912" y="5929535"/>
            <a:ext cx="10077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 smtClean="0"/>
              <a:t>RPC Return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9575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 smtClean="0"/>
              <a:t>Reliable</a:t>
            </a:r>
            <a:r>
              <a:rPr lang="de-DE" sz="2800" dirty="0" smtClean="0"/>
              <a:t> </a:t>
            </a:r>
            <a:r>
              <a:rPr lang="de-DE" sz="2800" dirty="0" smtClean="0"/>
              <a:t>XML-RPC </a:t>
            </a:r>
            <a:r>
              <a:rPr lang="de-DE" sz="2800" dirty="0"/>
              <a:t>C</a:t>
            </a:r>
            <a:r>
              <a:rPr lang="de-DE" sz="2800" dirty="0" smtClean="0"/>
              <a:t>lients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sz="16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oid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onMultiply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Pt::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XmlRpc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Result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&lt;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&gt;&amp;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result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try</a:t>
            </a:r>
            <a:endParaRPr lang="de-DE" sz="1600" b="1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{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r =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result.get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cout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result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: “ 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&lt;&lt; r &lt;&lt;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endl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smtClean="0">
                <a:latin typeface="Courier New" pitchFamily="49" charset="0"/>
                <a:cs typeface="Courier New" pitchFamily="49" charset="0"/>
              </a:rPr>
              <a:t>catch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Pt::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XmlRpc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::Fault&amp; fault)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{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cerr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fault.what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endl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smtClean="0">
                <a:latin typeface="Courier New" pitchFamily="49" charset="0"/>
                <a:cs typeface="Courier New" pitchFamily="49" charset="0"/>
              </a:rPr>
              <a:t>catch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Pt::System::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IOError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&amp; e)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{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cerr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e.what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std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endl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argc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**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argv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Pt::System::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MainLoop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nb-NO" sz="1600" dirty="0" smtClean="0">
                <a:latin typeface="Courier New" pitchFamily="49" charset="0"/>
                <a:cs typeface="Courier New" pitchFamily="49" charset="0"/>
              </a:rPr>
              <a:t>    Pt::XmlRpc::HttpClient client(loop, 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"127.0.0.1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de-DE" sz="1600" dirty="0">
                <a:latin typeface="Courier New" pitchFamily="49" charset="0"/>
                <a:cs typeface="Courier New" pitchFamily="49" charset="0"/>
              </a:rPr>
              <a:t>, 4000, 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"/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calc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</a:t>
            </a:r>
            <a:r>
              <a:rPr lang="nb-NO" sz="16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Pt::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XmlRpc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RemoteProcedure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&lt;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&gt;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multiply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client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multiply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</a:t>
            </a:r>
            <a:r>
              <a:rPr lang="de-DE" sz="1600" dirty="0" err="1">
                <a:latin typeface="Courier New" pitchFamily="49" charset="0"/>
                <a:cs typeface="Courier New" pitchFamily="49" charset="0"/>
              </a:rPr>
              <a:t>multiply.finished</a:t>
            </a:r>
            <a:r>
              <a:rPr lang="de-DE" sz="1600" dirty="0">
                <a:latin typeface="Courier New" pitchFamily="49" charset="0"/>
                <a:cs typeface="Courier New" pitchFamily="49" charset="0"/>
              </a:rPr>
              <a:t> += Pt::</a:t>
            </a:r>
            <a:r>
              <a:rPr lang="de-DE" sz="1600" dirty="0" err="1">
                <a:latin typeface="Courier New" pitchFamily="49" charset="0"/>
                <a:cs typeface="Courier New" pitchFamily="49" charset="0"/>
              </a:rPr>
              <a:t>slot</a:t>
            </a:r>
            <a:r>
              <a:rPr lang="de-DE" sz="1600" dirty="0">
                <a:latin typeface="Courier New" pitchFamily="49" charset="0"/>
                <a:cs typeface="Courier New" pitchFamily="49" charset="0"/>
              </a:rPr>
              <a:t>(&amp;</a:t>
            </a:r>
            <a:r>
              <a:rPr lang="de-DE" sz="1600" dirty="0" err="1">
                <a:latin typeface="Courier New" pitchFamily="49" charset="0"/>
                <a:cs typeface="Courier New" pitchFamily="49" charset="0"/>
              </a:rPr>
              <a:t>onMultiply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multiply.begin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(6, 7);</a:t>
            </a:r>
          </a:p>
          <a:p>
            <a:pPr marL="0" indent="0">
              <a:buNone/>
            </a:pP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loop.run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0;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13842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 smtClean="0"/>
              <a:t>Reliable</a:t>
            </a:r>
            <a:r>
              <a:rPr lang="de-DE" sz="2800" dirty="0" smtClean="0"/>
              <a:t> </a:t>
            </a:r>
            <a:r>
              <a:rPr lang="de-DE" sz="2800" dirty="0" smtClean="0"/>
              <a:t>XML-RPC </a:t>
            </a:r>
            <a:r>
              <a:rPr lang="de-DE" sz="2800" dirty="0" smtClean="0"/>
              <a:t>Services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>
                <a:latin typeface="Courier New" pitchFamily="49" charset="0"/>
                <a:cs typeface="Courier New" pitchFamily="49" charset="0"/>
              </a:rPr>
              <a:t>m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ultiply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a,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b)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ckeckOverrun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(a, b) 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throw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Pt::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XmlRpc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::Fault(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„integer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overrun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40);</a:t>
            </a: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a * b;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add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a,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b)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ckeckOverrun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(a, b) 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throw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Pt::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XmlRpc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::Fault(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„integer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overrun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40);</a:t>
            </a: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a + b;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argc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char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**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argv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Pt::System::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MainLoop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loop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Pt::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XmlRpc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::Service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service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service.registerFunction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multiply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multiply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service.registerFunction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6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add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add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b-NO" sz="1600" dirty="0" smtClean="0">
                <a:latin typeface="Courier New" pitchFamily="49" charset="0"/>
                <a:cs typeface="Courier New" pitchFamily="49" charset="0"/>
              </a:rPr>
              <a:t>    Pt::XmlRpc::HttpServer server(loop, 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"127.0.0.1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de-DE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4000</a:t>
            </a:r>
            <a:r>
              <a:rPr lang="de-DE" sz="1600" dirty="0">
                <a:latin typeface="Courier New" pitchFamily="49" charset="0"/>
                <a:cs typeface="Courier New" pitchFamily="49" charset="0"/>
              </a:rPr>
              <a:t>)</a:t>
            </a:r>
            <a:r>
              <a:rPr lang="nb-NO" sz="16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endParaRPr lang="nb-NO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Pt::Http::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MapUrl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mapUrl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„/</a:t>
            </a:r>
            <a:r>
              <a:rPr lang="de-DE" sz="16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calc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</a:t>
            </a:r>
            <a:r>
              <a:rPr lang="de-DE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600" dirty="0" err="1">
                <a:latin typeface="Courier New" pitchFamily="49" charset="0"/>
                <a:cs typeface="Courier New" pitchFamily="49" charset="0"/>
              </a:rPr>
              <a:t>service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);</a:t>
            </a:r>
            <a:endParaRPr lang="nb-NO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server.addServlet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mapUrl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);</a:t>
            </a: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en-US" sz="1600" dirty="0" smtClean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dirty="0" err="1" smtClean="0">
                <a:latin typeface="Courier New" pitchFamily="49" charset="0"/>
                <a:cs typeface="Courier New" pitchFamily="49" charset="0"/>
              </a:rPr>
              <a:t>loop.run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600" b="1" dirty="0" err="1" smtClean="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 0;</a:t>
            </a:r>
          </a:p>
          <a:p>
            <a:pPr marL="0" indent="0">
              <a:buNone/>
            </a:pPr>
            <a:r>
              <a:rPr lang="de-DE" sz="1600" dirty="0" smtClean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84621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 smtClean="0"/>
              <a:t>Reliable</a:t>
            </a:r>
            <a:r>
              <a:rPr lang="de-DE" sz="2800" dirty="0" smtClean="0"/>
              <a:t> </a:t>
            </a:r>
            <a:r>
              <a:rPr lang="de-DE" sz="2800" dirty="0" smtClean="0"/>
              <a:t>XML-RPC </a:t>
            </a:r>
            <a:r>
              <a:rPr lang="de-DE" sz="2800" dirty="0" smtClean="0"/>
              <a:t>Clients </a:t>
            </a:r>
            <a:r>
              <a:rPr lang="de-DE" sz="2800" dirty="0" err="1" smtClean="0"/>
              <a:t>and</a:t>
            </a:r>
            <a:r>
              <a:rPr lang="de-DE" sz="2800" dirty="0" smtClean="0"/>
              <a:t> </a:t>
            </a:r>
            <a:r>
              <a:rPr lang="de-DE" sz="2800" dirty="0" smtClean="0"/>
              <a:t>Services (1)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600" dirty="0" err="1" smtClean="0">
                <a:cs typeface="Courier New" pitchFamily="49" charset="0"/>
              </a:rPr>
              <a:t>Maps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to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function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or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method</a:t>
            </a:r>
            <a:r>
              <a:rPr lang="de-DE" sz="1600" dirty="0" smtClean="0">
                <a:cs typeface="Courier New" pitchFamily="49" charset="0"/>
              </a:rPr>
              <a:t> </a:t>
            </a:r>
            <a:r>
              <a:rPr lang="de-DE" sz="1600" dirty="0" err="1" smtClean="0">
                <a:cs typeface="Courier New" pitchFamily="49" charset="0"/>
              </a:rPr>
              <a:t>call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Almost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like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calling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local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function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Begin-</a:t>
            </a:r>
            <a:r>
              <a:rPr lang="de-DE" sz="1300" dirty="0" err="1" smtClean="0">
                <a:cs typeface="Courier New" pitchFamily="49" charset="0"/>
              </a:rPr>
              <a:t>notify</a:t>
            </a:r>
            <a:r>
              <a:rPr lang="de-DE" sz="1300" dirty="0" smtClean="0">
                <a:cs typeface="Courier New" pitchFamily="49" charset="0"/>
              </a:rPr>
              <a:t>-end </a:t>
            </a:r>
            <a:r>
              <a:rPr lang="de-DE" sz="1300" dirty="0" err="1" smtClean="0">
                <a:cs typeface="Courier New" pitchFamily="49" charset="0"/>
              </a:rPr>
              <a:t>pattern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with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function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object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Can </a:t>
            </a:r>
            <a:r>
              <a:rPr lang="de-DE" sz="1300" dirty="0" err="1" smtClean="0">
                <a:cs typeface="Courier New" pitchFamily="49" charset="0"/>
              </a:rPr>
              <a:t>export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class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as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service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Can </a:t>
            </a:r>
            <a:r>
              <a:rPr lang="de-DE" sz="1300" dirty="0" err="1" smtClean="0">
                <a:cs typeface="Courier New" pitchFamily="49" charset="0"/>
              </a:rPr>
              <a:t>register</a:t>
            </a:r>
            <a:r>
              <a:rPr lang="de-DE" sz="1300" dirty="0" smtClean="0">
                <a:cs typeface="Courier New" pitchFamily="49" charset="0"/>
              </a:rPr>
              <a:t> normal </a:t>
            </a:r>
            <a:r>
              <a:rPr lang="de-DE" sz="1300" dirty="0" err="1" smtClean="0">
                <a:cs typeface="Courier New" pitchFamily="49" charset="0"/>
              </a:rPr>
              <a:t>existing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functions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service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prodecures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We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can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throw</a:t>
            </a:r>
            <a:r>
              <a:rPr lang="de-DE" sz="1300" dirty="0" smtClean="0">
                <a:cs typeface="Courier New" pitchFamily="49" charset="0"/>
              </a:rPr>
              <a:t> on </a:t>
            </a:r>
            <a:r>
              <a:rPr lang="de-DE" sz="1300" dirty="0" err="1" smtClean="0">
                <a:cs typeface="Courier New" pitchFamily="49" charset="0"/>
              </a:rPr>
              <a:t>service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side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catch on </a:t>
            </a:r>
            <a:r>
              <a:rPr lang="de-DE" sz="1300" dirty="0" err="1" smtClean="0">
                <a:cs typeface="Courier New" pitchFamily="49" charset="0"/>
              </a:rPr>
              <a:t>client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side</a:t>
            </a:r>
            <a:r>
              <a:rPr lang="de-DE" sz="1300" dirty="0" smtClean="0">
                <a:cs typeface="Courier New" pitchFamily="49" charset="0"/>
              </a:rPr>
              <a:t> !!!</a:t>
            </a:r>
          </a:p>
          <a:p>
            <a:pPr lvl="1"/>
            <a:endParaRPr lang="de-DE" sz="1200" dirty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Fully</a:t>
            </a:r>
            <a:r>
              <a:rPr lang="de-DE" sz="1600" dirty="0" smtClean="0">
                <a:cs typeface="Courier New" pitchFamily="49" charset="0"/>
              </a:rPr>
              <a:t> non-</a:t>
            </a:r>
            <a:r>
              <a:rPr lang="de-DE" sz="1600" dirty="0" err="1" smtClean="0">
                <a:cs typeface="Courier New" pitchFamily="49" charset="0"/>
              </a:rPr>
              <a:t>blocking</a:t>
            </a:r>
            <a:r>
              <a:rPr lang="de-DE" sz="1600" dirty="0" smtClean="0">
                <a:cs typeface="Courier New" pitchFamily="49" charset="0"/>
              </a:rPr>
              <a:t> API </a:t>
            </a:r>
            <a:r>
              <a:rPr lang="de-DE" sz="1600" dirty="0" err="1" smtClean="0">
                <a:cs typeface="Courier New" pitchFamily="49" charset="0"/>
              </a:rPr>
              <a:t>available</a:t>
            </a:r>
            <a:endParaRPr lang="de-DE" sz="16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Many</a:t>
            </a:r>
            <a:r>
              <a:rPr lang="de-DE" sz="1300" dirty="0" smtClean="0">
                <a:cs typeface="Courier New" pitchFamily="49" charset="0"/>
              </a:rPr>
              <a:t> remote </a:t>
            </a:r>
            <a:r>
              <a:rPr lang="de-DE" sz="1300" dirty="0" err="1" smtClean="0">
                <a:cs typeface="Courier New" pitchFamily="49" charset="0"/>
              </a:rPr>
              <a:t>calls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from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one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No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need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for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synchronisation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No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need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for</a:t>
            </a:r>
            <a:r>
              <a:rPr lang="de-DE" sz="1300" dirty="0" smtClean="0">
                <a:cs typeface="Courier New" pitchFamily="49" charset="0"/>
              </a:rPr>
              <a:t> extra </a:t>
            </a:r>
            <a:r>
              <a:rPr lang="de-DE" sz="1300" dirty="0" err="1" smtClean="0">
                <a:cs typeface="Courier New" pitchFamily="49" charset="0"/>
              </a:rPr>
              <a:t>thread</a:t>
            </a:r>
            <a:r>
              <a:rPr lang="de-DE" sz="1300" dirty="0" smtClean="0">
                <a:cs typeface="Courier New" pitchFamily="49" charset="0"/>
              </a:rPr>
              <a:t>, mix </a:t>
            </a:r>
            <a:r>
              <a:rPr lang="de-DE" sz="1300" dirty="0" err="1" smtClean="0">
                <a:cs typeface="Courier New" pitchFamily="49" charset="0"/>
              </a:rPr>
              <a:t>with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timers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events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other</a:t>
            </a:r>
            <a:r>
              <a:rPr lang="de-DE" sz="1300" dirty="0" smtClean="0">
                <a:cs typeface="Courier New" pitchFamily="49" charset="0"/>
              </a:rPr>
              <a:t> I/O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Cancel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and</a:t>
            </a:r>
            <a:r>
              <a:rPr lang="de-DE" sz="1300" dirty="0" smtClean="0">
                <a:cs typeface="Courier New" pitchFamily="49" charset="0"/>
              </a:rPr>
              <a:t> immediate </a:t>
            </a:r>
            <a:r>
              <a:rPr lang="de-DE" sz="1300" dirty="0" err="1" smtClean="0">
                <a:cs typeface="Courier New" pitchFamily="49" charset="0"/>
              </a:rPr>
              <a:t>stop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possible</a:t>
            </a:r>
            <a:endParaRPr lang="de-DE" sz="1300" dirty="0" smtClean="0">
              <a:cs typeface="Courier New" pitchFamily="49" charset="0"/>
            </a:endParaRPr>
          </a:p>
          <a:p>
            <a:pPr marL="0" indent="0">
              <a:buNone/>
            </a:pPr>
            <a:endParaRPr lang="de-DE" sz="1600" dirty="0" smtClean="0">
              <a:cs typeface="Courier New" pitchFamily="49" charset="0"/>
            </a:endParaRPr>
          </a:p>
          <a:p>
            <a:r>
              <a:rPr lang="de-DE" sz="1600" dirty="0" err="1" smtClean="0">
                <a:cs typeface="Courier New" pitchFamily="49" charset="0"/>
              </a:rPr>
              <a:t>Does</a:t>
            </a:r>
            <a:r>
              <a:rPr lang="de-DE" sz="1600" dirty="0" smtClean="0">
                <a:cs typeface="Courier New" pitchFamily="49" charset="0"/>
              </a:rPr>
              <a:t> not </a:t>
            </a:r>
            <a:r>
              <a:rPr lang="de-DE" sz="1600" dirty="0" err="1" smtClean="0">
                <a:cs typeface="Courier New" pitchFamily="49" charset="0"/>
              </a:rPr>
              <a:t>need</a:t>
            </a:r>
            <a:r>
              <a:rPr lang="de-DE" sz="1600" dirty="0" smtClean="0">
                <a:cs typeface="Courier New" pitchFamily="49" charset="0"/>
              </a:rPr>
              <a:t> WSDL </a:t>
            </a:r>
            <a:r>
              <a:rPr lang="de-DE" sz="1600" dirty="0" err="1" smtClean="0">
                <a:cs typeface="Courier New" pitchFamily="49" charset="0"/>
              </a:rPr>
              <a:t>or</a:t>
            </a:r>
            <a:r>
              <a:rPr lang="de-DE" sz="1600" dirty="0" smtClean="0">
                <a:cs typeface="Courier New" pitchFamily="49" charset="0"/>
              </a:rPr>
              <a:t> IDL etc…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Wait</a:t>
            </a:r>
            <a:r>
              <a:rPr lang="de-DE" sz="1300" dirty="0" smtClean="0">
                <a:cs typeface="Courier New" pitchFamily="49" charset="0"/>
              </a:rPr>
              <a:t> a </a:t>
            </a:r>
            <a:r>
              <a:rPr lang="de-DE" sz="1300" dirty="0" err="1" smtClean="0">
                <a:cs typeface="Courier New" pitchFamily="49" charset="0"/>
              </a:rPr>
              <a:t>minute</a:t>
            </a:r>
            <a:r>
              <a:rPr lang="de-DE" sz="1300" dirty="0" smtClean="0">
                <a:cs typeface="Courier New" pitchFamily="49" charset="0"/>
              </a:rPr>
              <a:t>! </a:t>
            </a:r>
            <a:r>
              <a:rPr lang="de-DE" sz="1300" dirty="0" err="1" smtClean="0">
                <a:cs typeface="Courier New" pitchFamily="49" charset="0"/>
              </a:rPr>
              <a:t>What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about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complex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objects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parameters</a:t>
            </a:r>
            <a:r>
              <a:rPr lang="de-DE" sz="1300" dirty="0" smtClean="0">
                <a:cs typeface="Courier New" pitchFamily="49" charset="0"/>
              </a:rPr>
              <a:t>?</a:t>
            </a:r>
          </a:p>
          <a:p>
            <a:pPr marL="0" indent="0">
              <a:buNone/>
            </a:pPr>
            <a:endParaRPr lang="de-DE" sz="1200" dirty="0" smtClean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259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Reliable</a:t>
            </a:r>
            <a:r>
              <a:rPr lang="de-DE" sz="2800" dirty="0"/>
              <a:t> XML-RPC Clients </a:t>
            </a:r>
            <a:r>
              <a:rPr lang="de-DE" sz="2800" dirty="0" err="1"/>
              <a:t>and</a:t>
            </a:r>
            <a:r>
              <a:rPr lang="de-DE" sz="2800" dirty="0"/>
              <a:t> Services </a:t>
            </a:r>
            <a:r>
              <a:rPr lang="de-DE" sz="2800" dirty="0" smtClean="0"/>
              <a:t>(2)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400" dirty="0" smtClean="0">
                <a:cs typeface="Courier New" pitchFamily="49" charset="0"/>
              </a:rPr>
              <a:t>But I </a:t>
            </a:r>
            <a:r>
              <a:rPr lang="de-DE" sz="1400" dirty="0" err="1" smtClean="0">
                <a:cs typeface="Courier New" pitchFamily="49" charset="0"/>
              </a:rPr>
              <a:t>want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this</a:t>
            </a:r>
            <a:r>
              <a:rPr lang="de-DE" sz="1400" dirty="0" smtClean="0">
                <a:cs typeface="Courier New" pitchFamily="49" charset="0"/>
              </a:rPr>
              <a:t>:</a:t>
            </a:r>
          </a:p>
          <a:p>
            <a:pPr marL="457200" lvl="1" indent="0">
              <a:buNone/>
            </a:pPr>
            <a:endParaRPr lang="de-DE" sz="1000" dirty="0" smtClean="0"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 Pt::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XmlRpc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::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RemoteProcedure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&lt;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Position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Info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&gt;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etPosition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g</a:t>
            </a: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etPosition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“);</a:t>
            </a:r>
            <a:endParaRPr lang="de-DE" sz="1400" dirty="0" smtClean="0">
              <a:solidFill>
                <a:schemeClr val="accent2">
                  <a:lumMod val="75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de-DE" sz="1400" dirty="0" err="1" smtClean="0">
                <a:cs typeface="Courier New" pitchFamily="49" charset="0"/>
              </a:rPr>
              <a:t>Does</a:t>
            </a:r>
            <a:r>
              <a:rPr lang="de-DE" sz="1400" dirty="0" smtClean="0">
                <a:cs typeface="Courier New" pitchFamily="49" charset="0"/>
              </a:rPr>
              <a:t> not </a:t>
            </a:r>
            <a:r>
              <a:rPr lang="de-DE" sz="1400" dirty="0" err="1" smtClean="0">
                <a:cs typeface="Courier New" pitchFamily="49" charset="0"/>
              </a:rPr>
              <a:t>compile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until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framwork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knows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how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to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serialize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Position</a:t>
            </a:r>
            <a:r>
              <a:rPr lang="de-DE" sz="1400" dirty="0" err="1" smtClean="0">
                <a:cs typeface="Courier New" pitchFamily="49" charset="0"/>
              </a:rPr>
              <a:t>Info</a:t>
            </a:r>
            <a:endParaRPr lang="de-DE" sz="14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Only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need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implement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two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operators</a:t>
            </a:r>
            <a:endParaRPr lang="de-DE" sz="1300" dirty="0" smtClean="0">
              <a:cs typeface="Courier New" pitchFamily="49" charset="0"/>
            </a:endParaRPr>
          </a:p>
          <a:p>
            <a:pPr marL="0" indent="0">
              <a:buNone/>
            </a:pPr>
            <a:endParaRPr lang="de-DE" sz="1400" dirty="0" smtClean="0">
              <a:cs typeface="Courier New" pitchFamily="49" charset="0"/>
            </a:endParaRPr>
          </a:p>
          <a:p>
            <a:r>
              <a:rPr lang="de-DE" sz="1400" dirty="0" smtClean="0">
                <a:cs typeface="Courier New" pitchFamily="49" charset="0"/>
              </a:rPr>
              <a:t>Not </a:t>
            </a:r>
            <a:r>
              <a:rPr lang="de-DE" sz="1400" dirty="0" err="1" smtClean="0">
                <a:cs typeface="Courier New" pitchFamily="49" charset="0"/>
              </a:rPr>
              <a:t>Good</a:t>
            </a:r>
            <a:r>
              <a:rPr lang="de-DE" sz="1400" dirty="0" smtClean="0">
                <a:cs typeface="Courier New" pitchFamily="49" charset="0"/>
              </a:rPr>
              <a:t>:  </a:t>
            </a:r>
            <a:r>
              <a:rPr lang="de-DE" sz="1400" dirty="0" err="1" smtClean="0">
                <a:cs typeface="Courier New" pitchFamily="49" charset="0"/>
              </a:rPr>
              <a:t>serializers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as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generated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code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according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to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some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description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language</a:t>
            </a:r>
            <a:endParaRPr lang="de-DE" sz="14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Complicates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build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process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need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edit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generated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code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Generated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code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often</a:t>
            </a:r>
            <a:r>
              <a:rPr lang="de-DE" sz="1300" dirty="0" smtClean="0">
                <a:cs typeface="Courier New" pitchFamily="49" charset="0"/>
              </a:rPr>
              <a:t> limited in </a:t>
            </a:r>
            <a:r>
              <a:rPr lang="de-DE" sz="1300" dirty="0" err="1" smtClean="0">
                <a:cs typeface="Courier New" pitchFamily="49" charset="0"/>
              </a:rPr>
              <a:t>various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ways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Locked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into</a:t>
            </a:r>
            <a:r>
              <a:rPr lang="de-DE" sz="1300" dirty="0" smtClean="0">
                <a:cs typeface="Courier New" pitchFamily="49" charset="0"/>
              </a:rPr>
              <a:t> an </a:t>
            </a:r>
            <a:r>
              <a:rPr lang="de-DE" sz="1300" dirty="0" err="1" smtClean="0">
                <a:cs typeface="Courier New" pitchFamily="49" charset="0"/>
              </a:rPr>
              <a:t>alien</a:t>
            </a:r>
            <a:r>
              <a:rPr lang="de-DE" sz="1300" dirty="0" smtClean="0">
                <a:cs typeface="Courier New" pitchFamily="49" charset="0"/>
              </a:rPr>
              <a:t> type </a:t>
            </a:r>
            <a:r>
              <a:rPr lang="de-DE" sz="1300" dirty="0" err="1" smtClean="0">
                <a:cs typeface="Courier New" pitchFamily="49" charset="0"/>
              </a:rPr>
              <a:t>system</a:t>
            </a:r>
            <a:endParaRPr lang="de-DE" sz="1300" dirty="0" smtClean="0">
              <a:cs typeface="Courier New" pitchFamily="49" charset="0"/>
            </a:endParaRPr>
          </a:p>
          <a:p>
            <a:pPr marL="0" indent="0">
              <a:buNone/>
            </a:pPr>
            <a:endParaRPr lang="de-DE" sz="1400" dirty="0" smtClean="0">
              <a:cs typeface="Courier New" pitchFamily="49" charset="0"/>
            </a:endParaRPr>
          </a:p>
          <a:p>
            <a:r>
              <a:rPr lang="de-DE" sz="1400" dirty="0" err="1" smtClean="0">
                <a:cs typeface="Courier New" pitchFamily="49" charset="0"/>
              </a:rPr>
              <a:t>What</a:t>
            </a:r>
            <a:r>
              <a:rPr lang="de-DE" sz="1400" dirty="0" smtClean="0">
                <a:cs typeface="Courier New" pitchFamily="49" charset="0"/>
              </a:rPr>
              <a:t> Pt </a:t>
            </a:r>
            <a:r>
              <a:rPr lang="de-DE" sz="1400" dirty="0" err="1" smtClean="0">
                <a:cs typeface="Courier New" pitchFamily="49" charset="0"/>
              </a:rPr>
              <a:t>does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instead</a:t>
            </a:r>
            <a:r>
              <a:rPr lang="de-DE" sz="1400" dirty="0" smtClean="0">
                <a:cs typeface="Courier New" pitchFamily="49" charset="0"/>
              </a:rPr>
              <a:t>: </a:t>
            </a:r>
            <a:r>
              <a:rPr lang="de-DE" sz="1400" dirty="0" err="1" smtClean="0">
                <a:cs typeface="Courier New" pitchFamily="49" charset="0"/>
              </a:rPr>
              <a:t>generic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serialization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to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support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b="1" u="sng" dirty="0" err="1" smtClean="0">
                <a:cs typeface="Courier New" pitchFamily="49" charset="0"/>
              </a:rPr>
              <a:t>any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kind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of</a:t>
            </a:r>
            <a:r>
              <a:rPr lang="de-DE" sz="1400" dirty="0" smtClean="0">
                <a:cs typeface="Courier New" pitchFamily="49" charset="0"/>
              </a:rPr>
              <a:t> RPC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Compile</a:t>
            </a:r>
            <a:r>
              <a:rPr lang="de-DE" sz="1300" dirty="0" smtClean="0">
                <a:cs typeface="Courier New" pitchFamily="49" charset="0"/>
              </a:rPr>
              <a:t> time </a:t>
            </a:r>
            <a:r>
              <a:rPr lang="de-DE" sz="1300" dirty="0" err="1" smtClean="0">
                <a:cs typeface="Courier New" pitchFamily="49" charset="0"/>
              </a:rPr>
              <a:t>saftety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Requires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only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smtClean="0">
                <a:cs typeface="Courier New" pitchFamily="49" charset="0"/>
              </a:rPr>
              <a:t>C</a:t>
            </a:r>
            <a:r>
              <a:rPr lang="de-DE" sz="1300" dirty="0" smtClean="0">
                <a:cs typeface="Courier New" pitchFamily="49" charset="0"/>
              </a:rPr>
              <a:t>++ </a:t>
            </a:r>
            <a:r>
              <a:rPr lang="de-DE" sz="1300" dirty="0" err="1" smtClean="0">
                <a:cs typeface="Courier New" pitchFamily="49" charset="0"/>
              </a:rPr>
              <a:t>language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features</a:t>
            </a:r>
            <a:endParaRPr lang="de-DE" sz="1300" dirty="0" smtClean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799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Reliable</a:t>
            </a:r>
            <a:r>
              <a:rPr lang="de-DE" sz="2800" dirty="0"/>
              <a:t> XML-RPC Clients </a:t>
            </a:r>
            <a:r>
              <a:rPr lang="de-DE" sz="2800" dirty="0" err="1"/>
              <a:t>and</a:t>
            </a:r>
            <a:r>
              <a:rPr lang="de-DE" sz="2800" dirty="0"/>
              <a:t> Services </a:t>
            </a:r>
            <a:r>
              <a:rPr lang="de-DE" sz="2800" dirty="0" smtClean="0"/>
              <a:t>(3)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sz="1400" b="1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Position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Info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b="1" dirty="0" err="1">
                <a:latin typeface="Courier New" pitchFamily="49" charset="0"/>
                <a:cs typeface="Courier New" pitchFamily="49" charset="0"/>
              </a:rPr>
              <a:t>friend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b="1" dirty="0" err="1">
                <a:latin typeface="Courier New" pitchFamily="49" charset="0"/>
                <a:cs typeface="Courier New" pitchFamily="49" charset="0"/>
              </a:rPr>
              <a:t>operator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&gt;&gt;=(</a:t>
            </a:r>
            <a:r>
              <a:rPr lang="de-DE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Pt::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SerializationInfo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&amp; si,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PositionInfo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&amp; 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m);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b="1" dirty="0" err="1">
                <a:latin typeface="Courier New" pitchFamily="49" charset="0"/>
                <a:cs typeface="Courier New" pitchFamily="49" charset="0"/>
              </a:rPr>
              <a:t>friend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b="1" dirty="0" err="1">
                <a:latin typeface="Courier New" pitchFamily="49" charset="0"/>
                <a:cs typeface="Courier New" pitchFamily="49" charset="0"/>
              </a:rPr>
              <a:t>operator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&lt;&lt;=(Pt::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SerializationInfo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&amp; si, </a:t>
            </a:r>
            <a:r>
              <a:rPr lang="de-DE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PositionInfo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&amp; 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m);</a:t>
            </a:r>
          </a:p>
          <a:p>
            <a:pPr marL="0" indent="0">
              <a:buNone/>
            </a:pP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b="1" dirty="0" err="1">
                <a:latin typeface="Courier New" pitchFamily="49" charset="0"/>
                <a:cs typeface="Courier New" pitchFamily="49" charset="0"/>
              </a:rPr>
              <a:t>public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PositionInfo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()</a:t>
            </a:r>
            <a:endParaRPr lang="de-DE" sz="14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: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_x(0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),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_y(0)    </a:t>
            </a:r>
            <a:endParaRPr lang="de-DE" sz="1400" dirty="0" smtClean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   {}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b="1" dirty="0">
                <a:latin typeface="Courier New" pitchFamily="49" charset="0"/>
                <a:cs typeface="Courier New" pitchFamily="49" charset="0"/>
              </a:rPr>
              <a:t>private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  Pt::uint32_t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_x;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Pt::uint32_t 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_y;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};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it-IT" sz="1400" b="1" dirty="0">
                <a:latin typeface="Courier New" pitchFamily="49" charset="0"/>
                <a:cs typeface="Courier New" pitchFamily="49" charset="0"/>
              </a:rPr>
              <a:t>operator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&gt;&gt;=(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it-IT" sz="1400" dirty="0" err="1">
                <a:latin typeface="Courier New" pitchFamily="49" charset="0"/>
                <a:cs typeface="Courier New" pitchFamily="49" charset="0"/>
              </a:rPr>
              <a:t>Pt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it-IT" sz="1400" dirty="0" err="1">
                <a:latin typeface="Courier New" pitchFamily="49" charset="0"/>
                <a:cs typeface="Courier New" pitchFamily="49" charset="0"/>
              </a:rPr>
              <a:t>SerializationInfo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&amp; si,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PositionInfo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it-IT" sz="1400" dirty="0" smtClean="0">
                <a:latin typeface="Courier New" pitchFamily="49" charset="0"/>
                <a:cs typeface="Courier New" pitchFamily="49" charset="0"/>
              </a:rPr>
              <a:t>&amp; p)</a:t>
            </a:r>
            <a:endParaRPr lang="it-IT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si.getMember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&gt;&gt;=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p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._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x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;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si.getMember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„y"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&gt;&gt;=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p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._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y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;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}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it-IT" sz="1400" b="1" dirty="0">
                <a:latin typeface="Courier New" pitchFamily="49" charset="0"/>
                <a:cs typeface="Courier New" pitchFamily="49" charset="0"/>
              </a:rPr>
              <a:t>operator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&lt;&lt;=(</a:t>
            </a:r>
            <a:r>
              <a:rPr lang="it-IT" sz="1400" dirty="0" err="1">
                <a:latin typeface="Courier New" pitchFamily="49" charset="0"/>
                <a:cs typeface="Courier New" pitchFamily="49" charset="0"/>
              </a:rPr>
              <a:t>Pt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it-IT" sz="1400" dirty="0" err="1">
                <a:latin typeface="Courier New" pitchFamily="49" charset="0"/>
                <a:cs typeface="Courier New" pitchFamily="49" charset="0"/>
              </a:rPr>
              <a:t>SerializationInfo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&amp; si, 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it-IT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PositionInfo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it-IT" sz="1400" dirty="0" smtClean="0">
                <a:latin typeface="Courier New" pitchFamily="49" charset="0"/>
                <a:cs typeface="Courier New" pitchFamily="49" charset="0"/>
              </a:rPr>
              <a:t>&amp; p)</a:t>
            </a:r>
            <a:endParaRPr lang="it-IT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si.setTypeName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de-DE" sz="1400" dirty="0" err="1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Info</a:t>
            </a:r>
            <a:r>
              <a:rPr lang="de-DE" sz="1400" dirty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si.addMember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&lt;&lt;=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p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._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x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;</a:t>
            </a:r>
            <a:endParaRPr lang="de-D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si.addMember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„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de-DE" sz="1400" dirty="0" smtClean="0">
                <a:solidFill>
                  <a:schemeClr val="accent2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sz="1400" dirty="0">
                <a:latin typeface="Courier New" pitchFamily="49" charset="0"/>
                <a:cs typeface="Courier New" pitchFamily="49" charset="0"/>
              </a:rPr>
              <a:t>&lt;&lt;= 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p</a:t>
            </a:r>
            <a:r>
              <a:rPr lang="de-DE" sz="1400" dirty="0" err="1" smtClean="0">
                <a:latin typeface="Courier New" pitchFamily="49" charset="0"/>
                <a:cs typeface="Courier New" pitchFamily="49" charset="0"/>
              </a:rPr>
              <a:t>._</a:t>
            </a:r>
            <a:r>
              <a:rPr lang="de-DE" sz="1400" dirty="0" err="1">
                <a:latin typeface="Courier New" pitchFamily="49" charset="0"/>
                <a:cs typeface="Courier New" pitchFamily="49" charset="0"/>
              </a:rPr>
              <a:t>y</a:t>
            </a: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None/>
            </a:pPr>
            <a:r>
              <a:rPr lang="de-DE" sz="1400" dirty="0" smtClean="0">
                <a:latin typeface="Courier New" pitchFamily="49" charset="0"/>
                <a:cs typeface="Courier New" pitchFamily="49" charset="0"/>
              </a:rPr>
              <a:t>}</a:t>
            </a:r>
            <a:endParaRPr lang="de-DE" sz="1600" dirty="0" smtClean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718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06090"/>
          </a:xfrm>
        </p:spPr>
        <p:txBody>
          <a:bodyPr>
            <a:normAutofit/>
          </a:bodyPr>
          <a:lstStyle/>
          <a:p>
            <a:r>
              <a:rPr lang="de-DE" sz="2800" dirty="0" err="1"/>
              <a:t>Reliable</a:t>
            </a:r>
            <a:r>
              <a:rPr lang="de-DE" sz="2800" dirty="0"/>
              <a:t> XML-RPC Clients </a:t>
            </a:r>
            <a:r>
              <a:rPr lang="de-DE" sz="2800" dirty="0" err="1"/>
              <a:t>and</a:t>
            </a:r>
            <a:r>
              <a:rPr lang="de-DE" sz="2800" dirty="0"/>
              <a:t> Services </a:t>
            </a:r>
            <a:r>
              <a:rPr lang="de-DE" sz="2800" dirty="0" smtClean="0"/>
              <a:t>(4)</a:t>
            </a:r>
            <a:endParaRPr lang="en-US" sz="280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23528" y="908720"/>
            <a:ext cx="8568952" cy="5760640"/>
          </a:xfrm>
        </p:spPr>
        <p:txBody>
          <a:bodyPr>
            <a:normAutofit/>
          </a:bodyPr>
          <a:lstStyle/>
          <a:p>
            <a:r>
              <a:rPr lang="de-DE" sz="1400" dirty="0" err="1" smtClean="0">
                <a:cs typeface="Courier New" pitchFamily="49" charset="0"/>
              </a:rPr>
              <a:t>Serialization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is</a:t>
            </a:r>
            <a:r>
              <a:rPr lang="de-DE" sz="1400" dirty="0" smtClean="0">
                <a:cs typeface="Courier New" pitchFamily="49" charset="0"/>
              </a:rPr>
              <a:t> non-intrusive</a:t>
            </a:r>
          </a:p>
          <a:p>
            <a:pPr lvl="1"/>
            <a:r>
              <a:rPr lang="de-DE" sz="1300" dirty="0" err="1" smtClean="0">
                <a:cs typeface="Courier New" pitchFamily="49" charset="0"/>
              </a:rPr>
              <a:t>Don‘t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need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derive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some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interface</a:t>
            </a:r>
            <a:endParaRPr lang="de-DE" sz="1300" dirty="0" smtClean="0">
              <a:cs typeface="Courier New" pitchFamily="49" charset="0"/>
            </a:endParaRPr>
          </a:p>
          <a:p>
            <a:pPr lvl="1"/>
            <a:endParaRPr lang="de-DE" sz="1000" dirty="0">
              <a:cs typeface="Courier New" pitchFamily="49" charset="0"/>
            </a:endParaRPr>
          </a:p>
          <a:p>
            <a:r>
              <a:rPr lang="de-DE" sz="1400" dirty="0" err="1" smtClean="0">
                <a:cs typeface="Courier New" pitchFamily="49" charset="0"/>
              </a:rPr>
              <a:t>Use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your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types</a:t>
            </a:r>
            <a:endParaRPr lang="de-DE" sz="1400" dirty="0" smtClean="0">
              <a:cs typeface="Courier New" pitchFamily="49" charset="0"/>
            </a:endParaRPr>
          </a:p>
          <a:p>
            <a:pPr lvl="1"/>
            <a:r>
              <a:rPr lang="de-DE" sz="1300" dirty="0" err="1">
                <a:cs typeface="Courier New" pitchFamily="49" charset="0"/>
              </a:rPr>
              <a:t>s</a:t>
            </a:r>
            <a:r>
              <a:rPr lang="de-DE" sz="1300" dirty="0" err="1" smtClean="0">
                <a:cs typeface="Courier New" pitchFamily="49" charset="0"/>
              </a:rPr>
              <a:t>td</a:t>
            </a:r>
            <a:r>
              <a:rPr lang="de-DE" sz="1300" dirty="0" smtClean="0">
                <a:cs typeface="Courier New" pitchFamily="49" charset="0"/>
              </a:rPr>
              <a:t>::</a:t>
            </a:r>
            <a:r>
              <a:rPr lang="de-DE" sz="1300" dirty="0" err="1" smtClean="0">
                <a:cs typeface="Courier New" pitchFamily="49" charset="0"/>
              </a:rPr>
              <a:t>string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CString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WxString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b="1" u="sng" dirty="0" smtClean="0">
                <a:cs typeface="Courier New" pitchFamily="49" charset="0"/>
              </a:rPr>
              <a:t>all </a:t>
            </a:r>
            <a:r>
              <a:rPr lang="de-DE" sz="1300" b="1" u="sng" dirty="0" err="1" smtClean="0">
                <a:cs typeface="Courier New" pitchFamily="49" charset="0"/>
              </a:rPr>
              <a:t>work</a:t>
            </a:r>
            <a:r>
              <a:rPr lang="de-DE" sz="1300" b="1" u="sng" dirty="0" smtClean="0">
                <a:cs typeface="Courier New" pitchFamily="49" charset="0"/>
              </a:rPr>
              <a:t> in </a:t>
            </a:r>
            <a:r>
              <a:rPr lang="de-DE" sz="1300" b="1" u="sng" dirty="0" err="1" smtClean="0">
                <a:cs typeface="Courier New" pitchFamily="49" charset="0"/>
              </a:rPr>
              <a:t>the</a:t>
            </a:r>
            <a:r>
              <a:rPr lang="de-DE" sz="1300" b="1" u="sng" dirty="0" smtClean="0">
                <a:cs typeface="Courier New" pitchFamily="49" charset="0"/>
              </a:rPr>
              <a:t> same </a:t>
            </a:r>
            <a:r>
              <a:rPr lang="de-DE" sz="1300" b="1" u="sng" dirty="0" err="1" smtClean="0">
                <a:cs typeface="Courier New" pitchFamily="49" charset="0"/>
              </a:rPr>
              <a:t>way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none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preferred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No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needless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conversions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from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alien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string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array</a:t>
            </a:r>
            <a:r>
              <a:rPr lang="de-DE" sz="1300" dirty="0" smtClean="0">
                <a:cs typeface="Courier New" pitchFamily="49" charset="0"/>
              </a:rPr>
              <a:t> etc… </a:t>
            </a:r>
            <a:endParaRPr lang="de-DE" sz="1300" dirty="0">
              <a:cs typeface="Courier New" pitchFamily="49" charset="0"/>
            </a:endParaRPr>
          </a:p>
          <a:p>
            <a:pPr marL="457200" lvl="1" indent="0">
              <a:buNone/>
            </a:pPr>
            <a:endParaRPr lang="de-DE" sz="1000" dirty="0" smtClean="0">
              <a:cs typeface="Courier New" pitchFamily="49" charset="0"/>
            </a:endParaRPr>
          </a:p>
          <a:p>
            <a:r>
              <a:rPr lang="de-DE" sz="1400" dirty="0" err="1" smtClean="0">
                <a:cs typeface="Courier New" pitchFamily="49" charset="0"/>
              </a:rPr>
              <a:t>Object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graph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can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be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build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up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and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broken</a:t>
            </a:r>
            <a:r>
              <a:rPr lang="de-DE" sz="1400" dirty="0" smtClean="0">
                <a:cs typeface="Courier New" pitchFamily="49" charset="0"/>
              </a:rPr>
              <a:t>-down </a:t>
            </a:r>
            <a:r>
              <a:rPr lang="de-DE" sz="1400" dirty="0" err="1" smtClean="0">
                <a:cs typeface="Courier New" pitchFamily="49" charset="0"/>
              </a:rPr>
              <a:t>incrementally</a:t>
            </a:r>
            <a:endParaRPr lang="de-DE" sz="14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Prerequisite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for</a:t>
            </a:r>
            <a:r>
              <a:rPr lang="de-DE" sz="1300" dirty="0" smtClean="0">
                <a:cs typeface="Courier New" pitchFamily="49" charset="0"/>
              </a:rPr>
              <a:t> I/O </a:t>
            </a:r>
            <a:r>
              <a:rPr lang="de-DE" sz="1300" dirty="0" err="1" smtClean="0">
                <a:cs typeface="Courier New" pitchFamily="49" charset="0"/>
              </a:rPr>
              <a:t>multiplexing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Also </a:t>
            </a:r>
            <a:r>
              <a:rPr lang="de-DE" sz="1300" dirty="0" err="1" smtClean="0">
                <a:cs typeface="Courier New" pitchFamily="49" charset="0"/>
              </a:rPr>
              <a:t>true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for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parser</a:t>
            </a:r>
            <a:r>
              <a:rPr lang="de-DE" sz="1300" dirty="0" smtClean="0">
                <a:cs typeface="Courier New" pitchFamily="49" charset="0"/>
              </a:rPr>
              <a:t>, </a:t>
            </a:r>
            <a:r>
              <a:rPr lang="de-DE" sz="1300" dirty="0" err="1" smtClean="0">
                <a:cs typeface="Courier New" pitchFamily="49" charset="0"/>
              </a:rPr>
              <a:t>text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encoder</a:t>
            </a:r>
            <a:r>
              <a:rPr lang="de-DE" sz="1300" dirty="0" smtClean="0">
                <a:cs typeface="Courier New" pitchFamily="49" charset="0"/>
              </a:rPr>
              <a:t> etc…</a:t>
            </a:r>
          </a:p>
          <a:p>
            <a:pPr lvl="1"/>
            <a:endParaRPr lang="de-DE" sz="1000" dirty="0" smtClean="0">
              <a:cs typeface="Courier New" pitchFamily="49" charset="0"/>
            </a:endParaRPr>
          </a:p>
          <a:p>
            <a:r>
              <a:rPr lang="de-DE" sz="1400" dirty="0" err="1" smtClean="0">
                <a:cs typeface="Courier New" pitchFamily="49" charset="0"/>
              </a:rPr>
              <a:t>It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gets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even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better</a:t>
            </a:r>
            <a:r>
              <a:rPr lang="de-DE" sz="1400" dirty="0" smtClean="0">
                <a:cs typeface="Courier New" pitchFamily="49" charset="0"/>
              </a:rPr>
              <a:t>:</a:t>
            </a:r>
            <a:r>
              <a:rPr lang="de-DE" sz="1600" dirty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custom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composer</a:t>
            </a:r>
            <a:r>
              <a:rPr lang="de-DE" sz="1400" dirty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and</a:t>
            </a:r>
            <a:r>
              <a:rPr lang="de-DE" sz="1400" dirty="0" smtClean="0">
                <a:cs typeface="Courier New" pitchFamily="49" charset="0"/>
              </a:rPr>
              <a:t> </a:t>
            </a:r>
            <a:r>
              <a:rPr lang="de-DE" sz="1400" dirty="0" err="1" smtClean="0">
                <a:cs typeface="Courier New" pitchFamily="49" charset="0"/>
              </a:rPr>
              <a:t>decomposer</a:t>
            </a:r>
            <a:endParaRPr lang="de-DE" sz="14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Use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less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memory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Higher </a:t>
            </a:r>
            <a:r>
              <a:rPr lang="de-DE" sz="1300" dirty="0" err="1" smtClean="0">
                <a:cs typeface="Courier New" pitchFamily="49" charset="0"/>
              </a:rPr>
              <a:t>performance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Handle </a:t>
            </a:r>
            <a:r>
              <a:rPr lang="de-DE" sz="1300" dirty="0" err="1" smtClean="0">
                <a:cs typeface="Courier New" pitchFamily="49" charset="0"/>
              </a:rPr>
              <a:t>really</a:t>
            </a:r>
            <a:r>
              <a:rPr lang="de-DE" sz="1300" dirty="0" smtClean="0">
                <a:cs typeface="Courier New" pitchFamily="49" charset="0"/>
              </a:rPr>
              <a:t> large </a:t>
            </a:r>
            <a:r>
              <a:rPr lang="de-DE" sz="1300" dirty="0" err="1" smtClean="0">
                <a:cs typeface="Courier New" pitchFamily="49" charset="0"/>
              </a:rPr>
              <a:t>objects</a:t>
            </a:r>
            <a:r>
              <a:rPr lang="de-DE" sz="1300" dirty="0" smtClean="0">
                <a:cs typeface="Courier New" pitchFamily="49" charset="0"/>
              </a:rPr>
              <a:t>/</a:t>
            </a:r>
            <a:r>
              <a:rPr lang="de-DE" sz="1300" dirty="0" err="1" smtClean="0">
                <a:cs typeface="Courier New" pitchFamily="49" charset="0"/>
              </a:rPr>
              <a:t>collections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smtClean="0">
                <a:cs typeface="Courier New" pitchFamily="49" charset="0"/>
              </a:rPr>
              <a:t>More </a:t>
            </a:r>
            <a:r>
              <a:rPr lang="de-DE" sz="1300" dirty="0" err="1" smtClean="0">
                <a:cs typeface="Courier New" pitchFamily="49" charset="0"/>
              </a:rPr>
              <a:t>difficult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implement</a:t>
            </a:r>
            <a:endParaRPr lang="de-DE" sz="1300" dirty="0" smtClean="0">
              <a:cs typeface="Courier New" pitchFamily="49" charset="0"/>
            </a:endParaRPr>
          </a:p>
          <a:p>
            <a:pPr lvl="1"/>
            <a:r>
              <a:rPr lang="de-DE" sz="1300" dirty="0" err="1" smtClean="0">
                <a:cs typeface="Courier New" pitchFamily="49" charset="0"/>
              </a:rPr>
              <a:t>Underlying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protocol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has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to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support</a:t>
            </a:r>
            <a:r>
              <a:rPr lang="de-DE" sz="1300" dirty="0" smtClean="0">
                <a:cs typeface="Courier New" pitchFamily="49" charset="0"/>
              </a:rPr>
              <a:t> </a:t>
            </a:r>
            <a:r>
              <a:rPr lang="de-DE" sz="1300" dirty="0" err="1" smtClean="0">
                <a:cs typeface="Courier New" pitchFamily="49" charset="0"/>
              </a:rPr>
              <a:t>it</a:t>
            </a:r>
            <a:endParaRPr lang="de-DE" sz="1300" dirty="0" smtClean="0"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2574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2396</Words>
  <Application>Microsoft Office PowerPoint</Application>
  <PresentationFormat>Bildschirmpräsentation (4:3)</PresentationFormat>
  <Paragraphs>545</Paragraphs>
  <Slides>26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27" baseType="lpstr">
      <vt:lpstr>Larissa</vt:lpstr>
      <vt:lpstr>Asynchrony for the Masses Marc Duerner</vt:lpstr>
      <vt:lpstr>Threading for the Masses</vt:lpstr>
      <vt:lpstr>When Timers go wrong</vt:lpstr>
      <vt:lpstr>Timers Done Right (1)</vt:lpstr>
      <vt:lpstr>Timers Done Right (2)</vt:lpstr>
      <vt:lpstr>Proactors vs Reactors</vt:lpstr>
      <vt:lpstr>Asynchronous I/O (1)</vt:lpstr>
      <vt:lpstr>Asynchronous I/O (2)</vt:lpstr>
      <vt:lpstr>Asynchronous I/O with streams (1)</vt:lpstr>
      <vt:lpstr>Asynchronous I/O with streams (2)</vt:lpstr>
      <vt:lpstr>Asynchronous I/O with streams (3)</vt:lpstr>
      <vt:lpstr>Asynchronous I/O - Error Handling (1)</vt:lpstr>
      <vt:lpstr>Asynchronous I/O – Error Handling (2)</vt:lpstr>
      <vt:lpstr>Asynchronous I/O Software Stack</vt:lpstr>
      <vt:lpstr>Event Driven Programming</vt:lpstr>
      <vt:lpstr>Inter-Thread Event Handling</vt:lpstr>
      <vt:lpstr>Inter-Thread Event Handling</vt:lpstr>
      <vt:lpstr>The Big Picture</vt:lpstr>
      <vt:lpstr>Implementation Hints</vt:lpstr>
      <vt:lpstr>Remote Procedure Calls</vt:lpstr>
      <vt:lpstr>Reliable XML-RPC Clients</vt:lpstr>
      <vt:lpstr>Reliable XML-RPC Services</vt:lpstr>
      <vt:lpstr>Reliable XML-RPC Clients and Services (1)</vt:lpstr>
      <vt:lpstr>Reliable XML-RPC Clients and Services (2)</vt:lpstr>
      <vt:lpstr>Reliable XML-RPC Clients and Services (3)</vt:lpstr>
      <vt:lpstr>Reliable XML-RPC Clients and Services (4)</vt:lpstr>
    </vt:vector>
  </TitlesOfParts>
  <Company>Bruker Optik GmbH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Signals and Slots</dc:title>
  <dc:creator>Duerner Marc</dc:creator>
  <cp:lastModifiedBy>Duerner Marc</cp:lastModifiedBy>
  <cp:revision>79</cp:revision>
  <cp:lastPrinted>2011-10-19T15:51:11Z</cp:lastPrinted>
  <dcterms:created xsi:type="dcterms:W3CDTF">2011-10-18T10:38:13Z</dcterms:created>
  <dcterms:modified xsi:type="dcterms:W3CDTF">2012-11-06T14:24:04Z</dcterms:modified>
</cp:coreProperties>
</file>