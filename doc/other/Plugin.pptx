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5"/>
  </p:handoutMasterIdLst>
  <p:sldIdLst>
    <p:sldId id="256" r:id="rId2"/>
    <p:sldId id="265" r:id="rId3"/>
    <p:sldId id="266" r:id="rId4"/>
    <p:sldId id="268" r:id="rId5"/>
    <p:sldId id="269" r:id="rId6"/>
    <p:sldId id="270" r:id="rId7"/>
    <p:sldId id="271" r:id="rId8"/>
    <p:sldId id="278" r:id="rId9"/>
    <p:sldId id="272" r:id="rId10"/>
    <p:sldId id="273" r:id="rId11"/>
    <p:sldId id="277" r:id="rId12"/>
    <p:sldId id="274" r:id="rId13"/>
    <p:sldId id="276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4957" autoAdjust="0"/>
    <p:restoredTop sz="94660"/>
  </p:normalViewPr>
  <p:slideViewPr>
    <p:cSldViewPr>
      <p:cViewPr varScale="1">
        <p:scale>
          <a:sx n="127" d="100"/>
          <a:sy n="127" d="100"/>
        </p:scale>
        <p:origin x="-96" y="-1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4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7E3084-EA0B-40F1-AB9E-F0831A9C9EFC}" type="datetimeFigureOut">
              <a:rPr lang="en-US" smtClean="0"/>
              <a:t>11/8/2013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4" y="868521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1AED9B-B819-426B-B7BA-36E6F05163A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9882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EB0A2-9E0E-4885-91D3-6DE54AE15078}" type="datetimeFigureOut">
              <a:rPr lang="en-US" smtClean="0"/>
              <a:t>11/8/2013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5B48-600C-4C34-96E2-CE7BD4D0D0E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596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EB0A2-9E0E-4885-91D3-6DE54AE15078}" type="datetimeFigureOut">
              <a:rPr lang="en-US" smtClean="0"/>
              <a:t>11/8/2013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5B48-600C-4C34-96E2-CE7BD4D0D0E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286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EB0A2-9E0E-4885-91D3-6DE54AE15078}" type="datetimeFigureOut">
              <a:rPr lang="en-US" smtClean="0"/>
              <a:t>11/8/2013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5B48-600C-4C34-96E2-CE7BD4D0D0E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106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EB0A2-9E0E-4885-91D3-6DE54AE15078}" type="datetimeFigureOut">
              <a:rPr lang="en-US" smtClean="0"/>
              <a:t>11/8/2013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5B48-600C-4C34-96E2-CE7BD4D0D0E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03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EB0A2-9E0E-4885-91D3-6DE54AE15078}" type="datetimeFigureOut">
              <a:rPr lang="en-US" smtClean="0"/>
              <a:t>11/8/2013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5B48-600C-4C34-96E2-CE7BD4D0D0E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043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EB0A2-9E0E-4885-91D3-6DE54AE15078}" type="datetimeFigureOut">
              <a:rPr lang="en-US" smtClean="0"/>
              <a:t>11/8/2013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5B48-600C-4C34-96E2-CE7BD4D0D0E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21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EB0A2-9E0E-4885-91D3-6DE54AE15078}" type="datetimeFigureOut">
              <a:rPr lang="en-US" smtClean="0"/>
              <a:t>11/8/2013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5B48-600C-4C34-96E2-CE7BD4D0D0E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066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EB0A2-9E0E-4885-91D3-6DE54AE15078}" type="datetimeFigureOut">
              <a:rPr lang="en-US" smtClean="0"/>
              <a:t>11/8/2013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5B48-600C-4C34-96E2-CE7BD4D0D0E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811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EB0A2-9E0E-4885-91D3-6DE54AE15078}" type="datetimeFigureOut">
              <a:rPr lang="en-US" smtClean="0"/>
              <a:t>11/8/2013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5B48-600C-4C34-96E2-CE7BD4D0D0E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391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EB0A2-9E0E-4885-91D3-6DE54AE15078}" type="datetimeFigureOut">
              <a:rPr lang="en-US" smtClean="0"/>
              <a:t>11/8/2013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5B48-600C-4C34-96E2-CE7BD4D0D0E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71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EB0A2-9E0E-4885-91D3-6DE54AE15078}" type="datetimeFigureOut">
              <a:rPr lang="en-US" smtClean="0"/>
              <a:t>11/8/2013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5B48-600C-4C34-96E2-CE7BD4D0D0E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383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EB0A2-9E0E-4885-91D3-6DE54AE15078}" type="datetimeFigureOut">
              <a:rPr lang="en-US" smtClean="0"/>
              <a:t>11/8/2013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B15B48-600C-4C34-96E2-CE7BD4D0D0E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68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Library </a:t>
            </a:r>
            <a:r>
              <a:rPr lang="de-DE" dirty="0" err="1" smtClean="0"/>
              <a:t>Loading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Plugins</a:t>
            </a:r>
            <a:endParaRPr lang="en-US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smtClean="0"/>
              <a:t>Marc </a:t>
            </a:r>
            <a:r>
              <a:rPr lang="de-DE" dirty="0" err="1" smtClean="0"/>
              <a:t>Dürner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918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58614"/>
            <a:ext cx="8229600" cy="850106"/>
          </a:xfrm>
        </p:spPr>
        <p:txBody>
          <a:bodyPr/>
          <a:lstStyle/>
          <a:p>
            <a:r>
              <a:rPr lang="de-DE" dirty="0" err="1" smtClean="0"/>
              <a:t>Shared</a:t>
            </a:r>
            <a:r>
              <a:rPr lang="de-DE" dirty="0" smtClean="0"/>
              <a:t> Libraries (Win32)</a:t>
            </a:r>
            <a:endParaRPr lang="en-US" dirty="0"/>
          </a:p>
        </p:txBody>
      </p:sp>
      <p:sp>
        <p:nvSpPr>
          <p:cNvPr id="17" name="Inhaltsplatzhalter 2"/>
          <p:cNvSpPr>
            <a:spLocks noGrp="1"/>
          </p:cNvSpPr>
          <p:nvPr>
            <p:ph idx="1"/>
          </p:nvPr>
        </p:nvSpPr>
        <p:spPr>
          <a:xfrm>
            <a:off x="179512" y="1052736"/>
            <a:ext cx="8856984" cy="55033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600" dirty="0" err="1" smtClean="0">
                <a:latin typeface="Consolas" pitchFamily="49" charset="0"/>
                <a:cs typeface="Consolas" pitchFamily="49" charset="0"/>
              </a:rPr>
              <a:t>std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::</a:t>
            </a:r>
            <a:r>
              <a:rPr lang="de-DE" sz="1600" dirty="0" err="1" smtClean="0">
                <a:latin typeface="Consolas" pitchFamily="49" charset="0"/>
                <a:cs typeface="Consolas" pitchFamily="49" charset="0"/>
              </a:rPr>
              <a:t>basic_string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&lt;TCHAR&gt; </a:t>
            </a:r>
            <a:r>
              <a:rPr lang="de-DE" sz="1600" dirty="0" err="1" smtClean="0">
                <a:latin typeface="Consolas" pitchFamily="49" charset="0"/>
                <a:cs typeface="Consolas" pitchFamily="49" charset="0"/>
              </a:rPr>
              <a:t>path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= _T(</a:t>
            </a:r>
            <a:r>
              <a:rPr lang="de-DE" sz="1600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“</a:t>
            </a:r>
            <a:r>
              <a:rPr lang="de-DE" sz="1600" dirty="0" err="1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some</a:t>
            </a:r>
            <a:r>
              <a:rPr lang="de-DE" sz="1600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/</a:t>
            </a:r>
            <a:r>
              <a:rPr lang="de-DE" sz="1600" dirty="0" err="1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path</a:t>
            </a:r>
            <a:r>
              <a:rPr lang="de-DE" sz="1600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/to.dll“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);</a:t>
            </a:r>
            <a:endParaRPr lang="en-US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HANDLE h = 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LoadLibrary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( 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tpath.c_str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() );</a:t>
            </a:r>
          </a:p>
          <a:p>
            <a:pPr marL="0" indent="0">
              <a:buNone/>
            </a:pPr>
            <a:endParaRPr lang="de-DE" sz="1600" dirty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de-DE" sz="16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v</a:t>
            </a:r>
            <a:r>
              <a:rPr lang="de-DE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oid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* </a:t>
            </a:r>
            <a:r>
              <a:rPr lang="de-DE" sz="1600" dirty="0" err="1" smtClean="0">
                <a:latin typeface="Consolas" pitchFamily="49" charset="0"/>
                <a:cs typeface="Consolas" pitchFamily="49" charset="0"/>
              </a:rPr>
              <a:t>sym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 = </a:t>
            </a:r>
            <a:r>
              <a:rPr lang="de-DE" sz="1600" dirty="0" err="1" smtClean="0">
                <a:latin typeface="Consolas" pitchFamily="49" charset="0"/>
                <a:cs typeface="Consolas" pitchFamily="49" charset="0"/>
              </a:rPr>
              <a:t>GetProcAddress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(h, </a:t>
            </a:r>
            <a:r>
              <a:rPr lang="de-DE" sz="1600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“</a:t>
            </a:r>
            <a:r>
              <a:rPr lang="de-DE" sz="1600" dirty="0" err="1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SymbolName</a:t>
            </a:r>
            <a:r>
              <a:rPr lang="de-DE" sz="1600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“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);</a:t>
            </a:r>
          </a:p>
          <a:p>
            <a:pPr marL="0" indent="0">
              <a:buNone/>
            </a:pPr>
            <a:endParaRPr lang="de-DE" sz="1600" dirty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de-DE" sz="1600" dirty="0" smtClean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// </a:t>
            </a:r>
            <a:r>
              <a:rPr lang="de-DE" sz="1600" dirty="0" err="1" smtClean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use</a:t>
            </a:r>
            <a:r>
              <a:rPr lang="de-DE" sz="1600" dirty="0" smtClean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de-DE" sz="1600" dirty="0" err="1" smtClean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sym</a:t>
            </a:r>
            <a:endParaRPr lang="de-DE" sz="1600" dirty="0" smtClean="0">
              <a:solidFill>
                <a:schemeClr val="accent3">
                  <a:lumMod val="75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de-DE" sz="1600" dirty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de-DE" sz="1600" dirty="0" err="1" smtClean="0">
                <a:latin typeface="Consolas" pitchFamily="49" charset="0"/>
                <a:cs typeface="Consolas" pitchFamily="49" charset="0"/>
              </a:rPr>
              <a:t>FreeLibrary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(h);</a:t>
            </a:r>
            <a:endParaRPr lang="en-US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sz="1600" dirty="0">
              <a:latin typeface="Consolas" pitchFamily="49" charset="0"/>
              <a:cs typeface="Consolas" pitchFamily="49" charset="0"/>
            </a:endParaRPr>
          </a:p>
          <a:p>
            <a:pPr marL="457200" lvl="1" indent="0">
              <a:buNone/>
            </a:pPr>
            <a:endParaRPr lang="de-DE" dirty="0">
              <a:solidFill>
                <a:schemeClr val="tx2">
                  <a:lumMod val="75000"/>
                </a:schemeClr>
              </a:solidFill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92048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58614"/>
            <a:ext cx="8229600" cy="850106"/>
          </a:xfrm>
        </p:spPr>
        <p:txBody>
          <a:bodyPr/>
          <a:lstStyle/>
          <a:p>
            <a:r>
              <a:rPr lang="de-DE" dirty="0" err="1" smtClean="0"/>
              <a:t>Shared</a:t>
            </a:r>
            <a:r>
              <a:rPr lang="de-DE" dirty="0" smtClean="0"/>
              <a:t> Libraries (POSIX)</a:t>
            </a:r>
            <a:endParaRPr lang="en-US" dirty="0"/>
          </a:p>
        </p:txBody>
      </p:sp>
      <p:sp>
        <p:nvSpPr>
          <p:cNvPr id="17" name="Inhaltsplatzhalter 2"/>
          <p:cNvSpPr>
            <a:spLocks noGrp="1"/>
          </p:cNvSpPr>
          <p:nvPr>
            <p:ph idx="1"/>
          </p:nvPr>
        </p:nvSpPr>
        <p:spPr>
          <a:xfrm>
            <a:off x="179512" y="1052736"/>
            <a:ext cx="8856984" cy="55033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600" dirty="0" err="1" smtClean="0">
                <a:latin typeface="Consolas" pitchFamily="49" charset="0"/>
                <a:cs typeface="Consolas" pitchFamily="49" charset="0"/>
              </a:rPr>
              <a:t>std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::</a:t>
            </a:r>
            <a:r>
              <a:rPr lang="de-DE" sz="1600" dirty="0" err="1" smtClean="0">
                <a:latin typeface="Consolas" pitchFamily="49" charset="0"/>
                <a:cs typeface="Consolas" pitchFamily="49" charset="0"/>
              </a:rPr>
              <a:t>basic_string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de-DE" sz="1600" dirty="0" err="1" smtClean="0">
                <a:latin typeface="Consolas" pitchFamily="49" charset="0"/>
                <a:cs typeface="Consolas" pitchFamily="49" charset="0"/>
              </a:rPr>
              <a:t>char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&gt; 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de-DE" sz="1600" dirty="0" err="1" smtClean="0">
                <a:latin typeface="Consolas" pitchFamily="49" charset="0"/>
                <a:cs typeface="Consolas" pitchFamily="49" charset="0"/>
              </a:rPr>
              <a:t>path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= </a:t>
            </a:r>
            <a:r>
              <a:rPr lang="de-DE" sz="1600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“</a:t>
            </a:r>
            <a:r>
              <a:rPr lang="de-DE" sz="1600" dirty="0" err="1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some</a:t>
            </a:r>
            <a:r>
              <a:rPr lang="de-DE" sz="1600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/</a:t>
            </a:r>
            <a:r>
              <a:rPr lang="de-DE" sz="1600" dirty="0" err="1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path</a:t>
            </a:r>
            <a:r>
              <a:rPr lang="de-DE" sz="1600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/to.so“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;</a:t>
            </a:r>
            <a:endParaRPr lang="en-US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US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 h 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= 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dlopen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( 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path.c_str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(), RTLD_NOW|RTLD_GLOBAL );</a:t>
            </a:r>
          </a:p>
          <a:p>
            <a:pPr marL="0" indent="0">
              <a:buNone/>
            </a:pPr>
            <a:endParaRPr lang="de-DE" sz="1600" dirty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de-DE" sz="16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v</a:t>
            </a:r>
            <a:r>
              <a:rPr lang="de-DE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oid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* </a:t>
            </a:r>
            <a:r>
              <a:rPr lang="de-DE" sz="1600" dirty="0" err="1" smtClean="0">
                <a:latin typeface="Consolas" pitchFamily="49" charset="0"/>
                <a:cs typeface="Consolas" pitchFamily="49" charset="0"/>
              </a:rPr>
              <a:t>sym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 = </a:t>
            </a:r>
            <a:r>
              <a:rPr lang="de-DE" sz="1600" dirty="0" err="1" smtClean="0">
                <a:latin typeface="Consolas" pitchFamily="49" charset="0"/>
                <a:cs typeface="Consolas" pitchFamily="49" charset="0"/>
              </a:rPr>
              <a:t>dlsym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(h, </a:t>
            </a:r>
            <a:r>
              <a:rPr lang="de-DE" sz="1600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“</a:t>
            </a:r>
            <a:r>
              <a:rPr lang="de-DE" sz="1600" dirty="0" err="1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SymbolName</a:t>
            </a:r>
            <a:r>
              <a:rPr lang="de-DE" sz="1600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“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);</a:t>
            </a:r>
          </a:p>
          <a:p>
            <a:pPr marL="0" indent="0">
              <a:buNone/>
            </a:pPr>
            <a:endParaRPr lang="de-DE" sz="1600" dirty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de-DE" sz="1600" dirty="0" smtClean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// </a:t>
            </a:r>
            <a:r>
              <a:rPr lang="de-DE" sz="1600" dirty="0" err="1" smtClean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use</a:t>
            </a:r>
            <a:r>
              <a:rPr lang="de-DE" sz="1600" dirty="0" smtClean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de-DE" sz="1600" dirty="0" err="1" smtClean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sym</a:t>
            </a:r>
            <a:endParaRPr lang="de-DE" sz="1600" dirty="0" smtClean="0">
              <a:solidFill>
                <a:schemeClr val="accent3">
                  <a:lumMod val="75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de-DE" sz="1600" dirty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de-DE" sz="1600" dirty="0" err="1" smtClean="0">
                <a:latin typeface="Consolas" pitchFamily="49" charset="0"/>
                <a:cs typeface="Consolas" pitchFamily="49" charset="0"/>
              </a:rPr>
              <a:t>dlclose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(h);</a:t>
            </a:r>
            <a:endParaRPr lang="en-US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sz="1600" dirty="0">
              <a:latin typeface="Consolas" pitchFamily="49" charset="0"/>
              <a:cs typeface="Consolas" pitchFamily="49" charset="0"/>
            </a:endParaRPr>
          </a:p>
          <a:p>
            <a:pPr marL="457200" lvl="1" indent="0">
              <a:buNone/>
            </a:pPr>
            <a:endParaRPr lang="de-DE" dirty="0">
              <a:solidFill>
                <a:schemeClr val="tx2">
                  <a:lumMod val="75000"/>
                </a:schemeClr>
              </a:solidFill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20496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58614"/>
            <a:ext cx="8229600" cy="850106"/>
          </a:xfrm>
        </p:spPr>
        <p:txBody>
          <a:bodyPr/>
          <a:lstStyle/>
          <a:p>
            <a:r>
              <a:rPr lang="de-DE" dirty="0" err="1" smtClean="0"/>
              <a:t>Shared</a:t>
            </a:r>
            <a:r>
              <a:rPr lang="de-DE" dirty="0" smtClean="0"/>
              <a:t> Libraries (portable)</a:t>
            </a:r>
            <a:endParaRPr lang="en-US" dirty="0"/>
          </a:p>
        </p:txBody>
      </p:sp>
      <p:sp>
        <p:nvSpPr>
          <p:cNvPr id="17" name="Inhaltsplatzhalter 2"/>
          <p:cNvSpPr>
            <a:spLocks noGrp="1"/>
          </p:cNvSpPr>
          <p:nvPr>
            <p:ph idx="1"/>
          </p:nvPr>
        </p:nvSpPr>
        <p:spPr>
          <a:xfrm>
            <a:off x="179512" y="1052736"/>
            <a:ext cx="8856984" cy="55033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600" b="1" dirty="0" err="1">
                <a:latin typeface="Consolas" pitchFamily="49" charset="0"/>
                <a:cs typeface="Consolas" pitchFamily="49" charset="0"/>
              </a:rPr>
              <a:t>t</a:t>
            </a:r>
            <a:r>
              <a:rPr lang="de-DE" sz="1600" b="1" dirty="0" err="1" smtClean="0">
                <a:latin typeface="Consolas" pitchFamily="49" charset="0"/>
                <a:cs typeface="Consolas" pitchFamily="49" charset="0"/>
              </a:rPr>
              <a:t>ry</a:t>
            </a:r>
            <a:endParaRPr lang="de-DE" sz="1600" b="1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de-DE" sz="1600" dirty="0">
                <a:latin typeface="Consolas" pitchFamily="49" charset="0"/>
                <a:cs typeface="Consolas" pitchFamily="49" charset="0"/>
              </a:rPr>
              <a:t>{</a:t>
            </a:r>
            <a:endParaRPr lang="de-DE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  Library </a:t>
            </a:r>
            <a:r>
              <a:rPr lang="de-DE" sz="1600" dirty="0" err="1" smtClean="0">
                <a:latin typeface="Consolas" pitchFamily="49" charset="0"/>
                <a:cs typeface="Consolas" pitchFamily="49" charset="0"/>
              </a:rPr>
              <a:t>shlib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(</a:t>
            </a:r>
            <a:r>
              <a:rPr lang="de-DE" sz="1600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“</a:t>
            </a:r>
            <a:r>
              <a:rPr lang="de-DE" sz="1600" dirty="0" err="1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some</a:t>
            </a:r>
            <a:r>
              <a:rPr lang="de-DE" sz="1600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/</a:t>
            </a:r>
            <a:r>
              <a:rPr lang="de-DE" sz="1600" dirty="0" err="1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path</a:t>
            </a:r>
            <a:r>
              <a:rPr lang="de-DE" sz="1600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/to.so“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);</a:t>
            </a:r>
            <a:endParaRPr lang="en-US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de-DE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  </a:t>
            </a:r>
            <a:r>
              <a:rPr lang="de-DE" sz="1600" dirty="0" err="1" smtClean="0">
                <a:solidFill>
                  <a:schemeClr val="accent1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* sym1 = </a:t>
            </a:r>
            <a:r>
              <a:rPr lang="de-DE" sz="1600" dirty="0" err="1" smtClean="0">
                <a:latin typeface="Consolas" pitchFamily="49" charset="0"/>
                <a:cs typeface="Consolas" pitchFamily="49" charset="0"/>
              </a:rPr>
              <a:t>shlib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[</a:t>
            </a:r>
            <a:r>
              <a:rPr lang="de-DE" sz="1600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“Symbol1“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];           </a:t>
            </a:r>
            <a:r>
              <a:rPr lang="de-DE" sz="1600" dirty="0" smtClean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// </a:t>
            </a:r>
            <a:r>
              <a:rPr lang="de-DE" sz="1600" dirty="0" err="1" smtClean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no</a:t>
            </a:r>
            <a:r>
              <a:rPr lang="de-DE" sz="1600" dirty="0" smtClean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de-DE" sz="1600" dirty="0" err="1" smtClean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throw</a:t>
            </a:r>
            <a:endParaRPr lang="de-DE" sz="1600" dirty="0" smtClean="0">
              <a:solidFill>
                <a:schemeClr val="accent3">
                  <a:lumMod val="75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  </a:t>
            </a:r>
            <a:r>
              <a:rPr lang="de-DE" sz="1600" b="1" dirty="0" err="1" smtClean="0">
                <a:latin typeface="Consolas" pitchFamily="49" charset="0"/>
                <a:cs typeface="Consolas" pitchFamily="49" charset="0"/>
              </a:rPr>
              <a:t>if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( ! </a:t>
            </a:r>
            <a:r>
              <a:rPr lang="de-DE" sz="1600" dirty="0">
                <a:latin typeface="Consolas" pitchFamily="49" charset="0"/>
                <a:cs typeface="Consolas" pitchFamily="49" charset="0"/>
              </a:rPr>
              <a:t>s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ym1 )</a:t>
            </a:r>
          </a:p>
          <a:p>
            <a:pPr marL="0" indent="0">
              <a:buNone/>
            </a:pP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    </a:t>
            </a:r>
            <a:r>
              <a:rPr lang="de-DE" sz="1600" b="1" dirty="0" err="1" smtClean="0">
                <a:latin typeface="Consolas" pitchFamily="49" charset="0"/>
                <a:cs typeface="Consolas" pitchFamily="49" charset="0"/>
              </a:rPr>
              <a:t>return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 ERROR;</a:t>
            </a:r>
          </a:p>
          <a:p>
            <a:pPr marL="0" indent="0">
              <a:buNone/>
            </a:pPr>
            <a:endParaRPr lang="de-DE" sz="1600" dirty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  </a:t>
            </a:r>
            <a:r>
              <a:rPr lang="de-DE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* sym2 = </a:t>
            </a:r>
            <a:r>
              <a:rPr lang="de-DE" sz="1600" dirty="0" err="1" smtClean="0">
                <a:latin typeface="Consolas" pitchFamily="49" charset="0"/>
                <a:cs typeface="Consolas" pitchFamily="49" charset="0"/>
              </a:rPr>
              <a:t>shlib.getSymbol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(</a:t>
            </a:r>
            <a:r>
              <a:rPr lang="de-DE" sz="1600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“Symbol2“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); </a:t>
            </a:r>
            <a:r>
              <a:rPr lang="de-DE" sz="1600" dirty="0" smtClean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// </a:t>
            </a:r>
            <a:r>
              <a:rPr lang="de-DE" sz="1600" dirty="0" err="1" smtClean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throws</a:t>
            </a:r>
            <a:r>
              <a:rPr lang="de-DE" sz="1600" dirty="0" smtClean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de-DE" sz="1600" dirty="0" err="1" smtClean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SymbolNotFound</a:t>
            </a:r>
            <a:endParaRPr lang="de-DE" sz="1600" dirty="0">
              <a:solidFill>
                <a:schemeClr val="accent3">
                  <a:lumMod val="75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} </a:t>
            </a:r>
          </a:p>
          <a:p>
            <a:pPr marL="0" indent="0">
              <a:buNone/>
            </a:pPr>
            <a:r>
              <a:rPr lang="de-DE" sz="1600" b="1" dirty="0" smtClean="0">
                <a:latin typeface="Consolas" pitchFamily="49" charset="0"/>
                <a:cs typeface="Consolas" pitchFamily="49" charset="0"/>
              </a:rPr>
              <a:t>catch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(</a:t>
            </a:r>
            <a:r>
              <a:rPr lang="de-DE" sz="1600" b="1" dirty="0" err="1" smtClean="0">
                <a:latin typeface="Consolas" pitchFamily="49" charset="0"/>
                <a:cs typeface="Consolas" pitchFamily="49" charset="0"/>
              </a:rPr>
              <a:t>const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de-DE" sz="1600" dirty="0" err="1" smtClean="0">
                <a:latin typeface="Consolas" pitchFamily="49" charset="0"/>
                <a:cs typeface="Consolas" pitchFamily="49" charset="0"/>
              </a:rPr>
              <a:t>SymbolNotFound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&amp; e)</a:t>
            </a:r>
          </a:p>
          <a:p>
            <a:pPr marL="0" indent="0">
              <a:buNone/>
            </a:pP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{</a:t>
            </a:r>
          </a:p>
          <a:p>
            <a:pPr marL="0" indent="0">
              <a:buNone/>
            </a:pP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pPr marL="0" indent="0">
              <a:buNone/>
            </a:pPr>
            <a:r>
              <a:rPr lang="de-DE" sz="1600" b="1" dirty="0">
                <a:latin typeface="Consolas" pitchFamily="49" charset="0"/>
                <a:cs typeface="Consolas" pitchFamily="49" charset="0"/>
              </a:rPr>
              <a:t>catch</a:t>
            </a:r>
            <a:r>
              <a:rPr lang="de-DE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de-DE" sz="1600" b="1" dirty="0" err="1">
                <a:latin typeface="Consolas" pitchFamily="49" charset="0"/>
                <a:cs typeface="Consolas" pitchFamily="49" charset="0"/>
              </a:rPr>
              <a:t>const</a:t>
            </a:r>
            <a:r>
              <a:rPr lang="de-DE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de-DE" sz="1600" dirty="0" err="1" smtClean="0">
                <a:latin typeface="Consolas" pitchFamily="49" charset="0"/>
                <a:cs typeface="Consolas" pitchFamily="49" charset="0"/>
              </a:rPr>
              <a:t>AccessFailed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&amp; </a:t>
            </a:r>
            <a:r>
              <a:rPr lang="de-DE" sz="1600" dirty="0">
                <a:latin typeface="Consolas" pitchFamily="49" charset="0"/>
                <a:cs typeface="Consolas" pitchFamily="49" charset="0"/>
              </a:rPr>
              <a:t>e)</a:t>
            </a:r>
          </a:p>
          <a:p>
            <a:pPr marL="0" indent="0">
              <a:buNone/>
            </a:pPr>
            <a:r>
              <a:rPr lang="de-DE" sz="1600" dirty="0">
                <a:latin typeface="Consolas" pitchFamily="49" charset="0"/>
                <a:cs typeface="Consolas" pitchFamily="49" charset="0"/>
              </a:rPr>
              <a:t>{</a:t>
            </a:r>
          </a:p>
          <a:p>
            <a:pPr marL="0" indent="0">
              <a:buNone/>
            </a:pPr>
            <a:r>
              <a:rPr lang="de-DE" sz="1600" dirty="0">
                <a:latin typeface="Consolas" pitchFamily="49" charset="0"/>
                <a:cs typeface="Consolas" pitchFamily="49" charset="0"/>
              </a:rPr>
              <a:t>}</a:t>
            </a:r>
            <a:endParaRPr lang="en-US" sz="1600" dirty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sz="1600" dirty="0">
              <a:latin typeface="Consolas" pitchFamily="49" charset="0"/>
              <a:cs typeface="Consolas" pitchFamily="49" charset="0"/>
            </a:endParaRPr>
          </a:p>
          <a:p>
            <a:pPr marL="457200" lvl="1" indent="0">
              <a:buNone/>
            </a:pPr>
            <a:endParaRPr lang="de-DE" dirty="0">
              <a:solidFill>
                <a:schemeClr val="tx2">
                  <a:lumMod val="75000"/>
                </a:schemeClr>
              </a:solidFill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81497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58614"/>
            <a:ext cx="8229600" cy="850106"/>
          </a:xfrm>
        </p:spPr>
        <p:txBody>
          <a:bodyPr/>
          <a:lstStyle/>
          <a:p>
            <a:r>
              <a:rPr lang="de-DE" dirty="0" err="1"/>
              <a:t>W</a:t>
            </a:r>
            <a:r>
              <a:rPr lang="de-DE" dirty="0" err="1" smtClean="0"/>
              <a:t>hat‘s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real Problem?</a:t>
            </a:r>
            <a:endParaRPr lang="en-US" dirty="0"/>
          </a:p>
        </p:txBody>
      </p:sp>
      <p:sp>
        <p:nvSpPr>
          <p:cNvPr id="17" name="Inhaltsplatzhalter 2"/>
          <p:cNvSpPr>
            <a:spLocks noGrp="1"/>
          </p:cNvSpPr>
          <p:nvPr>
            <p:ph idx="1"/>
          </p:nvPr>
        </p:nvSpPr>
        <p:spPr>
          <a:xfrm>
            <a:off x="179512" y="1052736"/>
            <a:ext cx="8856984" cy="5503341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de-DE" dirty="0" smtClean="0">
                <a:solidFill>
                  <a:srgbClr val="C00000"/>
                </a:solidFill>
              </a:rPr>
              <a:t>--- RED </a:t>
            </a:r>
            <a:r>
              <a:rPr lang="de-DE" dirty="0">
                <a:solidFill>
                  <a:srgbClr val="C00000"/>
                </a:solidFill>
              </a:rPr>
              <a:t>ALERT --- RED </a:t>
            </a:r>
            <a:r>
              <a:rPr lang="de-DE" dirty="0" smtClean="0">
                <a:solidFill>
                  <a:srgbClr val="C00000"/>
                </a:solidFill>
              </a:rPr>
              <a:t>ALERT --- </a:t>
            </a:r>
            <a:r>
              <a:rPr lang="de-DE" dirty="0">
                <a:solidFill>
                  <a:srgbClr val="C00000"/>
                </a:solidFill>
              </a:rPr>
              <a:t>RED </a:t>
            </a:r>
            <a:r>
              <a:rPr lang="de-DE" dirty="0" smtClean="0">
                <a:solidFill>
                  <a:srgbClr val="C00000"/>
                </a:solidFill>
              </a:rPr>
              <a:t>ALERT ---</a:t>
            </a:r>
            <a:endParaRPr lang="de-DE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de-DE" dirty="0" smtClean="0"/>
          </a:p>
          <a:p>
            <a:pPr marL="0" indent="0">
              <a:buNone/>
            </a:pPr>
            <a:r>
              <a:rPr lang="en-US" u="sng" dirty="0"/>
              <a:t>6.3.2.3:8</a:t>
            </a:r>
            <a:r>
              <a:rPr lang="en-US" dirty="0"/>
              <a:t> A pointer to a function of one type may be converted to a pointer to a function of another type and back again; the result shall compare equal to the original pointer. If a converted pointer is used to call a function whose type is not compatible with the pointed-to type, the behavior is undefined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smtClean="0"/>
              <a:t>NOTE: </a:t>
            </a:r>
            <a:r>
              <a:rPr lang="de-DE" dirty="0" err="1" smtClean="0"/>
              <a:t>cast</a:t>
            </a:r>
            <a:r>
              <a:rPr lang="de-DE" dirty="0" smtClean="0"/>
              <a:t> </a:t>
            </a:r>
            <a:r>
              <a:rPr lang="de-DE" dirty="0" err="1" smtClean="0"/>
              <a:t>from</a:t>
            </a:r>
            <a:r>
              <a:rPr lang="de-DE" dirty="0" smtClean="0"/>
              <a:t> </a:t>
            </a:r>
            <a:r>
              <a:rPr lang="de-DE" dirty="0" err="1" smtClean="0"/>
              <a:t>void</a:t>
            </a:r>
            <a:r>
              <a:rPr lang="de-DE" dirty="0" smtClean="0"/>
              <a:t>*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function</a:t>
            </a:r>
            <a:r>
              <a:rPr lang="de-DE" dirty="0" smtClean="0"/>
              <a:t> </a:t>
            </a:r>
            <a:r>
              <a:rPr lang="de-DE" dirty="0" err="1" smtClean="0"/>
              <a:t>pointer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undefined</a:t>
            </a:r>
            <a:r>
              <a:rPr lang="de-DE" dirty="0" smtClean="0"/>
              <a:t> </a:t>
            </a:r>
            <a:r>
              <a:rPr lang="de-DE" dirty="0" err="1" smtClean="0"/>
              <a:t>behaviour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0437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58614"/>
            <a:ext cx="8229600" cy="850106"/>
          </a:xfrm>
        </p:spPr>
        <p:txBody>
          <a:bodyPr/>
          <a:lstStyle/>
          <a:p>
            <a:r>
              <a:rPr lang="de-DE" dirty="0" err="1"/>
              <a:t>W</a:t>
            </a:r>
            <a:r>
              <a:rPr lang="de-DE" dirty="0" err="1" smtClean="0"/>
              <a:t>hat‘s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real Problem?</a:t>
            </a:r>
            <a:endParaRPr lang="en-US" dirty="0"/>
          </a:p>
        </p:txBody>
      </p:sp>
      <p:sp>
        <p:nvSpPr>
          <p:cNvPr id="17" name="Inhaltsplatzhalter 2"/>
          <p:cNvSpPr>
            <a:spLocks noGrp="1"/>
          </p:cNvSpPr>
          <p:nvPr>
            <p:ph idx="1"/>
          </p:nvPr>
        </p:nvSpPr>
        <p:spPr>
          <a:xfrm>
            <a:off x="179512" y="1052736"/>
            <a:ext cx="8856984" cy="5503341"/>
          </a:xfrm>
        </p:spPr>
        <p:txBody>
          <a:bodyPr>
            <a:normAutofit/>
          </a:bodyPr>
          <a:lstStyle/>
          <a:p>
            <a:r>
              <a:rPr lang="de-DE" dirty="0" smtClean="0"/>
              <a:t>Name </a:t>
            </a:r>
            <a:r>
              <a:rPr lang="de-DE" dirty="0" err="1" smtClean="0"/>
              <a:t>mangling</a:t>
            </a:r>
            <a:endParaRPr lang="de-DE" dirty="0" smtClean="0"/>
          </a:p>
          <a:p>
            <a:pPr lvl="1"/>
            <a:r>
              <a:rPr lang="de-DE" dirty="0" err="1" smtClean="0"/>
              <a:t>Use</a:t>
            </a:r>
            <a:r>
              <a:rPr lang="de-DE" dirty="0" smtClean="0"/>
              <a:t> </a:t>
            </a:r>
            <a:r>
              <a:rPr lang="de-DE" dirty="0" err="1" smtClean="0"/>
              <a:t>export</a:t>
            </a:r>
            <a:r>
              <a:rPr lang="de-DE" dirty="0" smtClean="0"/>
              <a:t> “C“</a:t>
            </a:r>
          </a:p>
          <a:p>
            <a:pPr lvl="1"/>
            <a:endParaRPr lang="de-DE" dirty="0"/>
          </a:p>
          <a:p>
            <a:r>
              <a:rPr lang="de-DE" dirty="0" smtClean="0"/>
              <a:t>Export </a:t>
            </a:r>
            <a:r>
              <a:rPr lang="de-DE" dirty="0" err="1" smtClean="0"/>
              <a:t>resolvable</a:t>
            </a:r>
            <a:r>
              <a:rPr lang="de-DE" dirty="0" smtClean="0"/>
              <a:t> </a:t>
            </a:r>
            <a:r>
              <a:rPr lang="de-DE" dirty="0" err="1" smtClean="0"/>
              <a:t>symbols</a:t>
            </a:r>
            <a:endParaRPr lang="de-DE" dirty="0" smtClean="0"/>
          </a:p>
          <a:p>
            <a:pPr lvl="1"/>
            <a:r>
              <a:rPr lang="de-DE" dirty="0" smtClean="0"/>
              <a:t>_</a:t>
            </a:r>
            <a:r>
              <a:rPr lang="de-DE" dirty="0" err="1" smtClean="0"/>
              <a:t>declspec</a:t>
            </a:r>
            <a:r>
              <a:rPr lang="de-DE" dirty="0" smtClean="0"/>
              <a:t>(</a:t>
            </a:r>
            <a:r>
              <a:rPr lang="de-DE" dirty="0" err="1" smtClean="0"/>
              <a:t>export</a:t>
            </a:r>
            <a:r>
              <a:rPr lang="de-DE" dirty="0" smtClean="0"/>
              <a:t>), </a:t>
            </a:r>
            <a:r>
              <a:rPr lang="de-DE" dirty="0" err="1" smtClean="0"/>
              <a:t>visibility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gcc</a:t>
            </a:r>
            <a:r>
              <a:rPr lang="de-DE" dirty="0" smtClean="0"/>
              <a:t>, .</a:t>
            </a:r>
            <a:r>
              <a:rPr lang="de-DE" dirty="0" err="1" smtClean="0"/>
              <a:t>def</a:t>
            </a:r>
            <a:r>
              <a:rPr lang="de-DE" dirty="0" smtClean="0"/>
              <a:t> </a:t>
            </a:r>
            <a:r>
              <a:rPr lang="de-DE" dirty="0" err="1" smtClean="0"/>
              <a:t>files</a:t>
            </a:r>
            <a:r>
              <a:rPr lang="de-DE" dirty="0" smtClean="0"/>
              <a:t> etc…</a:t>
            </a:r>
          </a:p>
          <a:p>
            <a:pPr lvl="1"/>
            <a:endParaRPr lang="de-DE" dirty="0"/>
          </a:p>
          <a:p>
            <a:r>
              <a:rPr lang="de-DE" dirty="0" smtClean="0"/>
              <a:t>Do not </a:t>
            </a:r>
            <a:r>
              <a:rPr lang="de-DE" dirty="0" err="1" smtClean="0"/>
              <a:t>rely</a:t>
            </a:r>
            <a:r>
              <a:rPr lang="de-DE" dirty="0" smtClean="0"/>
              <a:t> on </a:t>
            </a:r>
            <a:r>
              <a:rPr lang="de-DE" dirty="0" err="1" smtClean="0"/>
              <a:t>platform</a:t>
            </a:r>
            <a:r>
              <a:rPr lang="de-DE" dirty="0" smtClean="0"/>
              <a:t> </a:t>
            </a:r>
            <a:r>
              <a:rPr lang="de-DE" dirty="0" err="1" smtClean="0"/>
              <a:t>specific</a:t>
            </a:r>
            <a:r>
              <a:rPr lang="de-DE" dirty="0" smtClean="0"/>
              <a:t> </a:t>
            </a:r>
            <a:r>
              <a:rPr lang="de-DE" dirty="0" err="1" smtClean="0"/>
              <a:t>library</a:t>
            </a:r>
            <a:r>
              <a:rPr lang="de-DE" dirty="0" smtClean="0"/>
              <a:t> </a:t>
            </a:r>
            <a:r>
              <a:rPr lang="de-DE" dirty="0" err="1" smtClean="0"/>
              <a:t>init</a:t>
            </a:r>
            <a:r>
              <a:rPr lang="de-DE" dirty="0" smtClean="0"/>
              <a:t>/</a:t>
            </a:r>
            <a:r>
              <a:rPr lang="de-DE" dirty="0" err="1" smtClean="0"/>
              <a:t>finalisation</a:t>
            </a:r>
            <a:endParaRPr lang="de-DE" dirty="0" smtClean="0"/>
          </a:p>
          <a:p>
            <a:pPr lvl="1"/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init</a:t>
            </a:r>
            <a:r>
              <a:rPr lang="de-DE" dirty="0" smtClean="0"/>
              <a:t>()/</a:t>
            </a:r>
            <a:r>
              <a:rPr lang="de-DE" dirty="0" err="1" smtClean="0"/>
              <a:t>fini</a:t>
            </a:r>
            <a:r>
              <a:rPr lang="de-DE" dirty="0" smtClean="0"/>
              <a:t>() etc…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04849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58614"/>
            <a:ext cx="8229600" cy="850106"/>
          </a:xfrm>
        </p:spPr>
        <p:txBody>
          <a:bodyPr/>
          <a:lstStyle/>
          <a:p>
            <a:r>
              <a:rPr lang="de-DE" dirty="0" err="1"/>
              <a:t>W</a:t>
            </a:r>
            <a:r>
              <a:rPr lang="de-DE" dirty="0" err="1" smtClean="0"/>
              <a:t>hat‘s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real Problem?</a:t>
            </a:r>
            <a:endParaRPr lang="en-US" dirty="0"/>
          </a:p>
        </p:txBody>
      </p:sp>
      <p:sp>
        <p:nvSpPr>
          <p:cNvPr id="17" name="Inhaltsplatzhalter 2"/>
          <p:cNvSpPr>
            <a:spLocks noGrp="1"/>
          </p:cNvSpPr>
          <p:nvPr>
            <p:ph idx="1"/>
          </p:nvPr>
        </p:nvSpPr>
        <p:spPr>
          <a:xfrm>
            <a:off x="179512" y="1052736"/>
            <a:ext cx="8856984" cy="5503341"/>
          </a:xfrm>
        </p:spPr>
        <p:txBody>
          <a:bodyPr>
            <a:normAutofit/>
          </a:bodyPr>
          <a:lstStyle/>
          <a:p>
            <a:r>
              <a:rPr lang="de-DE" dirty="0" err="1" smtClean="0"/>
              <a:t>Platforms</a:t>
            </a:r>
            <a:r>
              <a:rPr lang="de-DE" dirty="0" smtClean="0"/>
              <a:t> do not </a:t>
            </a:r>
            <a:r>
              <a:rPr lang="de-DE" dirty="0" err="1" smtClean="0"/>
              <a:t>allow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load</a:t>
            </a:r>
            <a:r>
              <a:rPr lang="de-DE" dirty="0" smtClean="0"/>
              <a:t> </a:t>
            </a:r>
            <a:r>
              <a:rPr lang="de-DE" dirty="0" err="1" smtClean="0"/>
              <a:t>libraries</a:t>
            </a:r>
            <a:r>
              <a:rPr lang="de-DE" dirty="0" smtClean="0"/>
              <a:t> </a:t>
            </a:r>
            <a:r>
              <a:rPr lang="de-DE" dirty="0" err="1" smtClean="0"/>
              <a:t>at</a:t>
            </a:r>
            <a:r>
              <a:rPr lang="de-DE" dirty="0" smtClean="0"/>
              <a:t> all</a:t>
            </a:r>
          </a:p>
          <a:p>
            <a:pPr lvl="1"/>
            <a:r>
              <a:rPr lang="de-DE" dirty="0" err="1" smtClean="0"/>
              <a:t>iOS</a:t>
            </a:r>
            <a:r>
              <a:rPr lang="de-DE" dirty="0" smtClean="0"/>
              <a:t>, </a:t>
            </a:r>
            <a:r>
              <a:rPr lang="de-DE" dirty="0" err="1" smtClean="0"/>
              <a:t>some</a:t>
            </a:r>
            <a:r>
              <a:rPr lang="de-DE" dirty="0" smtClean="0"/>
              <a:t> </a:t>
            </a:r>
            <a:r>
              <a:rPr lang="de-DE" dirty="0" err="1" smtClean="0"/>
              <a:t>linux</a:t>
            </a:r>
            <a:endParaRPr lang="de-DE" dirty="0" smtClean="0"/>
          </a:p>
          <a:p>
            <a:pPr lvl="1"/>
            <a:endParaRPr lang="de-DE" dirty="0"/>
          </a:p>
          <a:p>
            <a:r>
              <a:rPr lang="de-DE" dirty="0" smtClean="0"/>
              <a:t>Not </a:t>
            </a:r>
            <a:r>
              <a:rPr lang="de-DE" dirty="0" err="1" smtClean="0"/>
              <a:t>always</a:t>
            </a:r>
            <a:r>
              <a:rPr lang="de-DE" dirty="0" smtClean="0"/>
              <a:t> </a:t>
            </a:r>
            <a:r>
              <a:rPr lang="de-DE" dirty="0" err="1" smtClean="0"/>
              <a:t>possible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load</a:t>
            </a:r>
            <a:r>
              <a:rPr lang="de-DE" dirty="0" smtClean="0"/>
              <a:t> same </a:t>
            </a:r>
            <a:r>
              <a:rPr lang="de-DE" dirty="0" err="1" smtClean="0"/>
              <a:t>symbol</a:t>
            </a:r>
            <a:r>
              <a:rPr lang="de-DE" dirty="0" smtClean="0"/>
              <a:t> </a:t>
            </a:r>
            <a:r>
              <a:rPr lang="de-DE" dirty="0" err="1" smtClean="0"/>
              <a:t>from</a:t>
            </a:r>
            <a:r>
              <a:rPr lang="de-DE" dirty="0" smtClean="0"/>
              <a:t> different </a:t>
            </a:r>
            <a:r>
              <a:rPr lang="de-DE" dirty="0" err="1" smtClean="0"/>
              <a:t>libs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80358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95536" y="1714798"/>
            <a:ext cx="8229600" cy="2362274"/>
          </a:xfrm>
        </p:spPr>
        <p:txBody>
          <a:bodyPr>
            <a:normAutofit/>
          </a:bodyPr>
          <a:lstStyle/>
          <a:p>
            <a:r>
              <a:rPr lang="de-DE" sz="6600" dirty="0" err="1"/>
              <a:t>W</a:t>
            </a:r>
            <a:r>
              <a:rPr lang="de-DE" sz="6600" dirty="0" err="1" smtClean="0"/>
              <a:t>hat‘s</a:t>
            </a:r>
            <a:r>
              <a:rPr lang="de-DE" sz="6600" dirty="0" smtClean="0"/>
              <a:t> </a:t>
            </a:r>
            <a:r>
              <a:rPr lang="de-DE" sz="6600" dirty="0" err="1" smtClean="0"/>
              <a:t>the</a:t>
            </a:r>
            <a:r>
              <a:rPr lang="de-DE" sz="6600" dirty="0"/>
              <a:t> </a:t>
            </a:r>
            <a:r>
              <a:rPr lang="de-DE" sz="6600" dirty="0" smtClean="0"/>
              <a:t>Solution?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4144915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58614"/>
            <a:ext cx="8229600" cy="850106"/>
          </a:xfrm>
        </p:spPr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: The </a:t>
            </a:r>
            <a:r>
              <a:rPr lang="de-DE" dirty="0" err="1"/>
              <a:t>Greeter</a:t>
            </a:r>
            <a:r>
              <a:rPr lang="de-DE" dirty="0"/>
              <a:t> </a:t>
            </a:r>
            <a:r>
              <a:rPr lang="de-DE" dirty="0" err="1"/>
              <a:t>Plugin</a:t>
            </a:r>
            <a:endParaRPr lang="de-DE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179512" y="4077072"/>
            <a:ext cx="8712968" cy="23042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Consolas" pitchFamily="49" charset="0"/>
                <a:cs typeface="Consolas" pitchFamily="49" charset="0"/>
              </a:rPr>
              <a:t>class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 Greeter </a:t>
            </a:r>
            <a:endParaRPr lang="en-US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{ </a:t>
            </a:r>
          </a:p>
          <a:p>
            <a:pPr marL="0" indent="0">
              <a:buNone/>
            </a:pPr>
            <a:r>
              <a:rPr lang="en-US" sz="1600" b="1" dirty="0" smtClean="0">
                <a:latin typeface="Consolas" pitchFamily="49" charset="0"/>
                <a:cs typeface="Consolas" pitchFamily="49" charset="0"/>
              </a:rPr>
              <a:t>  public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: </a:t>
            </a:r>
            <a:endParaRPr lang="en-US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   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virtual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~Greeter() </a:t>
            </a:r>
            <a:endParaRPr lang="en-US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   {} </a:t>
            </a:r>
            <a:endParaRPr lang="en-US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sz="8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   virtual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sayHello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() 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= 0; </a:t>
            </a:r>
            <a:endParaRPr lang="en-US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};</a:t>
            </a:r>
            <a:endParaRPr lang="de-DE" sz="1600" b="1" dirty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sz="1600" dirty="0">
              <a:latin typeface="Consolas" pitchFamily="49" charset="0"/>
              <a:cs typeface="Consolas" pitchFamily="49" charset="0"/>
            </a:endParaRPr>
          </a:p>
          <a:p>
            <a:pPr marL="457200" lvl="1" indent="0">
              <a:buNone/>
            </a:pPr>
            <a:endParaRPr lang="de-DE" dirty="0">
              <a:solidFill>
                <a:schemeClr val="tx2">
                  <a:lumMod val="75000"/>
                </a:schemeClr>
              </a:solidFill>
            </a:endParaRPr>
          </a:p>
          <a:p>
            <a:endParaRPr lang="de-DE" dirty="0"/>
          </a:p>
        </p:txBody>
      </p:sp>
      <p:sp>
        <p:nvSpPr>
          <p:cNvPr id="5" name="Inhaltsplatzhalter 2"/>
          <p:cNvSpPr txBox="1">
            <a:spLocks/>
          </p:cNvSpPr>
          <p:nvPr/>
        </p:nvSpPr>
        <p:spPr>
          <a:xfrm>
            <a:off x="179512" y="989112"/>
            <a:ext cx="8856984" cy="1935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smtClean="0"/>
              <a:t>The </a:t>
            </a:r>
            <a:r>
              <a:rPr lang="de-DE" dirty="0" err="1" smtClean="0"/>
              <a:t>Greeter</a:t>
            </a:r>
            <a:r>
              <a:rPr lang="de-DE" dirty="0" smtClean="0"/>
              <a:t> </a:t>
            </a:r>
            <a:r>
              <a:rPr lang="de-DE" dirty="0" err="1" smtClean="0"/>
              <a:t>Plugin</a:t>
            </a:r>
            <a:r>
              <a:rPr lang="de-DE" dirty="0" smtClean="0"/>
              <a:t> Interface</a:t>
            </a:r>
          </a:p>
          <a:p>
            <a:pPr lvl="1"/>
            <a:r>
              <a:rPr lang="de-DE" dirty="0" smtClean="0"/>
              <a:t>Classic OO design </a:t>
            </a:r>
            <a:r>
              <a:rPr lang="de-DE" dirty="0" err="1" smtClean="0"/>
              <a:t>using</a:t>
            </a:r>
            <a:r>
              <a:rPr lang="de-DE" dirty="0" smtClean="0"/>
              <a:t> </a:t>
            </a:r>
            <a:r>
              <a:rPr lang="de-DE" dirty="0" err="1" smtClean="0"/>
              <a:t>virtual</a:t>
            </a:r>
            <a:r>
              <a:rPr lang="de-DE" dirty="0" smtClean="0"/>
              <a:t> </a:t>
            </a:r>
            <a:r>
              <a:rPr lang="de-DE" dirty="0" err="1" smtClean="0"/>
              <a:t>base</a:t>
            </a:r>
            <a:r>
              <a:rPr lang="de-DE" dirty="0" smtClean="0"/>
              <a:t> </a:t>
            </a:r>
            <a:r>
              <a:rPr lang="de-DE" dirty="0" err="1" smtClean="0"/>
              <a:t>classes</a:t>
            </a:r>
            <a:endParaRPr lang="de-DE" dirty="0" smtClean="0"/>
          </a:p>
          <a:p>
            <a:pPr lvl="1"/>
            <a:r>
              <a:rPr lang="de-DE" dirty="0" err="1" smtClean="0"/>
              <a:t>Plugin</a:t>
            </a:r>
            <a:r>
              <a:rPr lang="de-DE" dirty="0" smtClean="0"/>
              <a:t> Interface </a:t>
            </a:r>
            <a:r>
              <a:rPr lang="de-DE" dirty="0" err="1" smtClean="0"/>
              <a:t>defined</a:t>
            </a:r>
            <a:r>
              <a:rPr lang="de-DE" dirty="0" smtClean="0"/>
              <a:t> in </a:t>
            </a:r>
            <a:r>
              <a:rPr lang="de-DE" dirty="0" err="1" smtClean="0"/>
              <a:t>header</a:t>
            </a:r>
            <a:endParaRPr lang="de-DE" dirty="0" smtClean="0"/>
          </a:p>
          <a:p>
            <a:pPr lvl="1"/>
            <a:r>
              <a:rPr lang="de-DE" dirty="0" err="1" smtClean="0"/>
              <a:t>Plugins</a:t>
            </a:r>
            <a:r>
              <a:rPr lang="de-DE" dirty="0" smtClean="0"/>
              <a:t> </a:t>
            </a:r>
            <a:r>
              <a:rPr lang="de-DE" dirty="0" err="1" smtClean="0"/>
              <a:t>implement</a:t>
            </a:r>
            <a:r>
              <a:rPr lang="de-DE" dirty="0" smtClean="0"/>
              <a:t> </a:t>
            </a:r>
            <a:r>
              <a:rPr lang="de-DE" dirty="0" err="1" smtClean="0"/>
              <a:t>this</a:t>
            </a:r>
            <a:r>
              <a:rPr lang="de-DE" dirty="0" smtClean="0"/>
              <a:t> </a:t>
            </a:r>
            <a:r>
              <a:rPr lang="de-DE" dirty="0" err="1" smtClean="0"/>
              <a:t>interface</a:t>
            </a:r>
            <a:endParaRPr lang="de-DE" dirty="0" smtClean="0"/>
          </a:p>
          <a:p>
            <a:pPr lvl="1"/>
            <a:endParaRPr lang="de-DE" dirty="0" smtClean="0"/>
          </a:p>
          <a:p>
            <a:pPr lvl="1"/>
            <a:endParaRPr lang="de-DE" dirty="0"/>
          </a:p>
        </p:txBody>
      </p:sp>
      <p:sp>
        <p:nvSpPr>
          <p:cNvPr id="8" name="Inhaltsplatzhalter 2"/>
          <p:cNvSpPr txBox="1">
            <a:spLocks/>
          </p:cNvSpPr>
          <p:nvPr/>
        </p:nvSpPr>
        <p:spPr>
          <a:xfrm>
            <a:off x="179512" y="3501008"/>
            <a:ext cx="8856984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000" u="sng" dirty="0" err="1" smtClean="0"/>
              <a:t>Greeter.h</a:t>
            </a:r>
            <a:endParaRPr lang="de-DE" sz="2000" u="sng" dirty="0"/>
          </a:p>
        </p:txBody>
      </p:sp>
    </p:spTree>
    <p:extLst>
      <p:ext uri="{BB962C8B-B14F-4D97-AF65-F5344CB8AC3E}">
        <p14:creationId xmlns:p14="http://schemas.microsoft.com/office/powerpoint/2010/main" val="2536750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58614"/>
            <a:ext cx="8229600" cy="850106"/>
          </a:xfrm>
        </p:spPr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: The </a:t>
            </a:r>
            <a:r>
              <a:rPr lang="de-DE" dirty="0" err="1"/>
              <a:t>Greeter</a:t>
            </a:r>
            <a:r>
              <a:rPr lang="de-DE" dirty="0"/>
              <a:t> </a:t>
            </a:r>
            <a:r>
              <a:rPr lang="de-DE" dirty="0" err="1"/>
              <a:t>Plugin</a:t>
            </a:r>
            <a:endParaRPr lang="en-US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179512" y="3140968"/>
            <a:ext cx="8856984" cy="36724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Consolas" pitchFamily="49" charset="0"/>
                <a:cs typeface="Consolas" pitchFamily="49" charset="0"/>
              </a:rPr>
              <a:t>class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EnglishGreeter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 : 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public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 Greeter </a:t>
            </a:r>
          </a:p>
          <a:p>
            <a:pPr marL="0" indent="0"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{ </a:t>
            </a:r>
          </a:p>
          <a:p>
            <a:pPr marL="0" indent="0">
              <a:buNone/>
            </a:pPr>
            <a:r>
              <a:rPr lang="en-US" sz="1600" b="1" dirty="0">
                <a:latin typeface="Consolas" pitchFamily="49" charset="0"/>
                <a:cs typeface="Consolas" pitchFamily="49" charset="0"/>
              </a:rPr>
              <a:t>  public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: </a:t>
            </a:r>
          </a:p>
          <a:p>
            <a:pPr marL="0" indent="0"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sayHello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() </a:t>
            </a:r>
          </a:p>
          <a:p>
            <a:pPr marL="0" indent="0"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    { 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std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::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cout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 &lt;&lt; </a:t>
            </a:r>
            <a:r>
              <a:rPr lang="en-US" sz="16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"Hello World"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; } </a:t>
            </a:r>
          </a:p>
          <a:p>
            <a:pPr marL="0" indent="0"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};</a:t>
            </a:r>
            <a:endParaRPr lang="de-DE" sz="1600" b="1" dirty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de-DE" sz="1600" dirty="0" smtClean="0">
              <a:solidFill>
                <a:schemeClr val="accent3">
                  <a:lumMod val="75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US" sz="1600" b="1" dirty="0" smtClean="0">
                <a:latin typeface="Consolas" pitchFamily="49" charset="0"/>
                <a:cs typeface="Consolas" pitchFamily="49" charset="0"/>
              </a:rPr>
              <a:t>static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BasicPlugin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EnglishGreeter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, Greeter&gt; _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enGreeter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"en"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); </a:t>
            </a:r>
            <a:endParaRPr lang="en-US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de-DE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US" sz="1600" b="1" dirty="0" smtClean="0">
                <a:latin typeface="Consolas" pitchFamily="49" charset="0"/>
                <a:cs typeface="Consolas" pitchFamily="49" charset="0"/>
              </a:rPr>
              <a:t>extern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"C"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 { </a:t>
            </a:r>
            <a:endParaRPr lang="en-US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EXPORT 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PluginId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* 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PluginList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[] = { &amp;_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enGreeter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 }; </a:t>
            </a:r>
            <a:endParaRPr lang="en-US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pPr marL="0" indent="0">
              <a:buNone/>
            </a:pPr>
            <a:endParaRPr lang="de-DE" sz="1600" dirty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de-DE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sz="1600" dirty="0">
              <a:latin typeface="Consolas" pitchFamily="49" charset="0"/>
              <a:cs typeface="Consolas" pitchFamily="49" charset="0"/>
            </a:endParaRPr>
          </a:p>
          <a:p>
            <a:pPr marL="457200" lvl="1" indent="0">
              <a:buNone/>
            </a:pPr>
            <a:endParaRPr lang="de-DE" dirty="0">
              <a:solidFill>
                <a:schemeClr val="tx2">
                  <a:lumMod val="75000"/>
                </a:schemeClr>
              </a:solidFill>
            </a:endParaRPr>
          </a:p>
          <a:p>
            <a:endParaRPr lang="de-DE" dirty="0"/>
          </a:p>
        </p:txBody>
      </p:sp>
      <p:sp>
        <p:nvSpPr>
          <p:cNvPr id="5" name="Inhaltsplatzhalter 2"/>
          <p:cNvSpPr txBox="1">
            <a:spLocks/>
          </p:cNvSpPr>
          <p:nvPr/>
        </p:nvSpPr>
        <p:spPr>
          <a:xfrm>
            <a:off x="179512" y="989112"/>
            <a:ext cx="8856984" cy="143177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smtClean="0"/>
              <a:t>The </a:t>
            </a:r>
            <a:r>
              <a:rPr lang="de-DE" dirty="0" err="1" smtClean="0"/>
              <a:t>Greeter</a:t>
            </a:r>
            <a:r>
              <a:rPr lang="de-DE" dirty="0" smtClean="0"/>
              <a:t> </a:t>
            </a:r>
            <a:r>
              <a:rPr lang="de-DE" dirty="0" err="1" smtClean="0"/>
              <a:t>Plugin</a:t>
            </a:r>
            <a:r>
              <a:rPr lang="de-DE" dirty="0" smtClean="0"/>
              <a:t> Implementation</a:t>
            </a:r>
          </a:p>
          <a:p>
            <a:pPr lvl="1"/>
            <a:r>
              <a:rPr lang="de-DE" dirty="0" smtClean="0">
                <a:solidFill>
                  <a:schemeClr val="accent5">
                    <a:lumMod val="75000"/>
                  </a:schemeClr>
                </a:solidFill>
              </a:rPr>
              <a:t>Exports a variable, not </a:t>
            </a:r>
            <a:r>
              <a:rPr lang="de-DE" dirty="0" err="1" smtClean="0">
                <a:solidFill>
                  <a:schemeClr val="accent5">
                    <a:lumMod val="75000"/>
                  </a:schemeClr>
                </a:solidFill>
              </a:rPr>
              <a:t>functions</a:t>
            </a:r>
            <a:r>
              <a:rPr lang="de-DE" dirty="0" smtClean="0">
                <a:solidFill>
                  <a:schemeClr val="accent5">
                    <a:lumMod val="75000"/>
                  </a:schemeClr>
                </a:solidFill>
              </a:rPr>
              <a:t> (also type </a:t>
            </a:r>
            <a:r>
              <a:rPr lang="de-DE" dirty="0" err="1" smtClean="0">
                <a:solidFill>
                  <a:schemeClr val="accent5">
                    <a:lumMod val="75000"/>
                  </a:schemeClr>
                </a:solidFill>
              </a:rPr>
              <a:t>safe</a:t>
            </a:r>
            <a:r>
              <a:rPr lang="de-DE" dirty="0" smtClean="0">
                <a:solidFill>
                  <a:schemeClr val="accent5">
                    <a:lumMod val="75000"/>
                  </a:schemeClr>
                </a:solidFill>
              </a:rPr>
              <a:t>!!!)</a:t>
            </a:r>
          </a:p>
          <a:p>
            <a:pPr lvl="1"/>
            <a:r>
              <a:rPr lang="de-DE" dirty="0" smtClean="0">
                <a:solidFill>
                  <a:schemeClr val="accent5">
                    <a:lumMod val="75000"/>
                  </a:schemeClr>
                </a:solidFill>
              </a:rPr>
              <a:t>C </a:t>
            </a:r>
            <a:r>
              <a:rPr lang="de-DE" dirty="0" err="1" smtClean="0">
                <a:solidFill>
                  <a:schemeClr val="accent5">
                    <a:lumMod val="75000"/>
                  </a:schemeClr>
                </a:solidFill>
              </a:rPr>
              <a:t>Linkage</a:t>
            </a:r>
            <a:r>
              <a:rPr lang="de-DE" dirty="0" smtClean="0">
                <a:solidFill>
                  <a:schemeClr val="accent5">
                    <a:lumMod val="75000"/>
                  </a:schemeClr>
                </a:solidFill>
              </a:rPr>
              <a:t>, </a:t>
            </a:r>
            <a:r>
              <a:rPr lang="de-DE" dirty="0" err="1" smtClean="0">
                <a:solidFill>
                  <a:schemeClr val="accent5">
                    <a:lumMod val="75000"/>
                  </a:schemeClr>
                </a:solidFill>
              </a:rPr>
              <a:t>even</a:t>
            </a:r>
            <a:r>
              <a:rPr lang="de-DE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accent5">
                    <a:lumMod val="75000"/>
                  </a:schemeClr>
                </a:solidFill>
              </a:rPr>
              <a:t>though</a:t>
            </a:r>
            <a:r>
              <a:rPr lang="de-DE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accent5">
                    <a:lumMod val="75000"/>
                  </a:schemeClr>
                </a:solidFill>
              </a:rPr>
              <a:t>Plugin</a:t>
            </a:r>
            <a:r>
              <a:rPr lang="de-DE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accent5">
                    <a:lumMod val="75000"/>
                  </a:schemeClr>
                </a:solidFill>
              </a:rPr>
              <a:t>is</a:t>
            </a:r>
            <a:r>
              <a:rPr lang="de-DE" dirty="0" smtClean="0">
                <a:solidFill>
                  <a:schemeClr val="accent5">
                    <a:lumMod val="75000"/>
                  </a:schemeClr>
                </a:solidFill>
              </a:rPr>
              <a:t> a C++ </a:t>
            </a:r>
            <a:r>
              <a:rPr lang="de-DE" dirty="0" err="1" smtClean="0">
                <a:solidFill>
                  <a:schemeClr val="accent5">
                    <a:lumMod val="75000"/>
                  </a:schemeClr>
                </a:solidFill>
              </a:rPr>
              <a:t>class</a:t>
            </a:r>
            <a:endParaRPr lang="de-DE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Inhaltsplatzhalter 2"/>
          <p:cNvSpPr txBox="1">
            <a:spLocks/>
          </p:cNvSpPr>
          <p:nvPr/>
        </p:nvSpPr>
        <p:spPr>
          <a:xfrm>
            <a:off x="179512" y="2636912"/>
            <a:ext cx="8856984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000" u="sng" dirty="0" smtClean="0"/>
              <a:t>EnglishGreeter.cpp  (</a:t>
            </a:r>
            <a:r>
              <a:rPr lang="de-DE" sz="2000" u="sng" dirty="0" err="1" smtClean="0"/>
              <a:t>built</a:t>
            </a:r>
            <a:r>
              <a:rPr lang="de-DE" sz="2000" u="sng" dirty="0" smtClean="0"/>
              <a:t> </a:t>
            </a:r>
            <a:r>
              <a:rPr lang="de-DE" sz="2000" u="sng" dirty="0" err="1" smtClean="0"/>
              <a:t>to</a:t>
            </a:r>
            <a:r>
              <a:rPr lang="de-DE" sz="2000" u="sng" dirty="0" smtClean="0"/>
              <a:t> plugin.so)</a:t>
            </a:r>
            <a:endParaRPr lang="de-DE" sz="2000" u="sng" dirty="0"/>
          </a:p>
        </p:txBody>
      </p:sp>
    </p:spTree>
    <p:extLst>
      <p:ext uri="{BB962C8B-B14F-4D97-AF65-F5344CB8AC3E}">
        <p14:creationId xmlns:p14="http://schemas.microsoft.com/office/powerpoint/2010/main" val="3197550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58614"/>
            <a:ext cx="8229600" cy="850106"/>
          </a:xfrm>
        </p:spPr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: The </a:t>
            </a:r>
            <a:r>
              <a:rPr lang="de-DE" dirty="0" err="1"/>
              <a:t>Greeter</a:t>
            </a:r>
            <a:r>
              <a:rPr lang="de-DE" dirty="0"/>
              <a:t> </a:t>
            </a:r>
            <a:r>
              <a:rPr lang="de-DE" dirty="0" err="1"/>
              <a:t>Plugin</a:t>
            </a:r>
            <a:endParaRPr lang="en-US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179512" y="3545632"/>
            <a:ext cx="4824536" cy="326774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DE" sz="1600" dirty="0" err="1" smtClean="0">
                <a:latin typeface="Consolas" pitchFamily="49" charset="0"/>
                <a:cs typeface="Consolas" pitchFamily="49" charset="0"/>
              </a:rPr>
              <a:t>PluginId</a:t>
            </a:r>
            <a:endParaRPr lang="de-DE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de-DE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  + </a:t>
            </a:r>
            <a:r>
              <a:rPr lang="de-DE" sz="1600" i="1" dirty="0" smtClean="0">
                <a:latin typeface="Consolas" pitchFamily="49" charset="0"/>
                <a:cs typeface="Consolas" pitchFamily="49" charset="0"/>
              </a:rPr>
              <a:t>type() : </a:t>
            </a:r>
            <a:r>
              <a:rPr lang="de-DE" sz="1600" i="1" dirty="0" err="1" smtClean="0">
                <a:latin typeface="Consolas" pitchFamily="49" charset="0"/>
                <a:cs typeface="Consolas" pitchFamily="49" charset="0"/>
              </a:rPr>
              <a:t>type_info</a:t>
            </a:r>
            <a:endParaRPr lang="de-DE" sz="1600" i="1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de-DE" sz="28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de-DE" sz="2800" dirty="0" smtClean="0">
                <a:latin typeface="Consolas" pitchFamily="49" charset="0"/>
                <a:cs typeface="Consolas" pitchFamily="49" charset="0"/>
              </a:rPr>
              <a:t>    ↑</a:t>
            </a:r>
            <a:endParaRPr lang="de-DE" sz="2800" dirty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de-DE" sz="1600" dirty="0" err="1" smtClean="0">
                <a:latin typeface="Consolas" pitchFamily="49" charset="0"/>
                <a:cs typeface="Consolas" pitchFamily="49" charset="0"/>
              </a:rPr>
              <a:t>Plugin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&lt;I&gt;</a:t>
            </a:r>
          </a:p>
          <a:p>
            <a:pPr marL="0" indent="0">
              <a:buNone/>
            </a:pPr>
            <a:r>
              <a:rPr lang="de-DE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  + type() </a:t>
            </a:r>
            <a:r>
              <a:rPr lang="de-DE" sz="1600" dirty="0">
                <a:latin typeface="Consolas" pitchFamily="49" charset="0"/>
                <a:cs typeface="Consolas" pitchFamily="49" charset="0"/>
              </a:rPr>
              <a:t>: </a:t>
            </a:r>
            <a:r>
              <a:rPr lang="de-DE" sz="1600" dirty="0" err="1" smtClean="0">
                <a:latin typeface="Consolas" pitchFamily="49" charset="0"/>
                <a:cs typeface="Consolas" pitchFamily="49" charset="0"/>
              </a:rPr>
              <a:t>type_info</a:t>
            </a:r>
            <a:endParaRPr lang="de-DE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de-DE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  + </a:t>
            </a:r>
            <a:r>
              <a:rPr lang="de-DE" sz="1600" i="1" dirty="0" err="1" smtClean="0">
                <a:latin typeface="Consolas" pitchFamily="49" charset="0"/>
                <a:cs typeface="Consolas" pitchFamily="49" charset="0"/>
              </a:rPr>
              <a:t>create</a:t>
            </a:r>
            <a:r>
              <a:rPr lang="de-DE" sz="1600" i="1" dirty="0" smtClean="0">
                <a:latin typeface="Consolas" pitchFamily="49" charset="0"/>
                <a:cs typeface="Consolas" pitchFamily="49" charset="0"/>
              </a:rPr>
              <a:t>() : I*</a:t>
            </a:r>
          </a:p>
          <a:p>
            <a:pPr marL="0" indent="0">
              <a:buNone/>
            </a:pPr>
            <a:r>
              <a:rPr lang="de-DE" sz="1600" i="1" dirty="0">
                <a:latin typeface="Consolas" pitchFamily="49" charset="0"/>
                <a:cs typeface="Consolas" pitchFamily="49" charset="0"/>
              </a:rPr>
              <a:t> </a:t>
            </a:r>
            <a:r>
              <a:rPr lang="de-DE" sz="1600" i="1" dirty="0" smtClean="0">
                <a:latin typeface="Consolas" pitchFamily="49" charset="0"/>
                <a:cs typeface="Consolas" pitchFamily="49" charset="0"/>
              </a:rPr>
              <a:t>  + </a:t>
            </a:r>
            <a:r>
              <a:rPr lang="de-DE" sz="1600" i="1" dirty="0" err="1" smtClean="0">
                <a:latin typeface="Consolas" pitchFamily="49" charset="0"/>
                <a:cs typeface="Consolas" pitchFamily="49" charset="0"/>
              </a:rPr>
              <a:t>feature</a:t>
            </a:r>
            <a:r>
              <a:rPr lang="de-DE" sz="1600" i="1" dirty="0" smtClean="0">
                <a:latin typeface="Consolas" pitchFamily="49" charset="0"/>
                <a:cs typeface="Consolas" pitchFamily="49" charset="0"/>
              </a:rPr>
              <a:t>() : </a:t>
            </a:r>
            <a:r>
              <a:rPr lang="de-DE" sz="1600" i="1" dirty="0" err="1" smtClean="0">
                <a:latin typeface="Consolas" pitchFamily="49" charset="0"/>
                <a:cs typeface="Consolas" pitchFamily="49" charset="0"/>
              </a:rPr>
              <a:t>string</a:t>
            </a:r>
            <a:endParaRPr lang="de-DE" sz="1600" i="1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de-DE" sz="28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de-DE" sz="2800" dirty="0" smtClean="0">
                <a:latin typeface="Consolas" pitchFamily="49" charset="0"/>
                <a:cs typeface="Consolas" pitchFamily="49" charset="0"/>
              </a:rPr>
              <a:t>    ↑</a:t>
            </a:r>
            <a:endParaRPr lang="de-DE" sz="1600" dirty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de-DE" sz="1600" dirty="0" err="1" smtClean="0">
                <a:latin typeface="Consolas" pitchFamily="49" charset="0"/>
                <a:cs typeface="Consolas" pitchFamily="49" charset="0"/>
              </a:rPr>
              <a:t>BasicPlugin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&lt;T, I&gt;</a:t>
            </a:r>
          </a:p>
          <a:p>
            <a:pPr marL="0" indent="0">
              <a:buNone/>
            </a:pPr>
            <a:r>
              <a:rPr lang="de-DE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  + </a:t>
            </a:r>
            <a:r>
              <a:rPr lang="de-DE" sz="1600" dirty="0" err="1" smtClean="0">
                <a:latin typeface="Consolas" pitchFamily="49" charset="0"/>
                <a:cs typeface="Consolas" pitchFamily="49" charset="0"/>
              </a:rPr>
              <a:t>create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() : I*</a:t>
            </a:r>
          </a:p>
          <a:p>
            <a:pPr marL="0" indent="0">
              <a:buNone/>
            </a:pPr>
            <a:r>
              <a:rPr lang="de-DE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  + </a:t>
            </a:r>
            <a:r>
              <a:rPr lang="de-DE" sz="1600" dirty="0" err="1" smtClean="0">
                <a:latin typeface="Consolas" pitchFamily="49" charset="0"/>
                <a:cs typeface="Consolas" pitchFamily="49" charset="0"/>
              </a:rPr>
              <a:t>feature</a:t>
            </a:r>
            <a:r>
              <a:rPr lang="de-DE" sz="1600" dirty="0" smtClean="0">
                <a:latin typeface="Consolas" pitchFamily="49" charset="0"/>
                <a:cs typeface="Consolas" pitchFamily="49" charset="0"/>
              </a:rPr>
              <a:t>() : </a:t>
            </a:r>
            <a:r>
              <a:rPr lang="de-DE" sz="1600" dirty="0" err="1" smtClean="0">
                <a:latin typeface="Consolas" pitchFamily="49" charset="0"/>
                <a:cs typeface="Consolas" pitchFamily="49" charset="0"/>
              </a:rPr>
              <a:t>string</a:t>
            </a:r>
            <a:endParaRPr lang="en-US" sz="1600" dirty="0">
              <a:latin typeface="Consolas" pitchFamily="49" charset="0"/>
              <a:cs typeface="Consolas" pitchFamily="49" charset="0"/>
            </a:endParaRPr>
          </a:p>
          <a:p>
            <a:pPr marL="457200" lvl="1" indent="0">
              <a:buNone/>
            </a:pPr>
            <a:endParaRPr lang="de-DE" dirty="0">
              <a:solidFill>
                <a:schemeClr val="tx2">
                  <a:lumMod val="75000"/>
                </a:schemeClr>
              </a:solidFill>
            </a:endParaRPr>
          </a:p>
          <a:p>
            <a:endParaRPr lang="de-DE" dirty="0"/>
          </a:p>
        </p:txBody>
      </p:sp>
      <p:sp>
        <p:nvSpPr>
          <p:cNvPr id="5" name="Inhaltsplatzhalter 2"/>
          <p:cNvSpPr txBox="1">
            <a:spLocks/>
          </p:cNvSpPr>
          <p:nvPr/>
        </p:nvSpPr>
        <p:spPr>
          <a:xfrm>
            <a:off x="179512" y="908720"/>
            <a:ext cx="8856984" cy="252028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The </a:t>
            </a:r>
            <a:r>
              <a:rPr lang="de-DE" dirty="0" err="1"/>
              <a:t>PluginId</a:t>
            </a:r>
            <a:endParaRPr lang="de-DE" dirty="0"/>
          </a:p>
          <a:p>
            <a:pPr lvl="1"/>
            <a:r>
              <a:rPr lang="de-DE" dirty="0" err="1"/>
              <a:t>Allows</a:t>
            </a:r>
            <a:r>
              <a:rPr lang="de-DE" dirty="0"/>
              <a:t> </a:t>
            </a:r>
            <a:r>
              <a:rPr lang="de-DE" dirty="0" err="1"/>
              <a:t>typesafe</a:t>
            </a:r>
            <a:r>
              <a:rPr lang="de-DE" dirty="0"/>
              <a:t> </a:t>
            </a:r>
            <a:r>
              <a:rPr lang="de-DE" dirty="0" err="1"/>
              <a:t>cast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derived</a:t>
            </a:r>
            <a:r>
              <a:rPr lang="de-DE" dirty="0"/>
              <a:t> </a:t>
            </a:r>
            <a:r>
              <a:rPr lang="de-DE" dirty="0" err="1"/>
              <a:t>Plugin</a:t>
            </a:r>
            <a:r>
              <a:rPr lang="de-DE" dirty="0"/>
              <a:t>&lt;I&gt;</a:t>
            </a:r>
          </a:p>
          <a:p>
            <a:r>
              <a:rPr lang="de-DE" dirty="0"/>
              <a:t>The </a:t>
            </a:r>
            <a:r>
              <a:rPr lang="de-DE" dirty="0" err="1"/>
              <a:t>Plugin</a:t>
            </a:r>
            <a:r>
              <a:rPr lang="de-DE" dirty="0"/>
              <a:t>&lt;I&gt;</a:t>
            </a:r>
          </a:p>
          <a:p>
            <a:pPr lvl="1"/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factory</a:t>
            </a:r>
            <a:r>
              <a:rPr lang="de-DE" dirty="0"/>
              <a:t> </a:t>
            </a:r>
            <a:r>
              <a:rPr lang="de-DE" dirty="0" err="1"/>
              <a:t>interface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create</a:t>
            </a:r>
            <a:r>
              <a:rPr lang="de-DE" dirty="0"/>
              <a:t> </a:t>
            </a:r>
            <a:r>
              <a:rPr lang="de-DE" dirty="0" err="1"/>
              <a:t>objects</a:t>
            </a:r>
            <a:r>
              <a:rPr lang="de-DE" dirty="0"/>
              <a:t> </a:t>
            </a:r>
            <a:r>
              <a:rPr lang="de-DE" dirty="0" err="1"/>
              <a:t>implementing</a:t>
            </a:r>
            <a:r>
              <a:rPr lang="de-DE" dirty="0"/>
              <a:t> </a:t>
            </a:r>
            <a:r>
              <a:rPr lang="de-DE" dirty="0" smtClean="0"/>
              <a:t>I</a:t>
            </a:r>
          </a:p>
          <a:p>
            <a:r>
              <a:rPr lang="de-DE" dirty="0" smtClean="0"/>
              <a:t>The </a:t>
            </a:r>
            <a:r>
              <a:rPr lang="de-DE" dirty="0" err="1" smtClean="0"/>
              <a:t>BasicPlugin</a:t>
            </a:r>
            <a:r>
              <a:rPr lang="de-DE" dirty="0" smtClean="0"/>
              <a:t>&lt;T, I&gt; </a:t>
            </a:r>
          </a:p>
          <a:p>
            <a:pPr lvl="1"/>
            <a:r>
              <a:rPr lang="de-DE" dirty="0" err="1" smtClean="0"/>
              <a:t>Is</a:t>
            </a:r>
            <a:r>
              <a:rPr lang="de-DE" dirty="0" smtClean="0"/>
              <a:t> a </a:t>
            </a:r>
            <a:r>
              <a:rPr lang="de-DE" dirty="0" err="1" smtClean="0"/>
              <a:t>factory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create</a:t>
            </a:r>
            <a:r>
              <a:rPr lang="de-DE" dirty="0" smtClean="0"/>
              <a:t> T </a:t>
            </a:r>
            <a:r>
              <a:rPr lang="de-DE" dirty="0" err="1" smtClean="0"/>
              <a:t>implementing</a:t>
            </a:r>
            <a:r>
              <a:rPr lang="de-DE" dirty="0" smtClean="0"/>
              <a:t> I</a:t>
            </a:r>
          </a:p>
          <a:p>
            <a:pPr lvl="1"/>
            <a:r>
              <a:rPr lang="de-DE" dirty="0">
                <a:solidFill>
                  <a:schemeClr val="accent5">
                    <a:lumMod val="75000"/>
                  </a:schemeClr>
                </a:solidFill>
              </a:rPr>
              <a:t>Normal </a:t>
            </a:r>
            <a:r>
              <a:rPr lang="de-DE" dirty="0" err="1">
                <a:solidFill>
                  <a:schemeClr val="accent5">
                    <a:lumMod val="75000"/>
                  </a:schemeClr>
                </a:solidFill>
              </a:rPr>
              <a:t>Ctor</a:t>
            </a:r>
            <a:r>
              <a:rPr lang="de-DE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de-DE" dirty="0" err="1">
                <a:solidFill>
                  <a:schemeClr val="accent5">
                    <a:lumMod val="75000"/>
                  </a:schemeClr>
                </a:solidFill>
              </a:rPr>
              <a:t>instead</a:t>
            </a:r>
            <a:r>
              <a:rPr lang="de-DE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de-DE" dirty="0" err="1">
                <a:solidFill>
                  <a:schemeClr val="accent5">
                    <a:lumMod val="75000"/>
                  </a:schemeClr>
                </a:solidFill>
              </a:rPr>
              <a:t>of</a:t>
            </a:r>
            <a:r>
              <a:rPr lang="de-DE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accent5">
                    <a:lumMod val="75000"/>
                  </a:schemeClr>
                </a:solidFill>
              </a:rPr>
              <a:t>init</a:t>
            </a:r>
            <a:r>
              <a:rPr lang="de-DE" dirty="0" smtClean="0">
                <a:solidFill>
                  <a:schemeClr val="accent5">
                    <a:lumMod val="75000"/>
                  </a:schemeClr>
                </a:solidFill>
              </a:rPr>
              <a:t>/</a:t>
            </a:r>
            <a:r>
              <a:rPr lang="de-DE" dirty="0" err="1" smtClean="0">
                <a:solidFill>
                  <a:schemeClr val="accent5">
                    <a:lumMod val="75000"/>
                  </a:schemeClr>
                </a:solidFill>
              </a:rPr>
              <a:t>fini</a:t>
            </a:r>
            <a:endParaRPr lang="de-DE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358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58614"/>
            <a:ext cx="8229600" cy="850106"/>
          </a:xfrm>
        </p:spPr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: The </a:t>
            </a:r>
            <a:r>
              <a:rPr lang="de-DE" dirty="0" err="1"/>
              <a:t>Greeter</a:t>
            </a:r>
            <a:r>
              <a:rPr lang="de-DE" dirty="0"/>
              <a:t> </a:t>
            </a:r>
            <a:r>
              <a:rPr lang="de-DE" dirty="0" err="1"/>
              <a:t>Plugin</a:t>
            </a:r>
            <a:endParaRPr lang="en-US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179512" y="4077072"/>
            <a:ext cx="8856984" cy="27363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PluginManager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&lt;Greeter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&gt; manager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;</a:t>
            </a:r>
            <a:endParaRPr lang="de-DE" sz="1600" dirty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manager.loadPlugin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"</a:t>
            </a:r>
            <a:r>
              <a:rPr lang="en-US" sz="1600" dirty="0" err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PluginList</a:t>
            </a:r>
            <a:r>
              <a:rPr lang="en-US" sz="16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"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16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"/path/to/plugin.so"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); </a:t>
            </a:r>
            <a:endParaRPr lang="en-US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de-DE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Greeter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* 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greeter = 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manager.create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"en"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); </a:t>
            </a:r>
            <a:endParaRPr lang="en-US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US" sz="1600" b="1" dirty="0" smtClean="0">
                <a:latin typeface="Consolas" pitchFamily="49" charset="0"/>
                <a:cs typeface="Consolas" pitchFamily="49" charset="0"/>
              </a:rPr>
              <a:t>if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(greeter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) </a:t>
            </a:r>
            <a:endParaRPr lang="en-US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{ </a:t>
            </a:r>
          </a:p>
          <a:p>
            <a:pPr marL="0" indent="0">
              <a:buNone/>
            </a:pP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  greeter-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&gt;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sayHello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(); </a:t>
            </a:r>
            <a:endParaRPr lang="en-US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manager.destroy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(greeter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); </a:t>
            </a:r>
            <a:endParaRPr lang="en-US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}</a:t>
            </a:r>
            <a:endParaRPr lang="de-DE" sz="1600" dirty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de-DE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sz="16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sz="1600" dirty="0">
              <a:latin typeface="Consolas" pitchFamily="49" charset="0"/>
              <a:cs typeface="Consolas" pitchFamily="49" charset="0"/>
            </a:endParaRPr>
          </a:p>
          <a:p>
            <a:pPr marL="457200" lvl="1" indent="0">
              <a:buNone/>
            </a:pPr>
            <a:endParaRPr lang="de-DE" dirty="0">
              <a:solidFill>
                <a:schemeClr val="tx2">
                  <a:lumMod val="75000"/>
                </a:schemeClr>
              </a:solidFill>
            </a:endParaRPr>
          </a:p>
          <a:p>
            <a:endParaRPr lang="de-DE" dirty="0"/>
          </a:p>
        </p:txBody>
      </p:sp>
      <p:sp>
        <p:nvSpPr>
          <p:cNvPr id="6" name="Inhaltsplatzhalter 2"/>
          <p:cNvSpPr txBox="1">
            <a:spLocks/>
          </p:cNvSpPr>
          <p:nvPr/>
        </p:nvSpPr>
        <p:spPr>
          <a:xfrm>
            <a:off x="179512" y="989112"/>
            <a:ext cx="8856984" cy="27279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smtClean="0"/>
              <a:t>The </a:t>
            </a:r>
            <a:r>
              <a:rPr lang="de-DE" dirty="0" err="1" smtClean="0"/>
              <a:t>PluginManager</a:t>
            </a:r>
            <a:endParaRPr lang="de-DE" dirty="0" smtClean="0"/>
          </a:p>
          <a:p>
            <a:pPr lvl="1"/>
            <a:r>
              <a:rPr lang="de-DE" dirty="0" err="1" smtClean="0"/>
              <a:t>Loads</a:t>
            </a:r>
            <a:r>
              <a:rPr lang="de-DE" dirty="0" smtClean="0"/>
              <a:t> an </a:t>
            </a:r>
            <a:r>
              <a:rPr lang="de-DE" dirty="0" err="1" smtClean="0"/>
              <a:t>array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PluginId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keeps</a:t>
            </a:r>
            <a:r>
              <a:rPr lang="de-DE" dirty="0" smtClean="0"/>
              <a:t> all </a:t>
            </a:r>
            <a:r>
              <a:rPr lang="de-DE" dirty="0" err="1" smtClean="0"/>
              <a:t>which</a:t>
            </a:r>
            <a:r>
              <a:rPr lang="de-DE" dirty="0" smtClean="0"/>
              <a:t> </a:t>
            </a:r>
            <a:r>
              <a:rPr lang="de-DE" dirty="0" err="1" smtClean="0"/>
              <a:t>are</a:t>
            </a:r>
            <a:r>
              <a:rPr lang="de-DE" dirty="0" smtClean="0"/>
              <a:t> </a:t>
            </a:r>
            <a:r>
              <a:rPr lang="de-DE" dirty="0" err="1" smtClean="0"/>
              <a:t>convertible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Plugin</a:t>
            </a:r>
            <a:r>
              <a:rPr lang="de-DE" dirty="0" smtClean="0"/>
              <a:t>&lt;</a:t>
            </a:r>
            <a:r>
              <a:rPr lang="de-DE" dirty="0" err="1" smtClean="0"/>
              <a:t>Greeter</a:t>
            </a:r>
            <a:r>
              <a:rPr lang="de-DE" dirty="0" smtClean="0"/>
              <a:t>&gt;</a:t>
            </a:r>
          </a:p>
          <a:p>
            <a:pPr lvl="1"/>
            <a:r>
              <a:rPr lang="de-DE" dirty="0" smtClean="0">
                <a:solidFill>
                  <a:schemeClr val="accent5">
                    <a:lumMod val="75000"/>
                  </a:schemeClr>
                </a:solidFill>
              </a:rPr>
              <a:t>Different </a:t>
            </a:r>
            <a:r>
              <a:rPr lang="de-DE" dirty="0" err="1" smtClean="0">
                <a:solidFill>
                  <a:schemeClr val="accent5">
                    <a:lumMod val="75000"/>
                  </a:schemeClr>
                </a:solidFill>
              </a:rPr>
              <a:t>symbol</a:t>
            </a:r>
            <a:r>
              <a:rPr lang="de-DE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accent5">
                    <a:lumMod val="75000"/>
                  </a:schemeClr>
                </a:solidFill>
              </a:rPr>
              <a:t>names</a:t>
            </a:r>
            <a:r>
              <a:rPr lang="de-DE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accent5">
                    <a:lumMod val="75000"/>
                  </a:schemeClr>
                </a:solidFill>
              </a:rPr>
              <a:t>can</a:t>
            </a:r>
            <a:r>
              <a:rPr lang="de-DE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accent5">
                    <a:lumMod val="75000"/>
                  </a:schemeClr>
                </a:solidFill>
              </a:rPr>
              <a:t>be</a:t>
            </a:r>
            <a:r>
              <a:rPr lang="de-DE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accent5">
                    <a:lumMod val="75000"/>
                  </a:schemeClr>
                </a:solidFill>
              </a:rPr>
              <a:t>resolved</a:t>
            </a:r>
            <a:r>
              <a:rPr lang="de-DE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accent5">
                    <a:lumMod val="75000"/>
                  </a:schemeClr>
                </a:solidFill>
              </a:rPr>
              <a:t>for</a:t>
            </a:r>
            <a:r>
              <a:rPr lang="de-DE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accent5">
                    <a:lumMod val="75000"/>
                  </a:schemeClr>
                </a:solidFill>
              </a:rPr>
              <a:t>each</a:t>
            </a:r>
            <a:r>
              <a:rPr lang="de-DE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accent5">
                    <a:lumMod val="75000"/>
                  </a:schemeClr>
                </a:solidFill>
              </a:rPr>
              <a:t>plugin</a:t>
            </a:r>
            <a:r>
              <a:rPr lang="de-DE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accent5">
                    <a:lumMod val="75000"/>
                  </a:schemeClr>
                </a:solidFill>
              </a:rPr>
              <a:t>library</a:t>
            </a:r>
            <a:endParaRPr lang="de-DE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lvl="1"/>
            <a:r>
              <a:rPr lang="de-DE" dirty="0" smtClean="0"/>
              <a:t>Can find </a:t>
            </a:r>
            <a:r>
              <a:rPr lang="de-DE" dirty="0" err="1" smtClean="0"/>
              <a:t>Plugin</a:t>
            </a:r>
            <a:r>
              <a:rPr lang="de-DE" dirty="0" smtClean="0"/>
              <a:t>&lt;</a:t>
            </a:r>
            <a:r>
              <a:rPr lang="de-DE" dirty="0" err="1" smtClean="0"/>
              <a:t>Greeter</a:t>
            </a:r>
            <a:r>
              <a:rPr lang="de-DE" dirty="0" smtClean="0"/>
              <a:t>&gt; </a:t>
            </a:r>
            <a:r>
              <a:rPr lang="de-DE" dirty="0" err="1" smtClean="0"/>
              <a:t>by</a:t>
            </a:r>
            <a:r>
              <a:rPr lang="de-DE" dirty="0" smtClean="0"/>
              <a:t> </a:t>
            </a:r>
            <a:r>
              <a:rPr lang="de-DE" dirty="0" err="1" smtClean="0"/>
              <a:t>feature</a:t>
            </a:r>
            <a:r>
              <a:rPr lang="de-DE" dirty="0" smtClean="0"/>
              <a:t> </a:t>
            </a:r>
            <a:r>
              <a:rPr lang="de-DE" dirty="0" err="1" smtClean="0"/>
              <a:t>string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create</a:t>
            </a:r>
            <a:r>
              <a:rPr lang="de-DE" dirty="0" smtClean="0"/>
              <a:t> </a:t>
            </a:r>
            <a:r>
              <a:rPr lang="de-DE" dirty="0" err="1" smtClean="0"/>
              <a:t>instances</a:t>
            </a:r>
            <a:endParaRPr lang="de-DE" dirty="0" smtClean="0"/>
          </a:p>
          <a:p>
            <a:pPr lvl="1"/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69300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58614"/>
            <a:ext cx="8229600" cy="850106"/>
          </a:xfrm>
        </p:spPr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: The </a:t>
            </a:r>
            <a:r>
              <a:rPr lang="de-DE" dirty="0" err="1"/>
              <a:t>Greeter</a:t>
            </a:r>
            <a:r>
              <a:rPr lang="de-DE" dirty="0"/>
              <a:t> </a:t>
            </a:r>
            <a:r>
              <a:rPr lang="de-DE" dirty="0" err="1"/>
              <a:t>Plugin</a:t>
            </a:r>
            <a:endParaRPr lang="en-US" dirty="0"/>
          </a:p>
        </p:txBody>
      </p:sp>
      <p:sp>
        <p:nvSpPr>
          <p:cNvPr id="17" name="Inhaltsplatzhalter 2"/>
          <p:cNvSpPr>
            <a:spLocks noGrp="1"/>
          </p:cNvSpPr>
          <p:nvPr>
            <p:ph idx="1"/>
          </p:nvPr>
        </p:nvSpPr>
        <p:spPr>
          <a:xfrm>
            <a:off x="179512" y="1052736"/>
            <a:ext cx="8856984" cy="5503341"/>
          </a:xfrm>
        </p:spPr>
        <p:txBody>
          <a:bodyPr>
            <a:normAutofit/>
          </a:bodyPr>
          <a:lstStyle/>
          <a:p>
            <a:r>
              <a:rPr lang="de-DE" dirty="0" smtClean="0"/>
              <a:t>Multiple </a:t>
            </a:r>
            <a:r>
              <a:rPr lang="de-DE" dirty="0" err="1" smtClean="0"/>
              <a:t>plugins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types</a:t>
            </a:r>
            <a:r>
              <a:rPr lang="de-DE" dirty="0" smtClean="0"/>
              <a:t> in </a:t>
            </a:r>
            <a:r>
              <a:rPr lang="de-DE" dirty="0" err="1" smtClean="0"/>
              <a:t>one</a:t>
            </a:r>
            <a:r>
              <a:rPr lang="de-DE" dirty="0" smtClean="0"/>
              <a:t> DLL</a:t>
            </a:r>
          </a:p>
          <a:p>
            <a:r>
              <a:rPr lang="de-DE" dirty="0" err="1" smtClean="0">
                <a:solidFill>
                  <a:schemeClr val="accent5">
                    <a:lumMod val="75000"/>
                  </a:schemeClr>
                </a:solidFill>
              </a:rPr>
              <a:t>Allows</a:t>
            </a:r>
            <a:r>
              <a:rPr lang="de-DE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accent5">
                    <a:lumMod val="75000"/>
                  </a:schemeClr>
                </a:solidFill>
              </a:rPr>
              <a:t>Builtins</a:t>
            </a:r>
            <a:r>
              <a:rPr lang="de-DE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accent5">
                    <a:lumMod val="75000"/>
                  </a:schemeClr>
                </a:solidFill>
              </a:rPr>
              <a:t>where</a:t>
            </a:r>
            <a:r>
              <a:rPr lang="de-DE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accent5">
                    <a:lumMod val="75000"/>
                  </a:schemeClr>
                </a:solidFill>
              </a:rPr>
              <a:t>plugins</a:t>
            </a:r>
            <a:r>
              <a:rPr lang="de-DE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accent5">
                    <a:lumMod val="75000"/>
                  </a:schemeClr>
                </a:solidFill>
              </a:rPr>
              <a:t>aren‘t</a:t>
            </a:r>
            <a:r>
              <a:rPr lang="de-DE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accent5">
                    <a:lumMod val="75000"/>
                  </a:schemeClr>
                </a:solidFill>
              </a:rPr>
              <a:t>possible</a:t>
            </a:r>
            <a:endParaRPr lang="de-DE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de-DE" dirty="0" smtClean="0"/>
          </a:p>
          <a:p>
            <a:pPr marL="0" indent="0">
              <a:buNone/>
            </a:pPr>
            <a:endParaRPr lang="de-DE" dirty="0" smtClean="0"/>
          </a:p>
          <a:p>
            <a:pPr marL="0" indent="0">
              <a:buNone/>
            </a:pPr>
            <a:r>
              <a:rPr lang="de-DE" sz="2400" b="1" u="sng" dirty="0" err="1" smtClean="0"/>
              <a:t>Builtin</a:t>
            </a:r>
            <a:r>
              <a:rPr lang="de-DE" sz="2400" b="1" u="sng" dirty="0" smtClean="0"/>
              <a:t> </a:t>
            </a:r>
            <a:r>
              <a:rPr lang="de-DE" sz="2400" b="1" u="sng" dirty="0" err="1" smtClean="0"/>
              <a:t>Example</a:t>
            </a:r>
            <a:r>
              <a:rPr lang="de-DE" sz="2400" b="1" u="sng" dirty="0" smtClean="0"/>
              <a:t>:</a:t>
            </a:r>
            <a:endParaRPr lang="de-DE" sz="2400" b="1" u="sng" dirty="0"/>
          </a:p>
          <a:p>
            <a:pPr marL="0" indent="0">
              <a:buNone/>
            </a:pPr>
            <a:r>
              <a:rPr lang="de-DE" sz="2000" dirty="0" err="1" smtClean="0">
                <a:latin typeface="Consolas" pitchFamily="49" charset="0"/>
                <a:cs typeface="Consolas" pitchFamily="49" charset="0"/>
              </a:rPr>
              <a:t>BasicPlugin</a:t>
            </a:r>
            <a:r>
              <a:rPr lang="de-DE" sz="20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de-DE" sz="2000" dirty="0" err="1" smtClean="0">
                <a:latin typeface="Consolas" pitchFamily="49" charset="0"/>
                <a:cs typeface="Consolas" pitchFamily="49" charset="0"/>
              </a:rPr>
              <a:t>GermanGreeter</a:t>
            </a:r>
            <a:r>
              <a:rPr lang="de-DE" sz="2000" dirty="0" smtClean="0">
                <a:latin typeface="Consolas" pitchFamily="49" charset="0"/>
                <a:cs typeface="Consolas" pitchFamily="49" charset="0"/>
              </a:rPr>
              <a:t>, </a:t>
            </a:r>
            <a:r>
              <a:rPr lang="de-DE" sz="2000" dirty="0" err="1" smtClean="0">
                <a:latin typeface="Consolas" pitchFamily="49" charset="0"/>
                <a:cs typeface="Consolas" pitchFamily="49" charset="0"/>
              </a:rPr>
              <a:t>Greeter</a:t>
            </a:r>
            <a:r>
              <a:rPr lang="de-DE" sz="2000" dirty="0" smtClean="0">
                <a:latin typeface="Consolas" pitchFamily="49" charset="0"/>
                <a:cs typeface="Consolas" pitchFamily="49" charset="0"/>
              </a:rPr>
              <a:t>&gt; </a:t>
            </a:r>
            <a:r>
              <a:rPr lang="de-DE" sz="2000" dirty="0" err="1" smtClean="0">
                <a:latin typeface="Consolas" pitchFamily="49" charset="0"/>
                <a:cs typeface="Consolas" pitchFamily="49" charset="0"/>
              </a:rPr>
              <a:t>deGreeter</a:t>
            </a:r>
            <a:r>
              <a:rPr lang="de-DE" sz="2000" dirty="0" smtClean="0">
                <a:latin typeface="Consolas" pitchFamily="49" charset="0"/>
                <a:cs typeface="Consolas" pitchFamily="49" charset="0"/>
              </a:rPr>
              <a:t>;</a:t>
            </a:r>
          </a:p>
          <a:p>
            <a:pPr marL="0" indent="0">
              <a:buNone/>
            </a:pPr>
            <a:endParaRPr lang="de-DE" sz="20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de-DE" sz="2000" dirty="0" err="1" smtClean="0">
                <a:latin typeface="Consolas" pitchFamily="49" charset="0"/>
                <a:cs typeface="Consolas" pitchFamily="49" charset="0"/>
              </a:rPr>
              <a:t>PluginManager</a:t>
            </a:r>
            <a:r>
              <a:rPr lang="de-DE" sz="20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de-DE" sz="2000" dirty="0" err="1" smtClean="0">
                <a:latin typeface="Consolas" pitchFamily="49" charset="0"/>
                <a:cs typeface="Consolas" pitchFamily="49" charset="0"/>
              </a:rPr>
              <a:t>Greeter</a:t>
            </a:r>
            <a:r>
              <a:rPr lang="de-DE" sz="2000" dirty="0" smtClean="0">
                <a:latin typeface="Consolas" pitchFamily="49" charset="0"/>
                <a:cs typeface="Consolas" pitchFamily="49" charset="0"/>
              </a:rPr>
              <a:t>&gt; </a:t>
            </a:r>
            <a:r>
              <a:rPr lang="de-DE" sz="2000" dirty="0" err="1" smtClean="0">
                <a:latin typeface="Consolas" pitchFamily="49" charset="0"/>
                <a:cs typeface="Consolas" pitchFamily="49" charset="0"/>
              </a:rPr>
              <a:t>manager</a:t>
            </a:r>
            <a:r>
              <a:rPr lang="de-DE" sz="2000" dirty="0" smtClean="0">
                <a:latin typeface="Consolas" pitchFamily="49" charset="0"/>
                <a:cs typeface="Consolas" pitchFamily="49" charset="0"/>
              </a:rPr>
              <a:t>;</a:t>
            </a:r>
          </a:p>
          <a:p>
            <a:pPr marL="0" indent="0">
              <a:buNone/>
            </a:pPr>
            <a:r>
              <a:rPr lang="de-DE" sz="2000" dirty="0" err="1">
                <a:latin typeface="Consolas" pitchFamily="49" charset="0"/>
                <a:cs typeface="Consolas" pitchFamily="49" charset="0"/>
              </a:rPr>
              <a:t>m</a:t>
            </a:r>
            <a:r>
              <a:rPr lang="de-DE" sz="2000" dirty="0" err="1" smtClean="0">
                <a:latin typeface="Consolas" pitchFamily="49" charset="0"/>
                <a:cs typeface="Consolas" pitchFamily="49" charset="0"/>
              </a:rPr>
              <a:t>anager.registerPlugin</a:t>
            </a:r>
            <a:r>
              <a:rPr lang="de-DE" sz="2000" dirty="0" smtClean="0">
                <a:latin typeface="Consolas" pitchFamily="49" charset="0"/>
                <a:cs typeface="Consolas" pitchFamily="49" charset="0"/>
              </a:rPr>
              <a:t>(</a:t>
            </a:r>
            <a:r>
              <a:rPr lang="de-DE" sz="2000" dirty="0" err="1" smtClean="0">
                <a:latin typeface="Consolas" pitchFamily="49" charset="0"/>
                <a:cs typeface="Consolas" pitchFamily="49" charset="0"/>
              </a:rPr>
              <a:t>deGreeter</a:t>
            </a:r>
            <a:r>
              <a:rPr lang="de-DE" sz="2000" dirty="0" smtClean="0">
                <a:latin typeface="Consolas" pitchFamily="49" charset="0"/>
                <a:cs typeface="Consolas" pitchFamily="49" charset="0"/>
              </a:rPr>
              <a:t>);</a:t>
            </a:r>
            <a:endParaRPr lang="de-DE" sz="2000" dirty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84653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641</Words>
  <Application>Microsoft Office PowerPoint</Application>
  <PresentationFormat>Bildschirmpräsentation (4:3)</PresentationFormat>
  <Paragraphs>152</Paragraphs>
  <Slides>13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4" baseType="lpstr">
      <vt:lpstr>Larissa</vt:lpstr>
      <vt:lpstr>Library Loading and Plugins</vt:lpstr>
      <vt:lpstr>Shared Libraries (Win32)</vt:lpstr>
      <vt:lpstr>Shared Libraries (POSIX)</vt:lpstr>
      <vt:lpstr>Shared Libraries (portable)</vt:lpstr>
      <vt:lpstr>What‘s the real Problem?</vt:lpstr>
      <vt:lpstr>What‘s the real Problem?</vt:lpstr>
      <vt:lpstr>What‘s the real Problem?</vt:lpstr>
      <vt:lpstr>What‘s the Solution?</vt:lpstr>
      <vt:lpstr>Example: The Greeter Plugin</vt:lpstr>
      <vt:lpstr>Example: The Greeter Plugin</vt:lpstr>
      <vt:lpstr>Example: The Greeter Plugin</vt:lpstr>
      <vt:lpstr>Example: The Greeter Plugin</vt:lpstr>
      <vt:lpstr>Example: The Greeter Plugin</vt:lpstr>
    </vt:vector>
  </TitlesOfParts>
  <Company>Bruker Optik GmbH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Duerner Marc</dc:creator>
  <cp:lastModifiedBy>Duerner Marc</cp:lastModifiedBy>
  <cp:revision>55</cp:revision>
  <cp:lastPrinted>2013-07-04T14:02:19Z</cp:lastPrinted>
  <dcterms:created xsi:type="dcterms:W3CDTF">2012-05-24T07:48:53Z</dcterms:created>
  <dcterms:modified xsi:type="dcterms:W3CDTF">2013-11-08T12:29:13Z</dcterms:modified>
</cp:coreProperties>
</file>