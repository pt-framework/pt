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6"/>
  </p:handoutMasterIdLst>
  <p:sldIdLst>
    <p:sldId id="256" r:id="rId2"/>
    <p:sldId id="265" r:id="rId3"/>
    <p:sldId id="266" r:id="rId4"/>
    <p:sldId id="268" r:id="rId5"/>
    <p:sldId id="279" r:id="rId6"/>
    <p:sldId id="269" r:id="rId7"/>
    <p:sldId id="270" r:id="rId8"/>
    <p:sldId id="271" r:id="rId9"/>
    <p:sldId id="278" r:id="rId10"/>
    <p:sldId id="272" r:id="rId11"/>
    <p:sldId id="273" r:id="rId12"/>
    <p:sldId id="277" r:id="rId13"/>
    <p:sldId id="274" r:id="rId14"/>
    <p:sldId id="276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4957" autoAdjust="0"/>
    <p:restoredTop sz="94660"/>
  </p:normalViewPr>
  <p:slideViewPr>
    <p:cSldViewPr>
      <p:cViewPr varScale="1">
        <p:scale>
          <a:sx n="127" d="100"/>
          <a:sy n="127" d="100"/>
        </p:scale>
        <p:origin x="-96" y="-1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4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7E3084-EA0B-40F1-AB9E-F0831A9C9EFC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4" y="868521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1AED9B-B819-426B-B7BA-36E6F05163A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98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596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286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106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03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43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21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066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811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39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71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383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FEB0A2-9E0E-4885-91D3-6DE54AE15078}" type="datetimeFigureOut">
              <a:rPr lang="en-US" smtClean="0"/>
              <a:t>11/11/2013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B15B48-600C-4C34-96E2-CE7BD4D0D0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6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smtClean="0"/>
              <a:t>Library </a:t>
            </a:r>
            <a:r>
              <a:rPr lang="de-DE" dirty="0" err="1" smtClean="0"/>
              <a:t>Loading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Plugins</a:t>
            </a:r>
            <a:endParaRPr lang="en-US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Marc </a:t>
            </a:r>
            <a:r>
              <a:rPr lang="de-DE" dirty="0" err="1" smtClean="0"/>
              <a:t>Dürner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918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 smtClean="0"/>
              <a:t>Shared</a:t>
            </a:r>
            <a:r>
              <a:rPr lang="de-DE" dirty="0" smtClean="0"/>
              <a:t> Libraries (Win32)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std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::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basic_string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&lt;TCHAR&gt;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path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= _T(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some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/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path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/to.dll“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);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HANDLE h = </a:t>
            </a: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LoadLibrary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 </a:t>
            </a: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tpath.c_str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() );</a:t>
            </a: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v</a:t>
            </a:r>
            <a:r>
              <a:rPr lang="de-DE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oid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*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sym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=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GetProcAddress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(h, 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SymbolName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);</a:t>
            </a: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use</a:t>
            </a: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sym</a:t>
            </a:r>
            <a:endParaRPr lang="de-DE" sz="1600" dirty="0" smtClean="0">
              <a:solidFill>
                <a:schemeClr val="accent3">
                  <a:lumMod val="75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FreeLibrary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(h);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048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 smtClean="0"/>
              <a:t>Shared</a:t>
            </a:r>
            <a:r>
              <a:rPr lang="de-DE" dirty="0" smtClean="0"/>
              <a:t> Libraries (POSIX)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std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::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basic_string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&lt;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char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&gt; 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path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= 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some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/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path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/to.so“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;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h = </a:t>
            </a: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dlopen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 </a:t>
            </a: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path.c_str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(), RTLD_NOW|RTLD_GLOBAL );</a:t>
            </a: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v</a:t>
            </a:r>
            <a:r>
              <a:rPr lang="de-DE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oid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*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sym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=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dlsym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(h, 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SymbolName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);</a:t>
            </a: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use</a:t>
            </a: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sym</a:t>
            </a:r>
            <a:endParaRPr lang="de-DE" sz="1600" dirty="0" smtClean="0">
              <a:solidFill>
                <a:schemeClr val="accent3">
                  <a:lumMod val="75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dlclose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(h);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0496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 smtClean="0"/>
              <a:t>Shared</a:t>
            </a:r>
            <a:r>
              <a:rPr lang="de-DE" dirty="0" smtClean="0"/>
              <a:t> Libraries (portable)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b="1" dirty="0" err="1">
                <a:latin typeface="Consolas" pitchFamily="49" charset="0"/>
                <a:cs typeface="Consolas" pitchFamily="49" charset="0"/>
              </a:rPr>
              <a:t>t</a:t>
            </a:r>
            <a:r>
              <a:rPr lang="de-DE" sz="1600" b="1" dirty="0" err="1" smtClean="0">
                <a:latin typeface="Consolas" pitchFamily="49" charset="0"/>
                <a:cs typeface="Consolas" pitchFamily="49" charset="0"/>
              </a:rPr>
              <a:t>ry</a:t>
            </a:r>
            <a:endParaRPr lang="de-DE" sz="1600" b="1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{</a:t>
            </a: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Library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shlib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some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/</a:t>
            </a:r>
            <a:r>
              <a:rPr lang="de-DE" sz="1600" dirty="0" err="1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path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/to.so“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);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</a:t>
            </a:r>
            <a:r>
              <a:rPr lang="de-DE" sz="1600" dirty="0" err="1" smtClean="0">
                <a:solidFill>
                  <a:schemeClr val="accent1"/>
                </a:solidFill>
                <a:latin typeface="Consolas" pitchFamily="49" charset="0"/>
                <a:cs typeface="Consolas" pitchFamily="49" charset="0"/>
              </a:rPr>
              <a:t>void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* sym1 =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shlib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[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“Symbol1“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];           </a:t>
            </a: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no</a:t>
            </a: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throw</a:t>
            </a:r>
            <a:endParaRPr lang="de-DE" sz="1600" dirty="0" smtClean="0">
              <a:solidFill>
                <a:schemeClr val="accent3">
                  <a:lumMod val="75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</a:t>
            </a:r>
            <a:r>
              <a:rPr lang="de-DE" sz="1600" b="1" dirty="0" err="1" smtClean="0">
                <a:latin typeface="Consolas" pitchFamily="49" charset="0"/>
                <a:cs typeface="Consolas" pitchFamily="49" charset="0"/>
              </a:rPr>
              <a:t>if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 ! </a:t>
            </a:r>
            <a:r>
              <a:rPr lang="de-DE" sz="1600" dirty="0">
                <a:latin typeface="Consolas" pitchFamily="49" charset="0"/>
                <a:cs typeface="Consolas" pitchFamily="49" charset="0"/>
              </a:rPr>
              <a:t>s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ym1 )</a:t>
            </a: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  </a:t>
            </a:r>
            <a:r>
              <a:rPr lang="de-DE" sz="1600" b="1" dirty="0" err="1" smtClean="0">
                <a:latin typeface="Consolas" pitchFamily="49" charset="0"/>
                <a:cs typeface="Consolas" pitchFamily="49" charset="0"/>
              </a:rPr>
              <a:t>return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ERROR;</a:t>
            </a: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</a:t>
            </a:r>
            <a:r>
              <a:rPr lang="de-DE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void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* sym2 =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shlib.getSymbol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</a:t>
            </a:r>
            <a:r>
              <a:rPr lang="de-DE" sz="1600" dirty="0" smtClean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“Symbol2“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); </a:t>
            </a: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throws</a:t>
            </a:r>
            <a:r>
              <a:rPr lang="de-DE" sz="1600" dirty="0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err="1" smtClean="0">
                <a:solidFill>
                  <a:schemeClr val="accent3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SymbolNotFound</a:t>
            </a:r>
            <a:endParaRPr lang="de-DE" sz="1600" dirty="0">
              <a:solidFill>
                <a:schemeClr val="accent3">
                  <a:lumMod val="75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} </a:t>
            </a:r>
          </a:p>
          <a:p>
            <a:pPr marL="0" indent="0">
              <a:buNone/>
            </a:pPr>
            <a:r>
              <a:rPr lang="de-DE" sz="1600" b="1" dirty="0" smtClean="0">
                <a:latin typeface="Consolas" pitchFamily="49" charset="0"/>
                <a:cs typeface="Consolas" pitchFamily="49" charset="0"/>
              </a:rPr>
              <a:t>catch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</a:t>
            </a:r>
            <a:r>
              <a:rPr lang="de-DE" sz="1600" b="1" dirty="0" err="1" smtClean="0">
                <a:latin typeface="Consolas" pitchFamily="49" charset="0"/>
                <a:cs typeface="Consolas" pitchFamily="49" charset="0"/>
              </a:rPr>
              <a:t>const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SymbolNotFound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&amp; e)</a:t>
            </a: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}</a:t>
            </a:r>
          </a:p>
          <a:p>
            <a:pPr marL="0" indent="0">
              <a:buNone/>
            </a:pPr>
            <a:r>
              <a:rPr lang="de-DE" sz="1600" b="1" dirty="0">
                <a:latin typeface="Consolas" pitchFamily="49" charset="0"/>
                <a:cs typeface="Consolas" pitchFamily="49" charset="0"/>
              </a:rPr>
              <a:t>catch</a:t>
            </a:r>
            <a:r>
              <a:rPr lang="de-DE" sz="1600" dirty="0">
                <a:latin typeface="Consolas" pitchFamily="49" charset="0"/>
                <a:cs typeface="Consolas" pitchFamily="49" charset="0"/>
              </a:rPr>
              <a:t>(</a:t>
            </a:r>
            <a:r>
              <a:rPr lang="de-DE" sz="1600" b="1" dirty="0" err="1">
                <a:latin typeface="Consolas" pitchFamily="49" charset="0"/>
                <a:cs typeface="Consolas" pitchFamily="49" charset="0"/>
              </a:rPr>
              <a:t>const</a:t>
            </a:r>
            <a:r>
              <a:rPr lang="de-DE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AccessFailed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&amp; </a:t>
            </a:r>
            <a:r>
              <a:rPr lang="de-DE" sz="1600" dirty="0">
                <a:latin typeface="Consolas" pitchFamily="49" charset="0"/>
                <a:cs typeface="Consolas" pitchFamily="49" charset="0"/>
              </a:rPr>
              <a:t>e)</a:t>
            </a: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}</a:t>
            </a: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1497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1714798"/>
            <a:ext cx="8229600" cy="2362274"/>
          </a:xfrm>
        </p:spPr>
        <p:txBody>
          <a:bodyPr>
            <a:normAutofit/>
          </a:bodyPr>
          <a:lstStyle/>
          <a:p>
            <a:r>
              <a:rPr lang="de-DE" sz="6600" dirty="0" err="1"/>
              <a:t>W</a:t>
            </a:r>
            <a:r>
              <a:rPr lang="de-DE" sz="6600" dirty="0" err="1" smtClean="0"/>
              <a:t>hat‘s</a:t>
            </a:r>
            <a:r>
              <a:rPr lang="de-DE" sz="6600" dirty="0" smtClean="0"/>
              <a:t> </a:t>
            </a:r>
            <a:r>
              <a:rPr lang="de-DE" sz="6600" dirty="0" err="1" smtClean="0"/>
              <a:t>the</a:t>
            </a:r>
            <a:r>
              <a:rPr lang="de-DE" sz="6600" dirty="0"/>
              <a:t> </a:t>
            </a:r>
            <a:r>
              <a:rPr lang="de-DE" sz="6600" dirty="0" smtClean="0"/>
              <a:t>Problem</a:t>
            </a:r>
            <a:r>
              <a:rPr lang="de-DE" sz="6600" dirty="0" smtClean="0"/>
              <a:t>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02982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W</a:t>
            </a:r>
            <a:r>
              <a:rPr lang="de-DE" dirty="0" err="1" smtClean="0"/>
              <a:t>hat‘s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smtClean="0"/>
              <a:t>Problem?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de-DE" dirty="0" smtClean="0">
                <a:solidFill>
                  <a:srgbClr val="C00000"/>
                </a:solidFill>
              </a:rPr>
              <a:t>--- RED </a:t>
            </a:r>
            <a:r>
              <a:rPr lang="de-DE" dirty="0">
                <a:solidFill>
                  <a:srgbClr val="C00000"/>
                </a:solidFill>
              </a:rPr>
              <a:t>ALERT --- RED </a:t>
            </a:r>
            <a:r>
              <a:rPr lang="de-DE" dirty="0" smtClean="0">
                <a:solidFill>
                  <a:srgbClr val="C00000"/>
                </a:solidFill>
              </a:rPr>
              <a:t>ALERT --- </a:t>
            </a:r>
            <a:r>
              <a:rPr lang="de-DE" dirty="0">
                <a:solidFill>
                  <a:srgbClr val="C00000"/>
                </a:solidFill>
              </a:rPr>
              <a:t>RED </a:t>
            </a:r>
            <a:r>
              <a:rPr lang="de-DE" dirty="0" smtClean="0">
                <a:solidFill>
                  <a:srgbClr val="C00000"/>
                </a:solidFill>
              </a:rPr>
              <a:t>ALERT ---</a:t>
            </a:r>
            <a:endParaRPr lang="de-DE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de-DE" dirty="0" smtClean="0"/>
          </a:p>
          <a:p>
            <a:pPr marL="0" indent="0">
              <a:buNone/>
            </a:pPr>
            <a:r>
              <a:rPr lang="en-US" u="sng" dirty="0"/>
              <a:t>6.3.2.3:8</a:t>
            </a:r>
            <a:r>
              <a:rPr lang="en-US" dirty="0"/>
              <a:t> A pointer to a function of one type may be converted to a pointer to a function of another type and back again; the result shall compare equal to the original pointer. If a converted pointer is used to call a function whose type is not compatible with the pointed-to type, the behavior is undefined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smtClean="0"/>
              <a:t>NOTE: </a:t>
            </a:r>
            <a:r>
              <a:rPr lang="de-DE" dirty="0" err="1" smtClean="0"/>
              <a:t>cast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void</a:t>
            </a:r>
            <a:r>
              <a:rPr lang="de-DE" dirty="0" smtClean="0"/>
              <a:t>*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function</a:t>
            </a:r>
            <a:r>
              <a:rPr lang="de-DE" dirty="0" smtClean="0"/>
              <a:t> </a:t>
            </a:r>
            <a:r>
              <a:rPr lang="de-DE" dirty="0" err="1" smtClean="0"/>
              <a:t>pointer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undefined</a:t>
            </a:r>
            <a:r>
              <a:rPr lang="de-DE" dirty="0" smtClean="0"/>
              <a:t> </a:t>
            </a:r>
            <a:r>
              <a:rPr lang="de-DE" dirty="0" err="1" smtClean="0"/>
              <a:t>behaviour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437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W</a:t>
            </a:r>
            <a:r>
              <a:rPr lang="de-DE" dirty="0" err="1" smtClean="0"/>
              <a:t>hat‘s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smtClean="0"/>
              <a:t>Problem?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/>
          </a:bodyPr>
          <a:lstStyle/>
          <a:p>
            <a:r>
              <a:rPr lang="de-DE" dirty="0" smtClean="0"/>
              <a:t>Name </a:t>
            </a:r>
            <a:r>
              <a:rPr lang="de-DE" dirty="0" err="1" smtClean="0"/>
              <a:t>mangling</a:t>
            </a:r>
            <a:endParaRPr lang="de-DE" dirty="0" smtClean="0"/>
          </a:p>
          <a:p>
            <a:pPr lvl="1"/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export</a:t>
            </a:r>
            <a:r>
              <a:rPr lang="de-DE" dirty="0" smtClean="0"/>
              <a:t> “C“</a:t>
            </a:r>
          </a:p>
          <a:p>
            <a:pPr lvl="1"/>
            <a:endParaRPr lang="de-DE" dirty="0"/>
          </a:p>
          <a:p>
            <a:r>
              <a:rPr lang="de-DE" dirty="0" smtClean="0"/>
              <a:t>Export </a:t>
            </a:r>
            <a:r>
              <a:rPr lang="de-DE" dirty="0" err="1" smtClean="0"/>
              <a:t>resolvable</a:t>
            </a:r>
            <a:r>
              <a:rPr lang="de-DE" dirty="0" smtClean="0"/>
              <a:t> </a:t>
            </a:r>
            <a:r>
              <a:rPr lang="de-DE" dirty="0" err="1" smtClean="0"/>
              <a:t>symbols</a:t>
            </a:r>
            <a:endParaRPr lang="de-DE" dirty="0" smtClean="0"/>
          </a:p>
          <a:p>
            <a:pPr lvl="1"/>
            <a:r>
              <a:rPr lang="de-DE" dirty="0" smtClean="0"/>
              <a:t>_</a:t>
            </a:r>
            <a:r>
              <a:rPr lang="de-DE" dirty="0" err="1" smtClean="0"/>
              <a:t>declspec</a:t>
            </a:r>
            <a:r>
              <a:rPr lang="de-DE" dirty="0" smtClean="0"/>
              <a:t>(</a:t>
            </a:r>
            <a:r>
              <a:rPr lang="de-DE" dirty="0" err="1" smtClean="0"/>
              <a:t>export</a:t>
            </a:r>
            <a:r>
              <a:rPr lang="de-DE" dirty="0" smtClean="0"/>
              <a:t>), </a:t>
            </a:r>
            <a:r>
              <a:rPr lang="de-DE" dirty="0" err="1" smtClean="0"/>
              <a:t>visibility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gcc</a:t>
            </a:r>
            <a:r>
              <a:rPr lang="de-DE" dirty="0" smtClean="0"/>
              <a:t>, .</a:t>
            </a:r>
            <a:r>
              <a:rPr lang="de-DE" dirty="0" err="1" smtClean="0"/>
              <a:t>def</a:t>
            </a:r>
            <a:r>
              <a:rPr lang="de-DE" dirty="0" smtClean="0"/>
              <a:t> </a:t>
            </a:r>
            <a:r>
              <a:rPr lang="de-DE" dirty="0" err="1" smtClean="0"/>
              <a:t>files</a:t>
            </a:r>
            <a:r>
              <a:rPr lang="de-DE" dirty="0" smtClean="0"/>
              <a:t> etc…</a:t>
            </a:r>
          </a:p>
          <a:p>
            <a:pPr lvl="1"/>
            <a:endParaRPr lang="de-DE" dirty="0"/>
          </a:p>
          <a:p>
            <a:r>
              <a:rPr lang="de-DE" dirty="0" smtClean="0"/>
              <a:t>Do not </a:t>
            </a:r>
            <a:r>
              <a:rPr lang="de-DE" dirty="0" err="1" smtClean="0"/>
              <a:t>rely</a:t>
            </a:r>
            <a:r>
              <a:rPr lang="de-DE" dirty="0" smtClean="0"/>
              <a:t> on </a:t>
            </a:r>
            <a:r>
              <a:rPr lang="de-DE" dirty="0" err="1" smtClean="0"/>
              <a:t>platform</a:t>
            </a:r>
            <a:r>
              <a:rPr lang="de-DE" dirty="0" smtClean="0"/>
              <a:t> </a:t>
            </a:r>
            <a:r>
              <a:rPr lang="de-DE" dirty="0" err="1" smtClean="0"/>
              <a:t>specific</a:t>
            </a:r>
            <a:r>
              <a:rPr lang="de-DE" dirty="0" smtClean="0"/>
              <a:t> </a:t>
            </a:r>
            <a:r>
              <a:rPr lang="de-DE" dirty="0" err="1" smtClean="0"/>
              <a:t>library</a:t>
            </a:r>
            <a:r>
              <a:rPr lang="de-DE" dirty="0" smtClean="0"/>
              <a:t> </a:t>
            </a:r>
            <a:r>
              <a:rPr lang="de-DE" dirty="0" err="1" smtClean="0"/>
              <a:t>init</a:t>
            </a:r>
            <a:r>
              <a:rPr lang="de-DE" dirty="0" smtClean="0"/>
              <a:t>/</a:t>
            </a:r>
            <a:r>
              <a:rPr lang="de-DE" dirty="0" err="1" smtClean="0"/>
              <a:t>finalisation</a:t>
            </a:r>
            <a:endParaRPr lang="de-DE" dirty="0" smtClean="0"/>
          </a:p>
          <a:p>
            <a:pPr lvl="1"/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init</a:t>
            </a:r>
            <a:r>
              <a:rPr lang="de-DE" dirty="0" smtClean="0"/>
              <a:t>()/</a:t>
            </a:r>
            <a:r>
              <a:rPr lang="de-DE" dirty="0" err="1" smtClean="0"/>
              <a:t>fini</a:t>
            </a:r>
            <a:r>
              <a:rPr lang="de-DE" dirty="0" smtClean="0"/>
              <a:t>() etc…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4849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W</a:t>
            </a:r>
            <a:r>
              <a:rPr lang="de-DE" dirty="0" err="1" smtClean="0"/>
              <a:t>hat‘s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smtClean="0"/>
              <a:t>Problem?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/>
          </a:bodyPr>
          <a:lstStyle/>
          <a:p>
            <a:r>
              <a:rPr lang="de-DE" dirty="0" err="1" smtClean="0"/>
              <a:t>Platforms</a:t>
            </a:r>
            <a:r>
              <a:rPr lang="de-DE" dirty="0" smtClean="0"/>
              <a:t> do not </a:t>
            </a:r>
            <a:r>
              <a:rPr lang="de-DE" dirty="0" err="1" smtClean="0"/>
              <a:t>allow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load</a:t>
            </a:r>
            <a:r>
              <a:rPr lang="de-DE" dirty="0" smtClean="0"/>
              <a:t> </a:t>
            </a:r>
            <a:r>
              <a:rPr lang="de-DE" dirty="0" err="1" smtClean="0"/>
              <a:t>libraries</a:t>
            </a:r>
            <a:r>
              <a:rPr lang="de-DE" dirty="0" smtClean="0"/>
              <a:t> </a:t>
            </a:r>
            <a:r>
              <a:rPr lang="de-DE" dirty="0" err="1" smtClean="0"/>
              <a:t>at</a:t>
            </a:r>
            <a:r>
              <a:rPr lang="de-DE" dirty="0" smtClean="0"/>
              <a:t> all</a:t>
            </a:r>
          </a:p>
          <a:p>
            <a:pPr lvl="1"/>
            <a:r>
              <a:rPr lang="de-DE" dirty="0" err="1" smtClean="0"/>
              <a:t>iOS</a:t>
            </a:r>
            <a:r>
              <a:rPr lang="de-DE" dirty="0" smtClean="0"/>
              <a:t>, </a:t>
            </a:r>
            <a:r>
              <a:rPr lang="de-DE" dirty="0" err="1" smtClean="0"/>
              <a:t>some</a:t>
            </a:r>
            <a:r>
              <a:rPr lang="de-DE" dirty="0" smtClean="0"/>
              <a:t> </a:t>
            </a:r>
            <a:r>
              <a:rPr lang="de-DE" dirty="0" err="1" smtClean="0"/>
              <a:t>linux</a:t>
            </a:r>
            <a:endParaRPr lang="de-DE" dirty="0" smtClean="0"/>
          </a:p>
          <a:p>
            <a:pPr lvl="1"/>
            <a:endParaRPr lang="de-DE" dirty="0"/>
          </a:p>
          <a:p>
            <a:r>
              <a:rPr lang="de-DE" dirty="0" smtClean="0"/>
              <a:t>Not </a:t>
            </a:r>
            <a:r>
              <a:rPr lang="de-DE" dirty="0" err="1" smtClean="0"/>
              <a:t>always</a:t>
            </a:r>
            <a:r>
              <a:rPr lang="de-DE" dirty="0" smtClean="0"/>
              <a:t> </a:t>
            </a:r>
            <a:r>
              <a:rPr lang="de-DE" dirty="0" err="1" smtClean="0"/>
              <a:t>possible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load</a:t>
            </a:r>
            <a:r>
              <a:rPr lang="de-DE" dirty="0" smtClean="0"/>
              <a:t> same </a:t>
            </a:r>
            <a:r>
              <a:rPr lang="de-DE" dirty="0" err="1" smtClean="0"/>
              <a:t>symbol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different </a:t>
            </a:r>
            <a:r>
              <a:rPr lang="de-DE" dirty="0" err="1" smtClean="0"/>
              <a:t>libs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0358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1714798"/>
            <a:ext cx="8229600" cy="2362274"/>
          </a:xfrm>
        </p:spPr>
        <p:txBody>
          <a:bodyPr>
            <a:normAutofit/>
          </a:bodyPr>
          <a:lstStyle/>
          <a:p>
            <a:r>
              <a:rPr lang="de-DE" sz="6600" dirty="0" err="1"/>
              <a:t>W</a:t>
            </a:r>
            <a:r>
              <a:rPr lang="de-DE" sz="6600" dirty="0" err="1" smtClean="0"/>
              <a:t>hat‘s</a:t>
            </a:r>
            <a:r>
              <a:rPr lang="de-DE" sz="6600" dirty="0" smtClean="0"/>
              <a:t> </a:t>
            </a:r>
            <a:r>
              <a:rPr lang="de-DE" sz="6600" dirty="0" err="1" smtClean="0"/>
              <a:t>the</a:t>
            </a:r>
            <a:r>
              <a:rPr lang="de-DE" sz="6600" dirty="0"/>
              <a:t> </a:t>
            </a:r>
            <a:r>
              <a:rPr lang="de-DE" sz="6600" dirty="0" smtClean="0"/>
              <a:t>Solution?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144915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The </a:t>
            </a:r>
            <a:r>
              <a:rPr lang="de-DE" dirty="0" err="1"/>
              <a:t>Greeter</a:t>
            </a:r>
            <a:r>
              <a:rPr lang="de-DE" dirty="0"/>
              <a:t> </a:t>
            </a:r>
            <a:r>
              <a:rPr lang="de-DE" dirty="0" err="1"/>
              <a:t>Plugin</a:t>
            </a:r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79512" y="4077072"/>
            <a:ext cx="8712968" cy="23042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nsolas" pitchFamily="49" charset="0"/>
                <a:cs typeface="Consolas" pitchFamily="49" charset="0"/>
              </a:rPr>
              <a:t>class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Greeter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{ </a:t>
            </a:r>
          </a:p>
          <a:p>
            <a:pPr marL="0" indent="0">
              <a:buNone/>
            </a:pPr>
            <a:r>
              <a:rPr lang="en-US" sz="1600" b="1" dirty="0" smtClean="0">
                <a:latin typeface="Consolas" pitchFamily="49" charset="0"/>
                <a:cs typeface="Consolas" pitchFamily="49" charset="0"/>
              </a:rPr>
              <a:t>  public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: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virtual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~Greeter()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  {} </a:t>
            </a:r>
          </a:p>
          <a:p>
            <a:pPr marL="0" indent="0">
              <a:buNone/>
            </a:pPr>
            <a:endParaRPr lang="en-US" sz="8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   virtual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void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sayHello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() 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= 0;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};</a:t>
            </a:r>
            <a:endParaRPr lang="de-DE" sz="1600" b="1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  <p:sp>
        <p:nvSpPr>
          <p:cNvPr id="5" name="Inhaltsplatzhalter 2"/>
          <p:cNvSpPr txBox="1">
            <a:spLocks/>
          </p:cNvSpPr>
          <p:nvPr/>
        </p:nvSpPr>
        <p:spPr>
          <a:xfrm>
            <a:off x="179512" y="989112"/>
            <a:ext cx="8856984" cy="19358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smtClean="0"/>
              <a:t>The </a:t>
            </a:r>
            <a:r>
              <a:rPr lang="de-DE" dirty="0" err="1" smtClean="0"/>
              <a:t>Greeter</a:t>
            </a:r>
            <a:r>
              <a:rPr lang="de-DE" dirty="0" smtClean="0"/>
              <a:t> </a:t>
            </a:r>
            <a:r>
              <a:rPr lang="de-DE" dirty="0" err="1" smtClean="0"/>
              <a:t>Plugin</a:t>
            </a:r>
            <a:r>
              <a:rPr lang="de-DE" dirty="0" smtClean="0"/>
              <a:t> Interface</a:t>
            </a:r>
          </a:p>
          <a:p>
            <a:pPr lvl="1"/>
            <a:r>
              <a:rPr lang="de-DE" dirty="0" smtClean="0"/>
              <a:t>Classic OO design </a:t>
            </a:r>
            <a:r>
              <a:rPr lang="de-DE" dirty="0" err="1" smtClean="0"/>
              <a:t>using</a:t>
            </a:r>
            <a:r>
              <a:rPr lang="de-DE" dirty="0" smtClean="0"/>
              <a:t> </a:t>
            </a:r>
            <a:r>
              <a:rPr lang="de-DE" dirty="0" err="1" smtClean="0"/>
              <a:t>virtual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lvl="1"/>
            <a:r>
              <a:rPr lang="de-DE" dirty="0" err="1" smtClean="0"/>
              <a:t>Plugin</a:t>
            </a:r>
            <a:r>
              <a:rPr lang="de-DE" dirty="0" smtClean="0"/>
              <a:t> Interface </a:t>
            </a:r>
            <a:r>
              <a:rPr lang="de-DE" dirty="0" err="1" smtClean="0"/>
              <a:t>defined</a:t>
            </a:r>
            <a:r>
              <a:rPr lang="de-DE" dirty="0" smtClean="0"/>
              <a:t> in </a:t>
            </a:r>
            <a:r>
              <a:rPr lang="de-DE" dirty="0" err="1" smtClean="0"/>
              <a:t>header</a:t>
            </a:r>
            <a:endParaRPr lang="de-DE" dirty="0" smtClean="0"/>
          </a:p>
          <a:p>
            <a:pPr lvl="1"/>
            <a:r>
              <a:rPr lang="de-DE" dirty="0" err="1" smtClean="0"/>
              <a:t>Plugins</a:t>
            </a:r>
            <a:r>
              <a:rPr lang="de-DE" dirty="0" smtClean="0"/>
              <a:t> </a:t>
            </a:r>
            <a:r>
              <a:rPr lang="de-DE" dirty="0" err="1" smtClean="0"/>
              <a:t>implement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interface</a:t>
            </a:r>
            <a:endParaRPr lang="de-DE" dirty="0" smtClean="0"/>
          </a:p>
          <a:p>
            <a:pPr lvl="1"/>
            <a:endParaRPr lang="de-DE" dirty="0" smtClean="0"/>
          </a:p>
          <a:p>
            <a:pPr lvl="1"/>
            <a:endParaRPr lang="de-DE" dirty="0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179512" y="3501008"/>
            <a:ext cx="8856984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2000" u="sng" dirty="0" err="1" smtClean="0"/>
              <a:t>Greeter.h</a:t>
            </a:r>
            <a:endParaRPr lang="de-DE" sz="2000" u="sng" dirty="0"/>
          </a:p>
        </p:txBody>
      </p:sp>
    </p:spTree>
    <p:extLst>
      <p:ext uri="{BB962C8B-B14F-4D97-AF65-F5344CB8AC3E}">
        <p14:creationId xmlns:p14="http://schemas.microsoft.com/office/powerpoint/2010/main" val="253675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The </a:t>
            </a:r>
            <a:r>
              <a:rPr lang="de-DE" dirty="0" err="1"/>
              <a:t>Greeter</a:t>
            </a:r>
            <a:r>
              <a:rPr lang="de-DE" dirty="0"/>
              <a:t> </a:t>
            </a:r>
            <a:r>
              <a:rPr lang="de-DE" dirty="0" err="1"/>
              <a:t>Plugin</a:t>
            </a:r>
            <a:endParaRPr lang="en-US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79512" y="3140968"/>
            <a:ext cx="8856984" cy="3672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nsolas" pitchFamily="49" charset="0"/>
                <a:cs typeface="Consolas" pitchFamily="49" charset="0"/>
              </a:rPr>
              <a:t>class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EnglishGreeter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: </a:t>
            </a:r>
            <a:r>
              <a:rPr lang="en-US" sz="1600" b="1" dirty="0">
                <a:latin typeface="Consolas" pitchFamily="49" charset="0"/>
                <a:cs typeface="Consolas" pitchFamily="49" charset="0"/>
              </a:rPr>
              <a:t>public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Greeter </a:t>
            </a: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{ </a:t>
            </a:r>
          </a:p>
          <a:p>
            <a:pPr marL="0" indent="0">
              <a:buNone/>
            </a:pPr>
            <a:r>
              <a:rPr lang="en-US" sz="1600" b="1" dirty="0">
                <a:latin typeface="Consolas" pitchFamily="49" charset="0"/>
                <a:cs typeface="Consolas" pitchFamily="49" charset="0"/>
              </a:rPr>
              <a:t>  public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: </a:t>
            </a: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   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void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sayHello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() </a:t>
            </a: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    {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std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::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cout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&lt;&lt; 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"Hello World"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; } </a:t>
            </a: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};</a:t>
            </a:r>
            <a:endParaRPr lang="de-DE" sz="1600" b="1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 smtClean="0">
              <a:solidFill>
                <a:schemeClr val="accent3">
                  <a:lumMod val="75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b="1" dirty="0" smtClean="0">
                <a:latin typeface="Consolas" pitchFamily="49" charset="0"/>
                <a:cs typeface="Consolas" pitchFamily="49" charset="0"/>
              </a:rPr>
              <a:t>static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BasicPlugin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&lt;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EnglishGreeter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, Greeter&gt; _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enGreeter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"en"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);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b="1" dirty="0" smtClean="0">
                <a:latin typeface="Consolas" pitchFamily="49" charset="0"/>
                <a:cs typeface="Consolas" pitchFamily="49" charset="0"/>
              </a:rPr>
              <a:t>extern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"C"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{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EXPORT </a:t>
            </a: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PluginId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*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PluginList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[] = { &amp;_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enGreeter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,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 };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}</a:t>
            </a:r>
          </a:p>
          <a:p>
            <a:pPr marL="0" indent="0">
              <a:buNone/>
            </a:pP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  <p:sp>
        <p:nvSpPr>
          <p:cNvPr id="5" name="Inhaltsplatzhalter 2"/>
          <p:cNvSpPr txBox="1">
            <a:spLocks/>
          </p:cNvSpPr>
          <p:nvPr/>
        </p:nvSpPr>
        <p:spPr>
          <a:xfrm>
            <a:off x="179512" y="989112"/>
            <a:ext cx="8856984" cy="143177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smtClean="0"/>
              <a:t>The </a:t>
            </a:r>
            <a:r>
              <a:rPr lang="de-DE" dirty="0" err="1" smtClean="0"/>
              <a:t>Greeter</a:t>
            </a:r>
            <a:r>
              <a:rPr lang="de-DE" dirty="0" smtClean="0"/>
              <a:t> </a:t>
            </a:r>
            <a:r>
              <a:rPr lang="de-DE" dirty="0" err="1" smtClean="0"/>
              <a:t>Plugin</a:t>
            </a:r>
            <a:r>
              <a:rPr lang="de-DE" dirty="0" smtClean="0"/>
              <a:t> Implementation</a:t>
            </a:r>
          </a:p>
          <a:p>
            <a:pPr lvl="1"/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Exports a variable, not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functions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(also type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safe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!!!)</a:t>
            </a:r>
          </a:p>
          <a:p>
            <a:pPr lvl="1"/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C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Linkage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,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even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though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Plugin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is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a C++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class</a:t>
            </a:r>
            <a:endParaRPr lang="de-DE" dirty="0" smtClean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" name="Inhaltsplatzhalter 2"/>
          <p:cNvSpPr txBox="1">
            <a:spLocks/>
          </p:cNvSpPr>
          <p:nvPr/>
        </p:nvSpPr>
        <p:spPr>
          <a:xfrm>
            <a:off x="179512" y="2636912"/>
            <a:ext cx="8856984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2000" u="sng" dirty="0" smtClean="0"/>
              <a:t>EnglishGreeter.cpp  (</a:t>
            </a:r>
            <a:r>
              <a:rPr lang="de-DE" sz="2000" u="sng" dirty="0" err="1" smtClean="0"/>
              <a:t>built</a:t>
            </a:r>
            <a:r>
              <a:rPr lang="de-DE" sz="2000" u="sng" dirty="0" smtClean="0"/>
              <a:t> </a:t>
            </a:r>
            <a:r>
              <a:rPr lang="de-DE" sz="2000" u="sng" dirty="0" err="1" smtClean="0"/>
              <a:t>to</a:t>
            </a:r>
            <a:r>
              <a:rPr lang="de-DE" sz="2000" u="sng" dirty="0" smtClean="0"/>
              <a:t> plugin.so)</a:t>
            </a:r>
            <a:endParaRPr lang="de-DE" sz="2000" u="sng" dirty="0"/>
          </a:p>
        </p:txBody>
      </p:sp>
    </p:spTree>
    <p:extLst>
      <p:ext uri="{BB962C8B-B14F-4D97-AF65-F5344CB8AC3E}">
        <p14:creationId xmlns:p14="http://schemas.microsoft.com/office/powerpoint/2010/main" val="3197550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The </a:t>
            </a:r>
            <a:r>
              <a:rPr lang="de-DE" dirty="0" err="1"/>
              <a:t>Greeter</a:t>
            </a:r>
            <a:r>
              <a:rPr lang="de-DE" dirty="0"/>
              <a:t> </a:t>
            </a:r>
            <a:r>
              <a:rPr lang="de-DE" dirty="0" err="1"/>
              <a:t>Plugin</a:t>
            </a:r>
            <a:endParaRPr lang="en-US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79512" y="3545632"/>
            <a:ext cx="4824536" cy="326774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PluginId</a:t>
            </a: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+ </a:t>
            </a:r>
            <a:r>
              <a:rPr lang="de-DE" sz="1600" i="1" dirty="0" smtClean="0">
                <a:latin typeface="Consolas" pitchFamily="49" charset="0"/>
                <a:cs typeface="Consolas" pitchFamily="49" charset="0"/>
              </a:rPr>
              <a:t>type() : </a:t>
            </a:r>
            <a:r>
              <a:rPr lang="de-DE" sz="1600" i="1" dirty="0" err="1" smtClean="0">
                <a:latin typeface="Consolas" pitchFamily="49" charset="0"/>
                <a:cs typeface="Consolas" pitchFamily="49" charset="0"/>
              </a:rPr>
              <a:t>type_info</a:t>
            </a:r>
            <a:endParaRPr lang="de-DE" sz="1600" i="1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2800" dirty="0" smtClean="0">
                <a:latin typeface="Consolas" pitchFamily="49" charset="0"/>
                <a:cs typeface="Consolas" pitchFamily="49" charset="0"/>
              </a:rPr>
              <a:t>     ↑</a:t>
            </a:r>
            <a:endParaRPr lang="de-DE" sz="28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Plugin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&lt;I&gt;</a:t>
            </a: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+ type() </a:t>
            </a:r>
            <a:r>
              <a:rPr lang="de-DE" sz="1600" dirty="0">
                <a:latin typeface="Consolas" pitchFamily="49" charset="0"/>
                <a:cs typeface="Consolas" pitchFamily="49" charset="0"/>
              </a:rPr>
              <a:t>: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type_info</a:t>
            </a: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+ </a:t>
            </a:r>
            <a:r>
              <a:rPr lang="de-DE" sz="1600" i="1" dirty="0" err="1" smtClean="0">
                <a:latin typeface="Consolas" pitchFamily="49" charset="0"/>
                <a:cs typeface="Consolas" pitchFamily="49" charset="0"/>
              </a:rPr>
              <a:t>create</a:t>
            </a:r>
            <a:r>
              <a:rPr lang="de-DE" sz="1600" i="1" dirty="0" smtClean="0">
                <a:latin typeface="Consolas" pitchFamily="49" charset="0"/>
                <a:cs typeface="Consolas" pitchFamily="49" charset="0"/>
              </a:rPr>
              <a:t>() : I*</a:t>
            </a:r>
          </a:p>
          <a:p>
            <a:pPr marL="0" indent="0">
              <a:buNone/>
            </a:pPr>
            <a:r>
              <a:rPr lang="de-DE" sz="1600" i="1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i="1" dirty="0" smtClean="0">
                <a:latin typeface="Consolas" pitchFamily="49" charset="0"/>
                <a:cs typeface="Consolas" pitchFamily="49" charset="0"/>
              </a:rPr>
              <a:t>  + </a:t>
            </a:r>
            <a:r>
              <a:rPr lang="de-DE" sz="1600" i="1" dirty="0" err="1" smtClean="0">
                <a:latin typeface="Consolas" pitchFamily="49" charset="0"/>
                <a:cs typeface="Consolas" pitchFamily="49" charset="0"/>
              </a:rPr>
              <a:t>feature</a:t>
            </a:r>
            <a:r>
              <a:rPr lang="de-DE" sz="1600" i="1" dirty="0" smtClean="0">
                <a:latin typeface="Consolas" pitchFamily="49" charset="0"/>
                <a:cs typeface="Consolas" pitchFamily="49" charset="0"/>
              </a:rPr>
              <a:t>() : </a:t>
            </a:r>
            <a:r>
              <a:rPr lang="de-DE" sz="1600" i="1" dirty="0" err="1" smtClean="0">
                <a:latin typeface="Consolas" pitchFamily="49" charset="0"/>
                <a:cs typeface="Consolas" pitchFamily="49" charset="0"/>
              </a:rPr>
              <a:t>string</a:t>
            </a:r>
            <a:endParaRPr lang="de-DE" sz="1600" i="1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2800" dirty="0" smtClean="0">
                <a:latin typeface="Consolas" pitchFamily="49" charset="0"/>
                <a:cs typeface="Consolas" pitchFamily="49" charset="0"/>
              </a:rPr>
              <a:t>     ↑</a:t>
            </a: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BasicPlugin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&lt;T, I&gt;</a:t>
            </a: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+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create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() : I*</a:t>
            </a:r>
          </a:p>
          <a:p>
            <a:pPr marL="0" indent="0">
              <a:buNone/>
            </a:pPr>
            <a:r>
              <a:rPr lang="de-DE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  +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feature</a:t>
            </a:r>
            <a:r>
              <a:rPr lang="de-DE" sz="1600" dirty="0" smtClean="0">
                <a:latin typeface="Consolas" pitchFamily="49" charset="0"/>
                <a:cs typeface="Consolas" pitchFamily="49" charset="0"/>
              </a:rPr>
              <a:t>() : </a:t>
            </a:r>
            <a:r>
              <a:rPr lang="de-DE" sz="1600" dirty="0" err="1" smtClean="0">
                <a:latin typeface="Consolas" pitchFamily="49" charset="0"/>
                <a:cs typeface="Consolas" pitchFamily="49" charset="0"/>
              </a:rPr>
              <a:t>string</a:t>
            </a: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  <p:sp>
        <p:nvSpPr>
          <p:cNvPr id="5" name="Inhaltsplatzhalter 2"/>
          <p:cNvSpPr txBox="1">
            <a:spLocks/>
          </p:cNvSpPr>
          <p:nvPr/>
        </p:nvSpPr>
        <p:spPr>
          <a:xfrm>
            <a:off x="179512" y="908720"/>
            <a:ext cx="8856984" cy="2520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The </a:t>
            </a:r>
            <a:r>
              <a:rPr lang="de-DE" dirty="0" err="1"/>
              <a:t>PluginId</a:t>
            </a:r>
            <a:endParaRPr lang="de-DE" dirty="0"/>
          </a:p>
          <a:p>
            <a:pPr lvl="1"/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typesafe</a:t>
            </a:r>
            <a:r>
              <a:rPr lang="de-DE" dirty="0"/>
              <a:t> </a:t>
            </a:r>
            <a:r>
              <a:rPr lang="de-DE" dirty="0" err="1"/>
              <a:t>cast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derived</a:t>
            </a:r>
            <a:r>
              <a:rPr lang="de-DE" dirty="0"/>
              <a:t> </a:t>
            </a:r>
            <a:r>
              <a:rPr lang="de-DE" dirty="0" err="1"/>
              <a:t>Plugin</a:t>
            </a:r>
            <a:r>
              <a:rPr lang="de-DE" dirty="0"/>
              <a:t>&lt;I&gt;</a:t>
            </a:r>
          </a:p>
          <a:p>
            <a:r>
              <a:rPr lang="de-DE" dirty="0"/>
              <a:t>The </a:t>
            </a:r>
            <a:r>
              <a:rPr lang="de-DE" dirty="0" err="1"/>
              <a:t>Plugin</a:t>
            </a:r>
            <a:r>
              <a:rPr lang="de-DE" dirty="0"/>
              <a:t>&lt;I&gt;</a:t>
            </a:r>
          </a:p>
          <a:p>
            <a:pPr lvl="1"/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factory</a:t>
            </a:r>
            <a:r>
              <a:rPr lang="de-DE" dirty="0"/>
              <a:t> </a:t>
            </a:r>
            <a:r>
              <a:rPr lang="de-DE" dirty="0" err="1"/>
              <a:t>interface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create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implementing</a:t>
            </a:r>
            <a:r>
              <a:rPr lang="de-DE" dirty="0"/>
              <a:t> </a:t>
            </a:r>
            <a:r>
              <a:rPr lang="de-DE" dirty="0" smtClean="0"/>
              <a:t>I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BasicPlugin</a:t>
            </a:r>
            <a:r>
              <a:rPr lang="de-DE" dirty="0" smtClean="0"/>
              <a:t>&lt;T, I&gt; </a:t>
            </a:r>
          </a:p>
          <a:p>
            <a:pPr lvl="1"/>
            <a:r>
              <a:rPr lang="de-DE" dirty="0" err="1" smtClean="0"/>
              <a:t>Is</a:t>
            </a:r>
            <a:r>
              <a:rPr lang="de-DE" dirty="0" smtClean="0"/>
              <a:t> a </a:t>
            </a:r>
            <a:r>
              <a:rPr lang="de-DE" dirty="0" err="1" smtClean="0"/>
              <a:t>factory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create</a:t>
            </a:r>
            <a:r>
              <a:rPr lang="de-DE" dirty="0" smtClean="0"/>
              <a:t> T </a:t>
            </a:r>
            <a:r>
              <a:rPr lang="de-DE" dirty="0" err="1" smtClean="0"/>
              <a:t>implementing</a:t>
            </a:r>
            <a:r>
              <a:rPr lang="de-DE" dirty="0" smtClean="0"/>
              <a:t> I</a:t>
            </a:r>
          </a:p>
          <a:p>
            <a:pPr lvl="1"/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Normal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Ctor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instead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5">
                    <a:lumMod val="75000"/>
                  </a:schemeClr>
                </a:solidFill>
              </a:rPr>
              <a:t>of</a:t>
            </a:r>
            <a:r>
              <a:rPr lang="de-DE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init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/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fini</a:t>
            </a:r>
            <a:endParaRPr lang="de-DE" dirty="0" smtClean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358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The </a:t>
            </a:r>
            <a:r>
              <a:rPr lang="de-DE" dirty="0" err="1"/>
              <a:t>Greeter</a:t>
            </a:r>
            <a:r>
              <a:rPr lang="de-DE" dirty="0"/>
              <a:t> </a:t>
            </a:r>
            <a:r>
              <a:rPr lang="de-DE" dirty="0" err="1"/>
              <a:t>Plugin</a:t>
            </a:r>
            <a:endParaRPr lang="en-US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79512" y="4077072"/>
            <a:ext cx="8856984" cy="27363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PluginManager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&lt;Greeter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&gt; manager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;</a:t>
            </a: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manager.loadPlugin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</a:t>
            </a:r>
            <a:r>
              <a:rPr lang="en-US" sz="1600" dirty="0" err="1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PluginList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, 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"/path/to/plugin.so"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);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Greeter* 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greeter = 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manager.create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"en"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);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b="1" dirty="0" smtClean="0">
                <a:latin typeface="Consolas" pitchFamily="49" charset="0"/>
                <a:cs typeface="Consolas" pitchFamily="49" charset="0"/>
              </a:rPr>
              <a:t>if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)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{ </a:t>
            </a: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 greeter-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&gt;</a:t>
            </a:r>
            <a:r>
              <a:rPr lang="en-US" sz="1600" dirty="0" err="1">
                <a:latin typeface="Consolas" pitchFamily="49" charset="0"/>
                <a:cs typeface="Consolas" pitchFamily="49" charset="0"/>
              </a:rPr>
              <a:t>sayHello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();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 smtClean="0">
                <a:latin typeface="Consolas" pitchFamily="49" charset="0"/>
                <a:cs typeface="Consolas" pitchFamily="49" charset="0"/>
              </a:rPr>
              <a:t>manager.destroy</a:t>
            </a: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(greeter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); </a:t>
            </a: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nsolas" pitchFamily="49" charset="0"/>
                <a:cs typeface="Consolas" pitchFamily="49" charset="0"/>
              </a:rPr>
              <a:t>}</a:t>
            </a:r>
            <a:endParaRPr lang="de-DE" sz="1600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endParaRPr lang="en-US" sz="1600" dirty="0">
              <a:latin typeface="Consolas" pitchFamily="49" charset="0"/>
              <a:cs typeface="Consolas" pitchFamily="49" charset="0"/>
            </a:endParaRPr>
          </a:p>
          <a:p>
            <a:pPr marL="457200" lvl="1" indent="0">
              <a:buNone/>
            </a:pPr>
            <a:endParaRPr lang="de-DE" dirty="0">
              <a:solidFill>
                <a:schemeClr val="tx2">
                  <a:lumMod val="75000"/>
                </a:schemeClr>
              </a:solidFill>
            </a:endParaRPr>
          </a:p>
          <a:p>
            <a:endParaRPr lang="de-DE" dirty="0"/>
          </a:p>
        </p:txBody>
      </p:sp>
      <p:sp>
        <p:nvSpPr>
          <p:cNvPr id="6" name="Inhaltsplatzhalter 2"/>
          <p:cNvSpPr txBox="1">
            <a:spLocks/>
          </p:cNvSpPr>
          <p:nvPr/>
        </p:nvSpPr>
        <p:spPr>
          <a:xfrm>
            <a:off x="179512" y="989112"/>
            <a:ext cx="8856984" cy="27279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smtClean="0"/>
              <a:t>The </a:t>
            </a:r>
            <a:r>
              <a:rPr lang="de-DE" dirty="0" err="1" smtClean="0"/>
              <a:t>PluginManager</a:t>
            </a:r>
            <a:endParaRPr lang="de-DE" dirty="0" smtClean="0"/>
          </a:p>
          <a:p>
            <a:pPr lvl="1"/>
            <a:r>
              <a:rPr lang="de-DE" dirty="0" err="1" smtClean="0"/>
              <a:t>Loads</a:t>
            </a:r>
            <a:r>
              <a:rPr lang="de-DE" dirty="0" smtClean="0"/>
              <a:t> an </a:t>
            </a:r>
            <a:r>
              <a:rPr lang="de-DE" dirty="0" err="1" smtClean="0"/>
              <a:t>array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PluginId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keeps</a:t>
            </a:r>
            <a:r>
              <a:rPr lang="de-DE" dirty="0" smtClean="0"/>
              <a:t> all </a:t>
            </a:r>
            <a:r>
              <a:rPr lang="de-DE" dirty="0" err="1" smtClean="0"/>
              <a:t>which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convertible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Plugin</a:t>
            </a:r>
            <a:r>
              <a:rPr lang="de-DE" dirty="0" smtClean="0"/>
              <a:t>&lt;</a:t>
            </a:r>
            <a:r>
              <a:rPr lang="de-DE" dirty="0" err="1" smtClean="0"/>
              <a:t>Greeter</a:t>
            </a:r>
            <a:r>
              <a:rPr lang="de-DE" dirty="0" smtClean="0"/>
              <a:t>&gt;</a:t>
            </a:r>
          </a:p>
          <a:p>
            <a:pPr lvl="1"/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Different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symbol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names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can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be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resolved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for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each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plugin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library</a:t>
            </a:r>
            <a:endParaRPr lang="de-DE" dirty="0" smtClean="0">
              <a:solidFill>
                <a:schemeClr val="accent5">
                  <a:lumMod val="75000"/>
                </a:schemeClr>
              </a:solidFill>
            </a:endParaRPr>
          </a:p>
          <a:p>
            <a:pPr lvl="1"/>
            <a:r>
              <a:rPr lang="de-DE" dirty="0" smtClean="0"/>
              <a:t>Can find </a:t>
            </a:r>
            <a:r>
              <a:rPr lang="de-DE" dirty="0" err="1" smtClean="0"/>
              <a:t>Plugin</a:t>
            </a:r>
            <a:r>
              <a:rPr lang="de-DE" dirty="0" smtClean="0"/>
              <a:t>&lt;</a:t>
            </a:r>
            <a:r>
              <a:rPr lang="de-DE" dirty="0" err="1" smtClean="0"/>
              <a:t>Greeter</a:t>
            </a:r>
            <a:r>
              <a:rPr lang="de-DE" dirty="0" smtClean="0"/>
              <a:t>&gt;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feature</a:t>
            </a:r>
            <a:r>
              <a:rPr lang="de-DE" dirty="0" smtClean="0"/>
              <a:t> </a:t>
            </a:r>
            <a:r>
              <a:rPr lang="de-DE" dirty="0" err="1" smtClean="0"/>
              <a:t>string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create</a:t>
            </a:r>
            <a:r>
              <a:rPr lang="de-DE" dirty="0" smtClean="0"/>
              <a:t> </a:t>
            </a:r>
            <a:r>
              <a:rPr lang="de-DE" dirty="0" err="1" smtClean="0"/>
              <a:t>instances</a:t>
            </a:r>
            <a:endParaRPr lang="de-DE" dirty="0" smtClean="0"/>
          </a:p>
          <a:p>
            <a:pPr lvl="1"/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693006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58614"/>
            <a:ext cx="8229600" cy="850106"/>
          </a:xfrm>
        </p:spPr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The </a:t>
            </a:r>
            <a:r>
              <a:rPr lang="de-DE" dirty="0" err="1"/>
              <a:t>Greeter</a:t>
            </a:r>
            <a:r>
              <a:rPr lang="de-DE" dirty="0"/>
              <a:t> </a:t>
            </a:r>
            <a:r>
              <a:rPr lang="de-DE" dirty="0" err="1"/>
              <a:t>Plugin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179512" y="1052736"/>
            <a:ext cx="8856984" cy="5503341"/>
          </a:xfrm>
        </p:spPr>
        <p:txBody>
          <a:bodyPr>
            <a:normAutofit/>
          </a:bodyPr>
          <a:lstStyle/>
          <a:p>
            <a:r>
              <a:rPr lang="de-DE" dirty="0" smtClean="0"/>
              <a:t>Multiple </a:t>
            </a:r>
            <a:r>
              <a:rPr lang="de-DE" dirty="0" err="1" smtClean="0"/>
              <a:t>plugins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types</a:t>
            </a:r>
            <a:r>
              <a:rPr lang="de-DE" dirty="0" smtClean="0"/>
              <a:t> in </a:t>
            </a:r>
            <a:r>
              <a:rPr lang="de-DE" dirty="0" err="1" smtClean="0"/>
              <a:t>one</a:t>
            </a:r>
            <a:r>
              <a:rPr lang="de-DE" dirty="0" smtClean="0"/>
              <a:t> DLL</a:t>
            </a:r>
          </a:p>
          <a:p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Allows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Builtins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where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plugins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aren‘t</a:t>
            </a:r>
            <a:r>
              <a:rPr lang="de-DE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dirty="0" err="1" smtClean="0">
                <a:solidFill>
                  <a:schemeClr val="accent5">
                    <a:lumMod val="75000"/>
                  </a:schemeClr>
                </a:solidFill>
              </a:rPr>
              <a:t>possible</a:t>
            </a:r>
            <a:endParaRPr lang="de-DE" dirty="0" smtClean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de-DE" dirty="0" smtClean="0"/>
          </a:p>
          <a:p>
            <a:pPr marL="0" indent="0">
              <a:buNone/>
            </a:pPr>
            <a:endParaRPr lang="de-DE" dirty="0" smtClean="0"/>
          </a:p>
          <a:p>
            <a:pPr marL="0" indent="0">
              <a:buNone/>
            </a:pPr>
            <a:r>
              <a:rPr lang="de-DE" sz="2400" b="1" u="sng" dirty="0" err="1" smtClean="0"/>
              <a:t>Builtin</a:t>
            </a:r>
            <a:r>
              <a:rPr lang="de-DE" sz="2400" b="1" u="sng" dirty="0" smtClean="0"/>
              <a:t> </a:t>
            </a:r>
            <a:r>
              <a:rPr lang="de-DE" sz="2400" b="1" u="sng" dirty="0" err="1" smtClean="0"/>
              <a:t>Example</a:t>
            </a:r>
            <a:r>
              <a:rPr lang="de-DE" sz="2400" b="1" u="sng" dirty="0" smtClean="0"/>
              <a:t>:</a:t>
            </a:r>
            <a:endParaRPr lang="de-DE" sz="2400" b="1" u="sng" dirty="0"/>
          </a:p>
          <a:p>
            <a:pPr marL="0" indent="0">
              <a:buNone/>
            </a:pP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BasicPlugin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&lt;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GermanGreeter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, 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Greeter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&gt; 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deGreeter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;</a:t>
            </a:r>
          </a:p>
          <a:p>
            <a:pPr marL="0" indent="0">
              <a:buNone/>
            </a:pPr>
            <a:endParaRPr lang="de-DE" sz="2000" dirty="0" smtClean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PluginManager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&lt;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Greeter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&gt; 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manager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 err="1">
                <a:latin typeface="Consolas" pitchFamily="49" charset="0"/>
                <a:cs typeface="Consolas" pitchFamily="49" charset="0"/>
              </a:rPr>
              <a:t>m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anager.registerPlugin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(</a:t>
            </a:r>
            <a:r>
              <a:rPr lang="de-DE" sz="2000" dirty="0" err="1" smtClean="0">
                <a:latin typeface="Consolas" pitchFamily="49" charset="0"/>
                <a:cs typeface="Consolas" pitchFamily="49" charset="0"/>
              </a:rPr>
              <a:t>deGreeter</a:t>
            </a:r>
            <a:r>
              <a:rPr lang="de-DE" sz="2000" dirty="0" smtClean="0">
                <a:latin typeface="Consolas" pitchFamily="49" charset="0"/>
                <a:cs typeface="Consolas" pitchFamily="49" charset="0"/>
              </a:rPr>
              <a:t>);</a:t>
            </a:r>
            <a:endParaRPr lang="de-DE" sz="2000" dirty="0"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4653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642</Words>
  <Application>Microsoft Office PowerPoint</Application>
  <PresentationFormat>Bildschirmpräsentation (4:3)</PresentationFormat>
  <Paragraphs>153</Paragraphs>
  <Slides>14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5" baseType="lpstr">
      <vt:lpstr>Larissa</vt:lpstr>
      <vt:lpstr>Library Loading and Plugins</vt:lpstr>
      <vt:lpstr>Shared Libraries (Win32)</vt:lpstr>
      <vt:lpstr>Shared Libraries (POSIX)</vt:lpstr>
      <vt:lpstr>Shared Libraries (portable)</vt:lpstr>
      <vt:lpstr>What‘s the Problem?</vt:lpstr>
      <vt:lpstr>What‘s the Problem?</vt:lpstr>
      <vt:lpstr>What‘s the Problem?</vt:lpstr>
      <vt:lpstr>What‘s the Problem?</vt:lpstr>
      <vt:lpstr>What‘s the Solution?</vt:lpstr>
      <vt:lpstr>Example: The Greeter Plugin</vt:lpstr>
      <vt:lpstr>Example: The Greeter Plugin</vt:lpstr>
      <vt:lpstr>Example: The Greeter Plugin</vt:lpstr>
      <vt:lpstr>Example: The Greeter Plugin</vt:lpstr>
      <vt:lpstr>Example: The Greeter Plugin</vt:lpstr>
    </vt:vector>
  </TitlesOfParts>
  <Company>Bruker Optik GmbH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Duerner Marc</dc:creator>
  <cp:lastModifiedBy>Duerner Marc</cp:lastModifiedBy>
  <cp:revision>56</cp:revision>
  <cp:lastPrinted>2013-07-04T14:02:19Z</cp:lastPrinted>
  <dcterms:created xsi:type="dcterms:W3CDTF">2012-05-24T07:48:53Z</dcterms:created>
  <dcterms:modified xsi:type="dcterms:W3CDTF">2013-11-11T13:21:23Z</dcterms:modified>
</cp:coreProperties>
</file>